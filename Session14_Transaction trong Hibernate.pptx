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7" r:id="rId5"/>
    <p:sldId id="278" r:id="rId6"/>
    <p:sldId id="279" r:id="rId7"/>
    <p:sldId id="280" r:id="rId8"/>
    <p:sldId id="281" r:id="rId9"/>
    <p:sldId id="282" r:id="rId10"/>
    <p:sldId id="283" r:id="rId11"/>
    <p:sldId id="284" r:id="rId12"/>
    <p:sldId id="301" r:id="rId13"/>
    <p:sldId id="285" r:id="rId14"/>
    <p:sldId id="286" r:id="rId15"/>
    <p:sldId id="287" r:id="rId16"/>
    <p:sldId id="288" r:id="rId17"/>
    <p:sldId id="289" r:id="rId18"/>
    <p:sldId id="275" r:id="rId19"/>
    <p:sldId id="276" r:id="rId2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4660"/>
  </p:normalViewPr>
  <p:slideViewPr>
    <p:cSldViewPr>
      <p:cViewPr varScale="1">
        <p:scale>
          <a:sx n="59" d="100"/>
          <a:sy n="59" d="100"/>
        </p:scale>
        <p:origin x="936"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rgbClr val="BD2727"/>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400" b="0" i="0">
                <a:solidFill>
                  <a:schemeClr val="tx1"/>
                </a:solidFill>
                <a:latin typeface="Arial"/>
                <a:cs typeface="Arial"/>
              </a:defRPr>
            </a:lvl1pPr>
          </a:lstStyle>
          <a:p>
            <a:pPr marL="12700">
              <a:lnSpc>
                <a:spcPts val="1650"/>
              </a:lnSpc>
            </a:pPr>
            <a:r>
              <a:rPr dirty="0"/>
              <a:t>©</a:t>
            </a:r>
            <a:r>
              <a:rPr spc="-10" dirty="0"/>
              <a:t> </a:t>
            </a:r>
            <a:r>
              <a:rPr dirty="0"/>
              <a:t>2022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BD2727"/>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1" i="0">
                <a:solidFill>
                  <a:srgbClr val="C0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400" b="0" i="0">
                <a:solidFill>
                  <a:schemeClr val="tx1"/>
                </a:solidFill>
                <a:latin typeface="Arial"/>
                <a:cs typeface="Arial"/>
              </a:defRPr>
            </a:lvl1pPr>
          </a:lstStyle>
          <a:p>
            <a:pPr marL="12700">
              <a:lnSpc>
                <a:spcPts val="1650"/>
              </a:lnSpc>
            </a:pPr>
            <a:r>
              <a:rPr dirty="0"/>
              <a:t>©</a:t>
            </a:r>
            <a:r>
              <a:rPr spc="-10" dirty="0"/>
              <a:t> </a:t>
            </a:r>
            <a:r>
              <a:rPr dirty="0"/>
              <a:t>2022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BD2727"/>
                </a:solidFill>
                <a:latin typeface="Calibri"/>
                <a:cs typeface="Calibri"/>
              </a:defRPr>
            </a:lvl1pPr>
          </a:lstStyle>
          <a:p>
            <a:endParaRPr/>
          </a:p>
        </p:txBody>
      </p:sp>
      <p:sp>
        <p:nvSpPr>
          <p:cNvPr id="3" name="Holder 3"/>
          <p:cNvSpPr>
            <a:spLocks noGrp="1"/>
          </p:cNvSpPr>
          <p:nvPr>
            <p:ph sz="half" idx="2"/>
          </p:nvPr>
        </p:nvSpPr>
        <p:spPr>
          <a:xfrm>
            <a:off x="923289" y="2139823"/>
            <a:ext cx="5270500" cy="34607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chemeClr val="tx1"/>
                </a:solidFill>
                <a:latin typeface="Arial"/>
                <a:cs typeface="Arial"/>
              </a:defRPr>
            </a:lvl1pPr>
          </a:lstStyle>
          <a:p>
            <a:pPr marL="12700">
              <a:lnSpc>
                <a:spcPts val="1650"/>
              </a:lnSpc>
            </a:pPr>
            <a:r>
              <a:rPr dirty="0"/>
              <a:t>©</a:t>
            </a:r>
            <a:r>
              <a:rPr spc="-10" dirty="0"/>
              <a:t> </a:t>
            </a:r>
            <a:r>
              <a:rPr dirty="0"/>
              <a:t>2022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BD2727"/>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400" b="0" i="0">
                <a:solidFill>
                  <a:schemeClr val="tx1"/>
                </a:solidFill>
                <a:latin typeface="Arial"/>
                <a:cs typeface="Arial"/>
              </a:defRPr>
            </a:lvl1pPr>
          </a:lstStyle>
          <a:p>
            <a:pPr marL="12700">
              <a:lnSpc>
                <a:spcPts val="1650"/>
              </a:lnSpc>
            </a:pPr>
            <a:r>
              <a:rPr dirty="0"/>
              <a:t>©</a:t>
            </a:r>
            <a:r>
              <a:rPr spc="-10" dirty="0"/>
              <a:t> </a:t>
            </a:r>
            <a:r>
              <a:rPr dirty="0"/>
              <a:t>2022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049379" y="623816"/>
            <a:ext cx="1628968" cy="288520"/>
          </a:xfrm>
          <a:prstGeom prst="rect">
            <a:avLst/>
          </a:prstGeom>
        </p:spPr>
      </p:pic>
      <p:sp>
        <p:nvSpPr>
          <p:cNvPr id="2" name="Holder 2"/>
          <p:cNvSpPr>
            <a:spLocks noGrp="1"/>
          </p:cNvSpPr>
          <p:nvPr>
            <p:ph type="ftr" sz="quarter" idx="5"/>
          </p:nvPr>
        </p:nvSpPr>
        <p:spPr/>
        <p:txBody>
          <a:bodyPr lIns="0" tIns="0" rIns="0" bIns="0"/>
          <a:lstStyle>
            <a:lvl1pPr>
              <a:defRPr sz="1400" b="0" i="0">
                <a:solidFill>
                  <a:schemeClr val="tx1"/>
                </a:solidFill>
                <a:latin typeface="Arial"/>
                <a:cs typeface="Arial"/>
              </a:defRPr>
            </a:lvl1pPr>
          </a:lstStyle>
          <a:p>
            <a:pPr marL="12700">
              <a:lnSpc>
                <a:spcPts val="1650"/>
              </a:lnSpc>
            </a:pPr>
            <a:r>
              <a:rPr dirty="0"/>
              <a:t>©</a:t>
            </a:r>
            <a:r>
              <a:rPr spc="-10" dirty="0"/>
              <a:t> </a:t>
            </a:r>
            <a:r>
              <a:rPr dirty="0"/>
              <a:t>2022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1100854" y="5836918"/>
            <a:ext cx="1091146" cy="1021081"/>
          </a:xfrm>
          <a:prstGeom prst="rect">
            <a:avLst/>
          </a:prstGeom>
        </p:spPr>
      </p:pic>
      <p:pic>
        <p:nvPicPr>
          <p:cNvPr id="17" name="bg object 17"/>
          <p:cNvPicPr/>
          <p:nvPr/>
        </p:nvPicPr>
        <p:blipFill>
          <a:blip r:embed="rId8" cstate="print"/>
          <a:stretch>
            <a:fillRect/>
          </a:stretch>
        </p:blipFill>
        <p:spPr>
          <a:xfrm>
            <a:off x="838200" y="0"/>
            <a:ext cx="2860548" cy="315468"/>
          </a:xfrm>
          <a:prstGeom prst="rect">
            <a:avLst/>
          </a:prstGeom>
        </p:spPr>
      </p:pic>
      <p:pic>
        <p:nvPicPr>
          <p:cNvPr id="18" name="bg object 18"/>
          <p:cNvPicPr/>
          <p:nvPr/>
        </p:nvPicPr>
        <p:blipFill>
          <a:blip r:embed="rId9" cstate="print"/>
          <a:stretch>
            <a:fillRect/>
          </a:stretch>
        </p:blipFill>
        <p:spPr>
          <a:xfrm>
            <a:off x="10049379" y="623816"/>
            <a:ext cx="1628968" cy="288520"/>
          </a:xfrm>
          <a:prstGeom prst="rect">
            <a:avLst/>
          </a:prstGeom>
        </p:spPr>
      </p:pic>
      <p:sp>
        <p:nvSpPr>
          <p:cNvPr id="2" name="Holder 2"/>
          <p:cNvSpPr>
            <a:spLocks noGrp="1"/>
          </p:cNvSpPr>
          <p:nvPr>
            <p:ph type="title"/>
          </p:nvPr>
        </p:nvSpPr>
        <p:spPr>
          <a:xfrm>
            <a:off x="916939" y="680466"/>
            <a:ext cx="6010275" cy="452119"/>
          </a:xfrm>
          <a:prstGeom prst="rect">
            <a:avLst/>
          </a:prstGeom>
        </p:spPr>
        <p:txBody>
          <a:bodyPr wrap="square" lIns="0" tIns="0" rIns="0" bIns="0">
            <a:spAutoFit/>
          </a:bodyPr>
          <a:lstStyle>
            <a:lvl1pPr>
              <a:defRPr sz="2800" b="1" i="0">
                <a:solidFill>
                  <a:srgbClr val="BD2727"/>
                </a:solidFill>
                <a:latin typeface="Calibri"/>
                <a:cs typeface="Calibri"/>
              </a:defRPr>
            </a:lvl1pPr>
          </a:lstStyle>
          <a:p>
            <a:endParaRPr/>
          </a:p>
        </p:txBody>
      </p:sp>
      <p:sp>
        <p:nvSpPr>
          <p:cNvPr id="3" name="Holder 3"/>
          <p:cNvSpPr>
            <a:spLocks noGrp="1"/>
          </p:cNvSpPr>
          <p:nvPr>
            <p:ph type="body" idx="1"/>
          </p:nvPr>
        </p:nvSpPr>
        <p:spPr>
          <a:xfrm>
            <a:off x="982472" y="1279445"/>
            <a:ext cx="10374630" cy="4587875"/>
          </a:xfrm>
          <a:prstGeom prst="rect">
            <a:avLst/>
          </a:prstGeom>
        </p:spPr>
        <p:txBody>
          <a:bodyPr wrap="square" lIns="0" tIns="0" rIns="0" bIns="0">
            <a:spAutoFit/>
          </a:bodyPr>
          <a:lstStyle>
            <a:lvl1pPr>
              <a:defRPr sz="1800" b="1" i="0">
                <a:solidFill>
                  <a:srgbClr val="C00000"/>
                </a:solidFill>
                <a:latin typeface="Calibri"/>
                <a:cs typeface="Calibri"/>
              </a:defRPr>
            </a:lvl1pPr>
          </a:lstStyle>
          <a:p>
            <a:endParaRPr/>
          </a:p>
        </p:txBody>
      </p:sp>
      <p:sp>
        <p:nvSpPr>
          <p:cNvPr id="4" name="Holder 4"/>
          <p:cNvSpPr>
            <a:spLocks noGrp="1"/>
          </p:cNvSpPr>
          <p:nvPr>
            <p:ph type="ftr" sz="quarter" idx="5"/>
          </p:nvPr>
        </p:nvSpPr>
        <p:spPr>
          <a:xfrm>
            <a:off x="2060194" y="6429984"/>
            <a:ext cx="5288915" cy="224790"/>
          </a:xfrm>
          <a:prstGeom prst="rect">
            <a:avLst/>
          </a:prstGeom>
        </p:spPr>
        <p:txBody>
          <a:bodyPr wrap="square" lIns="0" tIns="0" rIns="0" bIns="0">
            <a:spAutoFit/>
          </a:bodyPr>
          <a:lstStyle>
            <a:lvl1pPr>
              <a:defRPr sz="1400" b="0" i="0">
                <a:solidFill>
                  <a:schemeClr val="tx1"/>
                </a:solidFill>
                <a:latin typeface="Arial"/>
                <a:cs typeface="Arial"/>
              </a:defRPr>
            </a:lvl1pPr>
          </a:lstStyle>
          <a:p>
            <a:pPr marL="12700">
              <a:lnSpc>
                <a:spcPts val="1650"/>
              </a:lnSpc>
            </a:pPr>
            <a:r>
              <a:rPr dirty="0"/>
              <a:t>©</a:t>
            </a:r>
            <a:r>
              <a:rPr spc="-10" dirty="0"/>
              <a:t> </a:t>
            </a:r>
            <a:r>
              <a:rPr dirty="0"/>
              <a:t>2022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9308" y="0"/>
            <a:ext cx="2860548" cy="315468"/>
          </a:xfrm>
          <a:prstGeom prst="rect">
            <a:avLst/>
          </a:prstGeom>
        </p:spPr>
      </p:pic>
      <p:pic>
        <p:nvPicPr>
          <p:cNvPr id="3" name="object 3"/>
          <p:cNvPicPr/>
          <p:nvPr/>
        </p:nvPicPr>
        <p:blipFill>
          <a:blip r:embed="rId3" cstate="print"/>
          <a:stretch>
            <a:fillRect/>
          </a:stretch>
        </p:blipFill>
        <p:spPr>
          <a:xfrm>
            <a:off x="9349740" y="1223772"/>
            <a:ext cx="2732414" cy="4410456"/>
          </a:xfrm>
          <a:prstGeom prst="rect">
            <a:avLst/>
          </a:prstGeom>
        </p:spPr>
      </p:pic>
      <p:sp>
        <p:nvSpPr>
          <p:cNvPr id="4" name="object 4"/>
          <p:cNvSpPr/>
          <p:nvPr/>
        </p:nvSpPr>
        <p:spPr>
          <a:xfrm>
            <a:off x="0" y="2514600"/>
            <a:ext cx="830580" cy="1446530"/>
          </a:xfrm>
          <a:custGeom>
            <a:avLst/>
            <a:gdLst/>
            <a:ahLst/>
            <a:cxnLst/>
            <a:rect l="l" t="t" r="r" b="b"/>
            <a:pathLst>
              <a:path w="830580" h="1446529">
                <a:moveTo>
                  <a:pt x="0" y="0"/>
                </a:moveTo>
                <a:lnTo>
                  <a:pt x="0" y="1446276"/>
                </a:lnTo>
                <a:lnTo>
                  <a:pt x="830580" y="723138"/>
                </a:lnTo>
                <a:lnTo>
                  <a:pt x="0" y="0"/>
                </a:lnTo>
                <a:close/>
              </a:path>
            </a:pathLst>
          </a:custGeom>
          <a:solidFill>
            <a:srgbClr val="BD2727"/>
          </a:solidFill>
        </p:spPr>
        <p:txBody>
          <a:bodyPr wrap="square" lIns="0" tIns="0" rIns="0" bIns="0" rtlCol="0"/>
          <a:lstStyle/>
          <a:p>
            <a:endParaRPr>
              <a:latin typeface="Arial" panose="020B0604020202020204" pitchFamily="34" charset="0"/>
              <a:cs typeface="Arial" panose="020B0604020202020204" pitchFamily="34" charset="0"/>
            </a:endParaRPr>
          </a:p>
        </p:txBody>
      </p:sp>
      <p:pic>
        <p:nvPicPr>
          <p:cNvPr id="5" name="object 5"/>
          <p:cNvPicPr/>
          <p:nvPr/>
        </p:nvPicPr>
        <p:blipFill>
          <a:blip r:embed="rId4" cstate="print"/>
          <a:stretch>
            <a:fillRect/>
          </a:stretch>
        </p:blipFill>
        <p:spPr>
          <a:xfrm>
            <a:off x="5020178" y="5594077"/>
            <a:ext cx="1788988" cy="316437"/>
          </a:xfrm>
          <a:prstGeom prst="rect">
            <a:avLst/>
          </a:prstGeom>
        </p:spPr>
      </p:pic>
      <p:sp>
        <p:nvSpPr>
          <p:cNvPr id="6" name="object 6"/>
          <p:cNvSpPr txBox="1"/>
          <p:nvPr/>
        </p:nvSpPr>
        <p:spPr>
          <a:xfrm>
            <a:off x="1685035" y="2584145"/>
            <a:ext cx="7154165" cy="505267"/>
          </a:xfrm>
          <a:prstGeom prst="rect">
            <a:avLst/>
          </a:prstGeom>
        </p:spPr>
        <p:txBody>
          <a:bodyPr vert="horz" wrap="square" lIns="0" tIns="12700" rIns="0" bIns="0" rtlCol="0">
            <a:spAutoFit/>
          </a:bodyPr>
          <a:lstStyle/>
          <a:p>
            <a:pPr marL="12700">
              <a:lnSpc>
                <a:spcPct val="100000"/>
              </a:lnSpc>
              <a:spcBef>
                <a:spcPts val="100"/>
              </a:spcBef>
            </a:pPr>
            <a:r>
              <a:rPr lang="en-US" sz="3200" b="1" dirty="0">
                <a:solidFill>
                  <a:srgbClr val="BE2727"/>
                </a:solidFill>
                <a:latin typeface="Arial" panose="020B0604020202020204" pitchFamily="34" charset="0"/>
                <a:ea typeface="Montserrat Extra Bold" pitchFamily="34" charset="-122"/>
                <a:cs typeface="Arial" panose="020B0604020202020204" pitchFamily="34" charset="0"/>
              </a:rPr>
              <a:t>Transaction </a:t>
            </a:r>
            <a:r>
              <a:rPr lang="en-US" sz="3200" b="1" dirty="0" err="1">
                <a:solidFill>
                  <a:srgbClr val="BE2727"/>
                </a:solidFill>
                <a:latin typeface="Arial" panose="020B0604020202020204" pitchFamily="34" charset="0"/>
                <a:ea typeface="Montserrat Extra Bold" pitchFamily="34" charset="-122"/>
                <a:cs typeface="Arial" panose="020B0604020202020204" pitchFamily="34" charset="0"/>
              </a:rPr>
              <a:t>trong</a:t>
            </a:r>
            <a:r>
              <a:rPr lang="en-US" sz="3200" b="1" dirty="0">
                <a:solidFill>
                  <a:srgbClr val="BE2727"/>
                </a:solidFill>
                <a:latin typeface="Arial" panose="020B0604020202020204" pitchFamily="34" charset="0"/>
                <a:ea typeface="Montserrat Extra Bold" pitchFamily="34" charset="-122"/>
                <a:cs typeface="Arial" panose="020B0604020202020204" pitchFamily="34" charset="0"/>
              </a:rPr>
              <a:t> Hibernate</a:t>
            </a:r>
            <a:endParaRPr sz="3000" dirty="0">
              <a:latin typeface="Arial" panose="020B0604020202020204" pitchFamily="34" charset="0"/>
              <a:cs typeface="Arial" panose="020B0604020202020204" pitchFamily="34" charset="0"/>
            </a:endParaRPr>
          </a:p>
        </p:txBody>
      </p:sp>
      <p:sp>
        <p:nvSpPr>
          <p:cNvPr id="9" name="object 9"/>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7" name="object 7"/>
          <p:cNvSpPr txBox="1"/>
          <p:nvPr/>
        </p:nvSpPr>
        <p:spPr>
          <a:xfrm>
            <a:off x="1685035" y="3480942"/>
            <a:ext cx="3420365" cy="808876"/>
          </a:xfrm>
          <a:prstGeom prst="rect">
            <a:avLst/>
          </a:prstGeom>
        </p:spPr>
        <p:txBody>
          <a:bodyPr vert="horz" wrap="square" lIns="0" tIns="12700" rIns="0" bIns="0" rtlCol="0">
            <a:spAutoFit/>
          </a:bodyPr>
          <a:lstStyle/>
          <a:p>
            <a:pPr marL="12700" marR="5080">
              <a:lnSpc>
                <a:spcPct val="148700"/>
              </a:lnSpc>
              <a:spcBef>
                <a:spcPts val="100"/>
              </a:spcBef>
            </a:pPr>
            <a:r>
              <a:rPr sz="1800" spc="185" dirty="0">
                <a:solidFill>
                  <a:srgbClr val="585858"/>
                </a:solidFill>
                <a:latin typeface="Arial" panose="020B0604020202020204" pitchFamily="34" charset="0"/>
                <a:cs typeface="Arial" panose="020B0604020202020204" pitchFamily="34" charset="0"/>
              </a:rPr>
              <a:t>Module</a:t>
            </a:r>
            <a:r>
              <a:rPr sz="1800" spc="80" dirty="0">
                <a:solidFill>
                  <a:srgbClr val="585858"/>
                </a:solidFill>
                <a:latin typeface="Arial" panose="020B0604020202020204" pitchFamily="34" charset="0"/>
                <a:cs typeface="Arial" panose="020B0604020202020204" pitchFamily="34" charset="0"/>
              </a:rPr>
              <a:t> </a:t>
            </a:r>
            <a:r>
              <a:rPr sz="1800" dirty="0">
                <a:solidFill>
                  <a:srgbClr val="585858"/>
                </a:solidFill>
                <a:latin typeface="Arial" panose="020B0604020202020204" pitchFamily="34" charset="0"/>
                <a:cs typeface="Arial" panose="020B0604020202020204" pitchFamily="34" charset="0"/>
              </a:rPr>
              <a:t>–</a:t>
            </a:r>
            <a:r>
              <a:rPr sz="1800" spc="80" dirty="0">
                <a:solidFill>
                  <a:srgbClr val="585858"/>
                </a:solidFill>
                <a:latin typeface="Arial" panose="020B0604020202020204" pitchFamily="34" charset="0"/>
                <a:cs typeface="Arial" panose="020B0604020202020204" pitchFamily="34" charset="0"/>
              </a:rPr>
              <a:t> </a:t>
            </a:r>
            <a:r>
              <a:rPr lang="en-US" sz="1800" spc="80" dirty="0">
                <a:solidFill>
                  <a:srgbClr val="585858"/>
                </a:solidFill>
                <a:latin typeface="Arial" panose="020B0604020202020204" pitchFamily="34" charset="0"/>
                <a:cs typeface="Arial" panose="020B0604020202020204" pitchFamily="34" charset="0"/>
              </a:rPr>
              <a:t>Advanced </a:t>
            </a:r>
            <a:r>
              <a:rPr sz="1800" spc="210" dirty="0">
                <a:solidFill>
                  <a:srgbClr val="585858"/>
                </a:solidFill>
                <a:latin typeface="Arial" panose="020B0604020202020204" pitchFamily="34" charset="0"/>
                <a:cs typeface="Arial" panose="020B0604020202020204" pitchFamily="34" charset="0"/>
              </a:rPr>
              <a:t>Java</a:t>
            </a:r>
            <a:endParaRPr lang="en-US" spc="80" dirty="0">
              <a:solidFill>
                <a:srgbClr val="585858"/>
              </a:solidFill>
              <a:latin typeface="Arial" panose="020B0604020202020204" pitchFamily="34" charset="0"/>
              <a:cs typeface="Arial" panose="020B0604020202020204" pitchFamily="34" charset="0"/>
            </a:endParaRPr>
          </a:p>
          <a:p>
            <a:pPr marL="12700" marR="5080">
              <a:lnSpc>
                <a:spcPct val="148700"/>
              </a:lnSpc>
              <a:spcBef>
                <a:spcPts val="100"/>
              </a:spcBef>
            </a:pPr>
            <a:r>
              <a:rPr sz="1800" spc="225" dirty="0" err="1">
                <a:solidFill>
                  <a:srgbClr val="585858"/>
                </a:solidFill>
                <a:latin typeface="Arial" panose="020B0604020202020204" pitchFamily="34" charset="0"/>
                <a:cs typeface="Arial" panose="020B0604020202020204" pitchFamily="34" charset="0"/>
              </a:rPr>
              <a:t>Phiên</a:t>
            </a:r>
            <a:r>
              <a:rPr sz="1800" spc="55" dirty="0">
                <a:solidFill>
                  <a:srgbClr val="585858"/>
                </a:solidFill>
                <a:latin typeface="Arial" panose="020B0604020202020204" pitchFamily="34" charset="0"/>
                <a:cs typeface="Arial" panose="020B0604020202020204" pitchFamily="34" charset="0"/>
              </a:rPr>
              <a:t> </a:t>
            </a:r>
            <a:r>
              <a:rPr sz="1800" spc="150" dirty="0">
                <a:solidFill>
                  <a:srgbClr val="585858"/>
                </a:solidFill>
                <a:latin typeface="Arial" panose="020B0604020202020204" pitchFamily="34" charset="0"/>
                <a:cs typeface="Arial" panose="020B0604020202020204" pitchFamily="34" charset="0"/>
              </a:rPr>
              <a:t>bản:</a:t>
            </a:r>
            <a:r>
              <a:rPr sz="1800" spc="85" dirty="0">
                <a:solidFill>
                  <a:srgbClr val="585858"/>
                </a:solidFill>
                <a:latin typeface="Arial" panose="020B0604020202020204" pitchFamily="34" charset="0"/>
                <a:cs typeface="Arial" panose="020B0604020202020204" pitchFamily="34" charset="0"/>
              </a:rPr>
              <a:t> </a:t>
            </a:r>
            <a:r>
              <a:rPr lang="en-US" sz="1800" spc="85" dirty="0">
                <a:solidFill>
                  <a:srgbClr val="585858"/>
                </a:solidFill>
                <a:latin typeface="Arial" panose="020B0604020202020204" pitchFamily="34" charset="0"/>
                <a:cs typeface="Arial" panose="020B0604020202020204" pitchFamily="34" charset="0"/>
              </a:rPr>
              <a:t>3</a:t>
            </a:r>
            <a:r>
              <a:rPr sz="1800" spc="75" dirty="0">
                <a:solidFill>
                  <a:srgbClr val="585858"/>
                </a:solidFill>
                <a:latin typeface="Arial" panose="020B0604020202020204" pitchFamily="34" charset="0"/>
                <a:cs typeface="Arial" panose="020B0604020202020204" pitchFamily="34" charset="0"/>
              </a:rPr>
              <a:t>.0</a:t>
            </a:r>
            <a:endParaRPr sz="1800" dirty="0">
              <a:latin typeface="Arial" panose="020B0604020202020204" pitchFamily="34" charset="0"/>
              <a:cs typeface="Arial" panose="020B0604020202020204" pitchFamily="34" charset="0"/>
            </a:endParaRPr>
          </a:p>
        </p:txBody>
      </p:sp>
      <p:sp>
        <p:nvSpPr>
          <p:cNvPr id="8" name="object 8"/>
          <p:cNvSpPr txBox="1">
            <a:spLocks noGrp="1"/>
          </p:cNvSpPr>
          <p:nvPr>
            <p:ph type="title"/>
          </p:nvPr>
        </p:nvSpPr>
        <p:spPr>
          <a:xfrm>
            <a:off x="1641094" y="1943557"/>
            <a:ext cx="3433826" cy="474489"/>
          </a:xfrm>
          <a:prstGeom prst="rect">
            <a:avLst/>
          </a:prstGeom>
        </p:spPr>
        <p:txBody>
          <a:bodyPr vert="horz" wrap="square" lIns="0" tIns="12700" rIns="0" bIns="0" rtlCol="0">
            <a:spAutoFit/>
          </a:bodyPr>
          <a:lstStyle/>
          <a:p>
            <a:pPr marL="12700">
              <a:lnSpc>
                <a:spcPct val="100000"/>
              </a:lnSpc>
              <a:spcBef>
                <a:spcPts val="100"/>
              </a:spcBef>
            </a:pPr>
            <a:r>
              <a:rPr sz="3000" spc="405" dirty="0">
                <a:solidFill>
                  <a:srgbClr val="C00000"/>
                </a:solidFill>
                <a:latin typeface="Arial" panose="020B0604020202020204" pitchFamily="34" charset="0"/>
                <a:cs typeface="Arial" panose="020B0604020202020204" pitchFamily="34" charset="0"/>
              </a:rPr>
              <a:t>Session</a:t>
            </a:r>
            <a:r>
              <a:rPr sz="3000" spc="170" dirty="0">
                <a:solidFill>
                  <a:srgbClr val="C00000"/>
                </a:solidFill>
                <a:latin typeface="Arial" panose="020B0604020202020204" pitchFamily="34" charset="0"/>
                <a:cs typeface="Arial" panose="020B0604020202020204" pitchFamily="34" charset="0"/>
              </a:rPr>
              <a:t> </a:t>
            </a:r>
            <a:r>
              <a:rPr sz="3000" spc="-325" dirty="0">
                <a:solidFill>
                  <a:srgbClr val="C00000"/>
                </a:solidFill>
                <a:latin typeface="Arial" panose="020B0604020202020204" pitchFamily="34" charset="0"/>
                <a:cs typeface="Arial" panose="020B0604020202020204" pitchFamily="34" charset="0"/>
              </a:rPr>
              <a:t>1</a:t>
            </a:r>
            <a:r>
              <a:rPr lang="en-US" sz="3000" spc="-325" dirty="0">
                <a:solidFill>
                  <a:srgbClr val="C00000"/>
                </a:solidFill>
                <a:latin typeface="Arial" panose="020B0604020202020204" pitchFamily="34" charset="0"/>
                <a:cs typeface="Arial" panose="020B0604020202020204" pitchFamily="34" charset="0"/>
              </a:rPr>
              <a:t>4</a:t>
            </a:r>
            <a:r>
              <a:rPr sz="3000" spc="200" dirty="0">
                <a:solidFill>
                  <a:srgbClr val="C00000"/>
                </a:solidFill>
                <a:latin typeface="Arial" panose="020B0604020202020204" pitchFamily="34" charset="0"/>
                <a:cs typeface="Arial" panose="020B0604020202020204" pitchFamily="34" charset="0"/>
              </a:rPr>
              <a:t> </a:t>
            </a:r>
            <a:r>
              <a:rPr sz="3000" spc="-50" dirty="0">
                <a:solidFill>
                  <a:srgbClr val="C00000"/>
                </a:solidFill>
                <a:latin typeface="Arial" panose="020B0604020202020204" pitchFamily="34" charset="0"/>
                <a:cs typeface="Arial" panose="020B0604020202020204" pitchFamily="34" charset="0"/>
              </a:rPr>
              <a:t>:</a:t>
            </a:r>
            <a:endParaRPr sz="300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06701" y="1388440"/>
            <a:ext cx="9623299" cy="3347070"/>
          </a:xfrm>
          <a:prstGeom prst="rect">
            <a:avLst/>
          </a:prstGeom>
        </p:spPr>
        <p:txBody>
          <a:bodyPr vert="horz" wrap="square" lIns="0" tIns="12700" rIns="0" bIns="0" rtlCol="0">
            <a:spAutoFit/>
          </a:bodyPr>
          <a:lstStyle/>
          <a:p>
            <a:pPr marL="393065" indent="-380365">
              <a:lnSpc>
                <a:spcPct val="100000"/>
              </a:lnSpc>
              <a:spcBef>
                <a:spcPts val="100"/>
              </a:spcBef>
              <a:buAutoNum type="arabicPeriod"/>
              <a:tabLst>
                <a:tab pos="393065" algn="l"/>
              </a:tabLst>
            </a:pPr>
            <a:r>
              <a:rPr lang="fr-FR" sz="2400" b="1" dirty="0">
                <a:latin typeface="Arial" panose="020B0604020202020204" pitchFamily="34" charset="0"/>
                <a:cs typeface="Arial" panose="020B0604020202020204" pitchFamily="34" charset="0"/>
              </a:rPr>
              <a:t>Vai </a:t>
            </a:r>
            <a:r>
              <a:rPr lang="fr-FR" sz="2400" b="1" dirty="0" err="1">
                <a:latin typeface="Arial" panose="020B0604020202020204" pitchFamily="34" charset="0"/>
                <a:cs typeface="Arial" panose="020B0604020202020204" pitchFamily="34" charset="0"/>
              </a:rPr>
              <a:t>trò</a:t>
            </a:r>
            <a:r>
              <a:rPr lang="fr-FR" sz="2400" b="1" dirty="0">
                <a:latin typeface="Arial" panose="020B0604020202020204" pitchFamily="34" charset="0"/>
                <a:cs typeface="Arial" panose="020B0604020202020204" pitchFamily="34" charset="0"/>
              </a:rPr>
              <a:t> </a:t>
            </a:r>
            <a:r>
              <a:rPr lang="fr-FR" sz="2400" b="1" dirty="0" err="1">
                <a:latin typeface="Arial" panose="020B0604020202020204" pitchFamily="34" charset="0"/>
                <a:cs typeface="Arial" panose="020B0604020202020204" pitchFamily="34" charset="0"/>
              </a:rPr>
              <a:t>của</a:t>
            </a:r>
            <a:r>
              <a:rPr lang="fr-FR" sz="2400" b="1" dirty="0">
                <a:latin typeface="Arial" panose="020B0604020202020204" pitchFamily="34" charset="0"/>
                <a:cs typeface="Arial" panose="020B0604020202020204" pitchFamily="34" charset="0"/>
              </a:rPr>
              <a:t> Transaction </a:t>
            </a:r>
            <a:r>
              <a:rPr lang="fr-FR" sz="2400" b="1" dirty="0" err="1">
                <a:latin typeface="Arial" panose="020B0604020202020204" pitchFamily="34" charset="0"/>
                <a:cs typeface="Arial" panose="020B0604020202020204" pitchFamily="34" charset="0"/>
              </a:rPr>
              <a:t>trong</a:t>
            </a:r>
            <a:r>
              <a:rPr lang="fr-FR" sz="2400" b="1" dirty="0">
                <a:latin typeface="Arial" panose="020B0604020202020204" pitchFamily="34" charset="0"/>
                <a:cs typeface="Arial" panose="020B0604020202020204" pitchFamily="34" charset="0"/>
              </a:rPr>
              <a:t> Hibernate</a:t>
            </a:r>
            <a:endParaRPr sz="2400" b="1" dirty="0">
              <a:latin typeface="Arial" panose="020B0604020202020204" pitchFamily="34" charset="0"/>
              <a:cs typeface="Arial" panose="020B0604020202020204" pitchFamily="34" charset="0"/>
            </a:endParaRPr>
          </a:p>
          <a:p>
            <a:pPr marL="391795" indent="-379095">
              <a:lnSpc>
                <a:spcPct val="100000"/>
              </a:lnSpc>
              <a:spcBef>
                <a:spcPts val="2885"/>
              </a:spcBef>
              <a:buAutoNum type="arabicPeriod"/>
              <a:tabLst>
                <a:tab pos="391795" algn="l"/>
              </a:tabLst>
            </a:pPr>
            <a:r>
              <a:rPr lang="en-US" sz="2400" b="1" dirty="0" err="1">
                <a:latin typeface="Arial" panose="020B0604020202020204" pitchFamily="34" charset="0"/>
                <a:cs typeface="Arial" panose="020B0604020202020204" pitchFamily="34" charset="0"/>
              </a:rPr>
              <a:t>Triển</a:t>
            </a:r>
            <a:r>
              <a:rPr lang="en-US" sz="2400" b="1" dirty="0">
                <a:latin typeface="Arial" panose="020B0604020202020204" pitchFamily="34" charset="0"/>
                <a:cs typeface="Arial" panose="020B0604020202020204" pitchFamily="34" charset="0"/>
              </a:rPr>
              <a:t> </a:t>
            </a:r>
            <a:r>
              <a:rPr lang="en-US" sz="2400" b="1" dirty="0" err="1">
                <a:latin typeface="Arial" panose="020B0604020202020204" pitchFamily="34" charset="0"/>
                <a:cs typeface="Arial" panose="020B0604020202020204" pitchFamily="34" charset="0"/>
              </a:rPr>
              <a:t>khai</a:t>
            </a:r>
            <a:r>
              <a:rPr lang="en-US" sz="2400" b="1" dirty="0">
                <a:latin typeface="Arial" panose="020B0604020202020204" pitchFamily="34" charset="0"/>
                <a:cs typeface="Arial" panose="020B0604020202020204" pitchFamily="34" charset="0"/>
              </a:rPr>
              <a:t> Transaction </a:t>
            </a:r>
            <a:r>
              <a:rPr lang="en-US" sz="2400" b="1" dirty="0" err="1">
                <a:latin typeface="Arial" panose="020B0604020202020204" pitchFamily="34" charset="0"/>
                <a:cs typeface="Arial" panose="020B0604020202020204" pitchFamily="34" charset="0"/>
              </a:rPr>
              <a:t>trong</a:t>
            </a:r>
            <a:r>
              <a:rPr lang="en-US" sz="2400" b="1" dirty="0">
                <a:latin typeface="Arial" panose="020B0604020202020204" pitchFamily="34" charset="0"/>
                <a:cs typeface="Arial" panose="020B0604020202020204" pitchFamily="34" charset="0"/>
              </a:rPr>
              <a:t> Hibernate, JDBC Transaction</a:t>
            </a:r>
            <a:endParaRPr sz="2400" dirty="0">
              <a:latin typeface="Arial" panose="020B0604020202020204" pitchFamily="34" charset="0"/>
              <a:cs typeface="Arial" panose="020B0604020202020204" pitchFamily="34" charset="0"/>
            </a:endParaRPr>
          </a:p>
          <a:p>
            <a:pPr marL="391795" indent="-379095">
              <a:lnSpc>
                <a:spcPct val="100000"/>
              </a:lnSpc>
              <a:spcBef>
                <a:spcPts val="2880"/>
              </a:spcBef>
              <a:buAutoNum type="arabicPeriod"/>
              <a:tabLst>
                <a:tab pos="391795" algn="l"/>
              </a:tabLst>
            </a:pPr>
            <a:r>
              <a:rPr lang="en-US" sz="2400" b="1" dirty="0">
                <a:latin typeface="Arial" panose="020B0604020202020204" pitchFamily="34" charset="0"/>
                <a:cs typeface="Arial" panose="020B0604020202020204" pitchFamily="34" charset="0"/>
              </a:rPr>
              <a:t>Transaction &amp; First-Level Cache </a:t>
            </a:r>
            <a:r>
              <a:rPr lang="en-US" sz="2400" b="1" dirty="0" err="1">
                <a:latin typeface="Arial" panose="020B0604020202020204" pitchFamily="34" charset="0"/>
                <a:cs typeface="Arial" panose="020B0604020202020204" pitchFamily="34" charset="0"/>
              </a:rPr>
              <a:t>trong</a:t>
            </a:r>
            <a:r>
              <a:rPr lang="en-US" sz="2400" b="1" dirty="0">
                <a:latin typeface="Arial" panose="020B0604020202020204" pitchFamily="34" charset="0"/>
                <a:cs typeface="Arial" panose="020B0604020202020204" pitchFamily="34" charset="0"/>
              </a:rPr>
              <a:t> Hibernate</a:t>
            </a:r>
            <a:endParaRPr sz="2400" b="1" dirty="0">
              <a:latin typeface="Arial" panose="020B0604020202020204" pitchFamily="34" charset="0"/>
              <a:cs typeface="Arial" panose="020B0604020202020204" pitchFamily="34" charset="0"/>
            </a:endParaRPr>
          </a:p>
          <a:p>
            <a:pPr marL="391795" indent="-379095">
              <a:lnSpc>
                <a:spcPct val="100000"/>
              </a:lnSpc>
              <a:spcBef>
                <a:spcPts val="2880"/>
              </a:spcBef>
              <a:buAutoNum type="arabicPeriod"/>
              <a:tabLst>
                <a:tab pos="391795" algn="l"/>
              </a:tabLst>
            </a:pPr>
            <a:r>
              <a:rPr lang="en-US" sz="2400" b="1" dirty="0">
                <a:latin typeface="Arial" panose="020B0604020202020204" pitchFamily="34" charset="0"/>
                <a:cs typeface="Arial" panose="020B0604020202020204" pitchFamily="34" charset="0"/>
              </a:rPr>
              <a:t>Transaction Propagation, Isolation Level </a:t>
            </a:r>
            <a:r>
              <a:rPr lang="en-US" sz="2400" b="1" dirty="0" err="1">
                <a:latin typeface="Arial" panose="020B0604020202020204" pitchFamily="34" charset="0"/>
                <a:cs typeface="Arial" panose="020B0604020202020204" pitchFamily="34" charset="0"/>
              </a:rPr>
              <a:t>trong</a:t>
            </a:r>
            <a:r>
              <a:rPr lang="en-US" sz="2400" b="1" dirty="0">
                <a:latin typeface="Arial" panose="020B0604020202020204" pitchFamily="34" charset="0"/>
                <a:cs typeface="Arial" panose="020B0604020202020204" pitchFamily="34" charset="0"/>
              </a:rPr>
              <a:t> Hibernate </a:t>
            </a:r>
          </a:p>
          <a:p>
            <a:pPr marL="391795" indent="-379095">
              <a:lnSpc>
                <a:spcPct val="100000"/>
              </a:lnSpc>
              <a:spcBef>
                <a:spcPts val="2880"/>
              </a:spcBef>
              <a:buAutoNum type="arabicPeriod"/>
              <a:tabLst>
                <a:tab pos="391795" algn="l"/>
              </a:tabLst>
            </a:pPr>
            <a:r>
              <a:rPr lang="en-US" sz="2400" b="1" dirty="0">
                <a:latin typeface="Arial" panose="020B0604020202020204" pitchFamily="34" charset="0"/>
                <a:cs typeface="Arial" panose="020B0604020202020204" pitchFamily="34" charset="0"/>
              </a:rPr>
              <a:t>Exception Handling, Lazy Loading </a:t>
            </a:r>
            <a:r>
              <a:rPr lang="en-US" sz="2400" b="1" dirty="0" err="1">
                <a:latin typeface="Arial" panose="020B0604020202020204" pitchFamily="34" charset="0"/>
                <a:cs typeface="Arial" panose="020B0604020202020204" pitchFamily="34" charset="0"/>
              </a:rPr>
              <a:t>trong</a:t>
            </a:r>
            <a:r>
              <a:rPr lang="en-US" sz="2400" b="1" dirty="0">
                <a:latin typeface="Arial" panose="020B0604020202020204" pitchFamily="34" charset="0"/>
                <a:cs typeface="Arial" panose="020B0604020202020204" pitchFamily="34" charset="0"/>
              </a:rPr>
              <a:t> Hibernate</a:t>
            </a:r>
          </a:p>
        </p:txBody>
      </p:sp>
      <p:sp>
        <p:nvSpPr>
          <p:cNvPr id="3" name="object 3"/>
          <p:cNvSpPr txBox="1"/>
          <p:nvPr/>
        </p:nvSpPr>
        <p:spPr>
          <a:xfrm>
            <a:off x="-35712" y="188467"/>
            <a:ext cx="954405" cy="4204970"/>
          </a:xfrm>
          <a:prstGeom prst="rect">
            <a:avLst/>
          </a:prstGeom>
        </p:spPr>
        <p:txBody>
          <a:bodyPr vert="vert" wrap="square" lIns="0" tIns="0" rIns="0" bIns="0" rtlCol="0">
            <a:spAutoFit/>
          </a:bodyPr>
          <a:lstStyle/>
          <a:p>
            <a:pPr marL="12700">
              <a:lnSpc>
                <a:spcPts val="7109"/>
              </a:lnSpc>
            </a:pPr>
            <a:r>
              <a:rPr sz="6000" b="1" spc="765" dirty="0">
                <a:solidFill>
                  <a:srgbClr val="C00000"/>
                </a:solidFill>
                <a:latin typeface="Calibri"/>
                <a:cs typeface="Calibri"/>
              </a:rPr>
              <a:t>NỘI</a:t>
            </a:r>
            <a:r>
              <a:rPr sz="6000" b="1" spc="450" dirty="0">
                <a:solidFill>
                  <a:srgbClr val="C00000"/>
                </a:solidFill>
                <a:latin typeface="Calibri"/>
                <a:cs typeface="Calibri"/>
              </a:rPr>
              <a:t> </a:t>
            </a:r>
            <a:r>
              <a:rPr sz="6000" b="1" spc="865" dirty="0">
                <a:solidFill>
                  <a:srgbClr val="C00000"/>
                </a:solidFill>
                <a:latin typeface="Calibri"/>
                <a:cs typeface="Calibri"/>
              </a:rPr>
              <a:t>DUNG</a:t>
            </a:r>
            <a:endParaRPr sz="6000">
              <a:latin typeface="Calibri"/>
              <a:cs typeface="Calibri"/>
            </a:endParaRPr>
          </a:p>
        </p:txBody>
      </p:sp>
      <p:pic>
        <p:nvPicPr>
          <p:cNvPr id="4" name="object 4"/>
          <p:cNvPicPr/>
          <p:nvPr/>
        </p:nvPicPr>
        <p:blipFill>
          <a:blip r:embed="rId2" cstate="print"/>
          <a:stretch>
            <a:fillRect/>
          </a:stretch>
        </p:blipFill>
        <p:spPr>
          <a:xfrm>
            <a:off x="0" y="5111496"/>
            <a:ext cx="1652015" cy="1746504"/>
          </a:xfrm>
          <a:prstGeom prst="rect">
            <a:avLst/>
          </a:prstGeom>
        </p:spPr>
      </p:pic>
      <p:sp>
        <p:nvSpPr>
          <p:cNvPr id="5" name="object 5"/>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EC12AEB7-9AAC-8FC1-6B42-B484B7A489F5}"/>
              </a:ext>
            </a:extLst>
          </p:cNvPr>
          <p:cNvSpPr/>
          <p:nvPr/>
        </p:nvSpPr>
        <p:spPr>
          <a:xfrm>
            <a:off x="794658" y="480703"/>
            <a:ext cx="8763000" cy="620078"/>
          </a:xfrm>
          <a:prstGeom prst="rect">
            <a:avLst/>
          </a:prstGeom>
          <a:noFill/>
          <a:ln/>
        </p:spPr>
        <p:txBody>
          <a:bodyPr wrap="none" lIns="0" tIns="0" rIns="0" bIns="0" rtlCol="0" anchor="t"/>
          <a:lstStyle/>
          <a:p>
            <a:pPr marL="0" indent="0" algn="l">
              <a:lnSpc>
                <a:spcPts val="4850"/>
              </a:lnSpc>
              <a:buNone/>
            </a:pPr>
            <a:r>
              <a:rPr lang="en-US" sz="3000" b="1" dirty="0">
                <a:solidFill>
                  <a:srgbClr val="443728"/>
                </a:solidFill>
                <a:latin typeface="Abadi" panose="020B0604020104020204" pitchFamily="34" charset="0"/>
                <a:ea typeface="Crimson Pro Bold" pitchFamily="34" charset="-122"/>
                <a:cs typeface="Crimson Pro Bold" pitchFamily="34" charset="-120"/>
              </a:rPr>
              <a:t>Chuyển Tiền Giữa Chừng Bị Lỗi — Điều Gì Xảy Ra?</a:t>
            </a:r>
            <a:endParaRPr lang="en-US" sz="3000" dirty="0">
              <a:latin typeface="Abadi" panose="020B0604020104020204" pitchFamily="34" charset="0"/>
            </a:endParaRPr>
          </a:p>
        </p:txBody>
      </p:sp>
      <p:sp>
        <p:nvSpPr>
          <p:cNvPr id="3" name="Text 4">
            <a:extLst>
              <a:ext uri="{FF2B5EF4-FFF2-40B4-BE49-F238E27FC236}">
                <a16:creationId xmlns:a16="http://schemas.microsoft.com/office/drawing/2014/main" id="{FA1F817F-6ED6-D493-E923-CBAD8BBD72C4}"/>
              </a:ext>
            </a:extLst>
          </p:cNvPr>
          <p:cNvSpPr/>
          <p:nvPr/>
        </p:nvSpPr>
        <p:spPr>
          <a:xfrm>
            <a:off x="794658" y="1621266"/>
            <a:ext cx="5562600" cy="1565336"/>
          </a:xfrm>
          <a:prstGeom prst="rect">
            <a:avLst/>
          </a:prstGeom>
          <a:noFill/>
          <a:ln/>
        </p:spPr>
        <p:txBody>
          <a:bodyPr wrap="square" lIns="0" tIns="0" rIns="0" bIns="0" rtlCol="0" anchor="t"/>
          <a:lstStyle/>
          <a:p>
            <a:pPr marL="342900" indent="-342900" algn="l">
              <a:lnSpc>
                <a:spcPts val="2500"/>
              </a:lnSpc>
              <a:buSzPct val="100000"/>
              <a:buFont typeface="+mj-lt"/>
              <a:buAutoNum type="arabicPeriod"/>
            </a:pPr>
            <a:r>
              <a:rPr lang="en-US" sz="1550" dirty="0">
                <a:solidFill>
                  <a:srgbClr val="443728"/>
                </a:solidFill>
                <a:latin typeface="Arial" panose="020B0604020202020204" pitchFamily="34" charset="0"/>
                <a:ea typeface="Open Sans" pitchFamily="34" charset="-122"/>
                <a:cs typeface="Arial" panose="020B0604020202020204" pitchFamily="34" charset="0"/>
              </a:rPr>
              <a:t>Trừ tiền từ tài khoản A: </a:t>
            </a:r>
            <a:r>
              <a:rPr lang="en-US" sz="1550" dirty="0">
                <a:solidFill>
                  <a:srgbClr val="443728"/>
                </a:solidFill>
                <a:highlight>
                  <a:srgbClr val="F2EFED"/>
                </a:highlight>
                <a:latin typeface="Arial" panose="020B0604020202020204" pitchFamily="34" charset="0"/>
                <a:ea typeface="Consolas" pitchFamily="34" charset="-122"/>
                <a:cs typeface="Arial" panose="020B0604020202020204" pitchFamily="34" charset="0"/>
              </a:rPr>
              <a:t>UPDATE account SET balance = balance - 500 WHERE id = A</a:t>
            </a:r>
            <a:endParaRPr lang="en-US" sz="1550" dirty="0">
              <a:latin typeface="Arial" panose="020B0604020202020204" pitchFamily="34" charset="0"/>
              <a:cs typeface="Arial" panose="020B0604020202020204" pitchFamily="34" charset="0"/>
            </a:endParaRPr>
          </a:p>
          <a:p>
            <a:pPr marL="342900" indent="-342900" algn="l">
              <a:lnSpc>
                <a:spcPts val="2500"/>
              </a:lnSpc>
              <a:buSzPct val="100000"/>
              <a:buFont typeface="+mj-lt"/>
              <a:buAutoNum type="arabicPeriod" startAt="2"/>
            </a:pPr>
            <a:r>
              <a:rPr lang="en-US" sz="1550" dirty="0">
                <a:solidFill>
                  <a:srgbClr val="443728"/>
                </a:solidFill>
                <a:latin typeface="Arial" panose="020B0604020202020204" pitchFamily="34" charset="0"/>
                <a:ea typeface="Open Sans" pitchFamily="34" charset="-122"/>
                <a:cs typeface="Arial" panose="020B0604020202020204" pitchFamily="34" charset="0"/>
              </a:rPr>
              <a:t>Cộng tiền vào tài khoản B: </a:t>
            </a:r>
            <a:r>
              <a:rPr lang="en-US" sz="1550" dirty="0">
                <a:solidFill>
                  <a:srgbClr val="443728"/>
                </a:solidFill>
                <a:highlight>
                  <a:srgbClr val="F2EFED"/>
                </a:highlight>
                <a:latin typeface="Arial" panose="020B0604020202020204" pitchFamily="34" charset="0"/>
                <a:ea typeface="Consolas" pitchFamily="34" charset="-122"/>
                <a:cs typeface="Arial" panose="020B0604020202020204" pitchFamily="34" charset="0"/>
              </a:rPr>
              <a:t>UPDATE account SET balance = balance + 500 WHERE id = B</a:t>
            </a:r>
            <a:endParaRPr lang="en-US" sz="1550" dirty="0">
              <a:latin typeface="Arial" panose="020B0604020202020204" pitchFamily="34" charset="0"/>
              <a:cs typeface="Arial" panose="020B0604020202020204" pitchFamily="34" charset="0"/>
            </a:endParaRPr>
          </a:p>
        </p:txBody>
      </p:sp>
      <p:sp>
        <p:nvSpPr>
          <p:cNvPr id="4" name="Text 5">
            <a:extLst>
              <a:ext uri="{FF2B5EF4-FFF2-40B4-BE49-F238E27FC236}">
                <a16:creationId xmlns:a16="http://schemas.microsoft.com/office/drawing/2014/main" id="{3DD4BEF7-99B0-51F4-51AC-07411F7FA21C}"/>
              </a:ext>
            </a:extLst>
          </p:cNvPr>
          <p:cNvSpPr/>
          <p:nvPr/>
        </p:nvSpPr>
        <p:spPr>
          <a:xfrm>
            <a:off x="794658" y="3139432"/>
            <a:ext cx="5562600" cy="111316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Nếu bước 1 thành công nhưng hệ thống </a:t>
            </a:r>
            <a:r>
              <a:rPr lang="en-US" sz="1550" b="1" dirty="0">
                <a:solidFill>
                  <a:srgbClr val="443728"/>
                </a:solidFill>
                <a:latin typeface="Arial" panose="020B0604020202020204" pitchFamily="34" charset="0"/>
                <a:ea typeface="Open Sans" pitchFamily="34" charset="-122"/>
                <a:cs typeface="Arial" panose="020B0604020202020204" pitchFamily="34" charset="0"/>
              </a:rPr>
              <a:t>crash</a:t>
            </a:r>
            <a:r>
              <a:rPr lang="en-US" sz="1550" dirty="0">
                <a:solidFill>
                  <a:srgbClr val="443728"/>
                </a:solidFill>
                <a:latin typeface="Arial" panose="020B0604020202020204" pitchFamily="34" charset="0"/>
                <a:ea typeface="Open Sans" pitchFamily="34" charset="-122"/>
                <a:cs typeface="Arial" panose="020B0604020202020204" pitchFamily="34" charset="0"/>
              </a:rPr>
              <a:t> trước bước 2 — tài khoản A đã bị trừ tiền nhưng B chưa nhận được. </a:t>
            </a:r>
            <a:r>
              <a:rPr lang="en-US" sz="1550" b="1" dirty="0">
                <a:solidFill>
                  <a:srgbClr val="443728"/>
                </a:solidFill>
                <a:latin typeface="Arial" panose="020B0604020202020204" pitchFamily="34" charset="0"/>
                <a:ea typeface="Open Sans" pitchFamily="34" charset="-122"/>
                <a:cs typeface="Arial" panose="020B0604020202020204" pitchFamily="34" charset="0"/>
              </a:rPr>
              <a:t>Dữ liệu mất đồng nhất hoàn toàn!</a:t>
            </a:r>
            <a:endParaRPr lang="en-US" sz="1550" dirty="0">
              <a:latin typeface="Arial" panose="020B0604020202020204" pitchFamily="34" charset="0"/>
              <a:cs typeface="Arial" panose="020B0604020202020204" pitchFamily="34" charset="0"/>
            </a:endParaRPr>
          </a:p>
        </p:txBody>
      </p:sp>
      <p:sp>
        <p:nvSpPr>
          <p:cNvPr id="5" name="Shape 6">
            <a:extLst>
              <a:ext uri="{FF2B5EF4-FFF2-40B4-BE49-F238E27FC236}">
                <a16:creationId xmlns:a16="http://schemas.microsoft.com/office/drawing/2014/main" id="{40E10731-37FD-F0C1-96BE-C4128FCBEE7B}"/>
              </a:ext>
            </a:extLst>
          </p:cNvPr>
          <p:cNvSpPr/>
          <p:nvPr/>
        </p:nvSpPr>
        <p:spPr>
          <a:xfrm>
            <a:off x="6509658" y="1737999"/>
            <a:ext cx="5562600" cy="1486077"/>
          </a:xfrm>
          <a:prstGeom prst="roundRect">
            <a:avLst>
              <a:gd name="adj" fmla="val 7182"/>
            </a:avLst>
          </a:prstGeom>
          <a:solidFill>
            <a:srgbClr val="FFB3B4"/>
          </a:solidFill>
          <a:ln/>
        </p:spPr>
        <p:txBody>
          <a:bodyPr/>
          <a:lstStyle/>
          <a:p>
            <a:endParaRPr lang="en-US">
              <a:latin typeface="Arial" panose="020B0604020202020204" pitchFamily="34" charset="0"/>
              <a:cs typeface="Arial" panose="020B0604020202020204" pitchFamily="34" charset="0"/>
            </a:endParaRPr>
          </a:p>
        </p:txBody>
      </p:sp>
      <p:pic>
        <p:nvPicPr>
          <p:cNvPr id="6" name="Image 0" descr="preencoded.png">
            <a:extLst>
              <a:ext uri="{FF2B5EF4-FFF2-40B4-BE49-F238E27FC236}">
                <a16:creationId xmlns:a16="http://schemas.microsoft.com/office/drawing/2014/main" id="{CA08E5B1-0F8A-7094-F156-96D1679ACBFF}"/>
              </a:ext>
            </a:extLst>
          </p:cNvPr>
          <p:cNvPicPr>
            <a:picLocks noChangeAspect="1"/>
          </p:cNvPicPr>
          <p:nvPr/>
        </p:nvPicPr>
        <p:blipFill>
          <a:blip r:embed="rId2"/>
          <a:stretch>
            <a:fillRect/>
          </a:stretch>
        </p:blipFill>
        <p:spPr>
          <a:xfrm>
            <a:off x="6708016" y="2040894"/>
            <a:ext cx="317520" cy="253955"/>
          </a:xfrm>
          <a:prstGeom prst="rect">
            <a:avLst/>
          </a:prstGeom>
        </p:spPr>
      </p:pic>
      <p:sp>
        <p:nvSpPr>
          <p:cNvPr id="8" name="Text 7">
            <a:extLst>
              <a:ext uri="{FF2B5EF4-FFF2-40B4-BE49-F238E27FC236}">
                <a16:creationId xmlns:a16="http://schemas.microsoft.com/office/drawing/2014/main" id="{38BBCA40-1928-CA98-8603-516AE0213508}"/>
              </a:ext>
            </a:extLst>
          </p:cNvPr>
          <p:cNvSpPr/>
          <p:nvPr/>
        </p:nvSpPr>
        <p:spPr>
          <a:xfrm>
            <a:off x="7154383" y="1985888"/>
            <a:ext cx="4815752" cy="813081"/>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Đây chính xác là lý do Transaction ra đời. Không có transaction, không có hệ thống tài chính đáng tin cậy.</a:t>
            </a:r>
            <a:endParaRPr lang="en-US" sz="155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7AA117B4-0727-65DF-843C-97F05409065D}"/>
              </a:ext>
            </a:extLst>
          </p:cNvPr>
          <p:cNvSpPr/>
          <p:nvPr/>
        </p:nvSpPr>
        <p:spPr>
          <a:xfrm>
            <a:off x="6477001" y="3505200"/>
            <a:ext cx="5562600" cy="1892618"/>
          </a:xfrm>
          <a:prstGeom prst="roundRect">
            <a:avLst>
              <a:gd name="adj" fmla="val 5639"/>
            </a:avLst>
          </a:prstGeom>
          <a:solidFill>
            <a:srgbClr val="B6D6FC"/>
          </a:solidFill>
          <a:ln/>
        </p:spPr>
        <p:txBody>
          <a:bodyPr/>
          <a:lstStyle/>
          <a:p>
            <a:endParaRPr lang="en-US">
              <a:latin typeface="Arial" panose="020B0604020202020204" pitchFamily="34" charset="0"/>
              <a:cs typeface="Arial" panose="020B0604020202020204" pitchFamily="34" charset="0"/>
            </a:endParaRPr>
          </a:p>
        </p:txBody>
      </p:sp>
      <p:pic>
        <p:nvPicPr>
          <p:cNvPr id="10" name="Image 1" descr="preencoded.png">
            <a:extLst>
              <a:ext uri="{FF2B5EF4-FFF2-40B4-BE49-F238E27FC236}">
                <a16:creationId xmlns:a16="http://schemas.microsoft.com/office/drawing/2014/main" id="{50D772FD-1853-2F96-0881-7C4B64D32F0C}"/>
              </a:ext>
            </a:extLst>
          </p:cNvPr>
          <p:cNvPicPr>
            <a:picLocks noChangeAspect="1"/>
          </p:cNvPicPr>
          <p:nvPr/>
        </p:nvPicPr>
        <p:blipFill>
          <a:blip r:embed="rId3"/>
          <a:stretch>
            <a:fillRect/>
          </a:stretch>
        </p:blipFill>
        <p:spPr>
          <a:xfrm>
            <a:off x="6675359" y="3808094"/>
            <a:ext cx="317520" cy="253955"/>
          </a:xfrm>
          <a:prstGeom prst="rect">
            <a:avLst/>
          </a:prstGeom>
        </p:spPr>
      </p:pic>
      <p:sp>
        <p:nvSpPr>
          <p:cNvPr id="11" name="Text 9">
            <a:extLst>
              <a:ext uri="{FF2B5EF4-FFF2-40B4-BE49-F238E27FC236}">
                <a16:creationId xmlns:a16="http://schemas.microsoft.com/office/drawing/2014/main" id="{10D883B8-094C-31C4-DC9D-48F4F9701097}"/>
              </a:ext>
            </a:extLst>
          </p:cNvPr>
          <p:cNvSpPr/>
          <p:nvPr/>
        </p:nvSpPr>
        <p:spPr>
          <a:xfrm>
            <a:off x="7121726" y="3753088"/>
            <a:ext cx="4815752" cy="1219623"/>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Tình huống này xuất hiện trong mọi ứng dụng: thương mại điện tử, đặt vé, quản lý kho... Bất kỳ nơi nào có nhiều thao tác DB cần thực hiện cùng nhau.</a:t>
            </a:r>
            <a:endParaRPr lang="en-US" sz="155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0C424-B29D-096A-065B-B9260F931186}"/>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43BD39F3-E904-26E7-6E9A-265FC19241B2}"/>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12" name="Text 2">
            <a:extLst>
              <a:ext uri="{FF2B5EF4-FFF2-40B4-BE49-F238E27FC236}">
                <a16:creationId xmlns:a16="http://schemas.microsoft.com/office/drawing/2014/main" id="{93643D2C-3561-DB0C-69A4-466E6E9845BF}"/>
              </a:ext>
            </a:extLst>
          </p:cNvPr>
          <p:cNvSpPr/>
          <p:nvPr/>
        </p:nvSpPr>
        <p:spPr>
          <a:xfrm>
            <a:off x="838200" y="533400"/>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Crimson Pro Bold" pitchFamily="34" charset="0"/>
                <a:ea typeface="Crimson Pro Bold" pitchFamily="34" charset="-122"/>
                <a:cs typeface="Crimson Pro Bold" pitchFamily="34" charset="-120"/>
              </a:rPr>
              <a:t>Transaction Là Gì?</a:t>
            </a:r>
            <a:endParaRPr lang="en-US" sz="3900" dirty="0"/>
          </a:p>
        </p:txBody>
      </p:sp>
      <p:sp>
        <p:nvSpPr>
          <p:cNvPr id="13" name="Text 3">
            <a:extLst>
              <a:ext uri="{FF2B5EF4-FFF2-40B4-BE49-F238E27FC236}">
                <a16:creationId xmlns:a16="http://schemas.microsoft.com/office/drawing/2014/main" id="{FCC27B06-FA76-4EE4-DF25-C85A9BA9427F}"/>
              </a:ext>
            </a:extLst>
          </p:cNvPr>
          <p:cNvSpPr/>
          <p:nvPr/>
        </p:nvSpPr>
        <p:spPr>
          <a:xfrm>
            <a:off x="990601" y="1371600"/>
            <a:ext cx="10896600" cy="838200"/>
          </a:xfrm>
          <a:prstGeom prst="rect">
            <a:avLst/>
          </a:prstGeom>
          <a:noFill/>
          <a:ln/>
        </p:spPr>
        <p:txBody>
          <a:bodyPr wrap="square" lIns="0" tIns="0" rIns="0" bIns="0" rtlCol="0" anchor="t"/>
          <a:lstStyle/>
          <a:p>
            <a:pPr marL="0" indent="0" algn="just">
              <a:lnSpc>
                <a:spcPts val="2500"/>
              </a:lnSpc>
              <a:buNone/>
            </a:pPr>
            <a:r>
              <a:rPr lang="en-US" sz="1700" dirty="0">
                <a:solidFill>
                  <a:srgbClr val="443728"/>
                </a:solidFill>
                <a:latin typeface="Arial" panose="020B0604020202020204" pitchFamily="34" charset="0"/>
                <a:ea typeface="Open Sans" pitchFamily="34" charset="-122"/>
                <a:cs typeface="Arial" panose="020B0604020202020204" pitchFamily="34" charset="0"/>
              </a:rPr>
              <a:t>Một </a:t>
            </a:r>
            <a:r>
              <a:rPr lang="en-US" sz="1700" b="1" dirty="0">
                <a:solidFill>
                  <a:srgbClr val="443728"/>
                </a:solidFill>
                <a:latin typeface="Arial" panose="020B0604020202020204" pitchFamily="34" charset="0"/>
                <a:ea typeface="Open Sans" pitchFamily="34" charset="-122"/>
                <a:cs typeface="Arial" panose="020B0604020202020204" pitchFamily="34" charset="0"/>
              </a:rPr>
              <a:t>Transaction</a:t>
            </a:r>
            <a:r>
              <a:rPr lang="en-US" sz="1700" dirty="0">
                <a:solidFill>
                  <a:srgbClr val="443728"/>
                </a:solidFill>
                <a:latin typeface="Arial" panose="020B0604020202020204" pitchFamily="34" charset="0"/>
                <a:ea typeface="Open Sans" pitchFamily="34" charset="-122"/>
                <a:cs typeface="Arial" panose="020B0604020202020204" pitchFamily="34" charset="0"/>
              </a:rPr>
              <a:t> là một nhóm các thao tác cơ sở dữ liệu được thực hiện như một </a:t>
            </a:r>
            <a:r>
              <a:rPr lang="en-US" sz="1700" b="1" dirty="0">
                <a:solidFill>
                  <a:srgbClr val="443728"/>
                </a:solidFill>
                <a:latin typeface="Arial" panose="020B0604020202020204" pitchFamily="34" charset="0"/>
                <a:ea typeface="Open Sans" pitchFamily="34" charset="-122"/>
                <a:cs typeface="Arial" panose="020B0604020202020204" pitchFamily="34" charset="0"/>
              </a:rPr>
              <a:t>đơn vị duy nhất, không thể chia tách</a:t>
            </a:r>
            <a:r>
              <a:rPr lang="en-US" sz="1700" dirty="0">
                <a:solidFill>
                  <a:srgbClr val="443728"/>
                </a:solidFill>
                <a:latin typeface="Arial" panose="020B0604020202020204" pitchFamily="34" charset="0"/>
                <a:ea typeface="Open Sans" pitchFamily="34" charset="-122"/>
                <a:cs typeface="Arial" panose="020B0604020202020204" pitchFamily="34" charset="0"/>
              </a:rPr>
              <a:t>. Nguyên tắc cốt lõi là </a:t>
            </a:r>
            <a:r>
              <a:rPr lang="en-US" sz="1700" b="1" dirty="0">
                <a:solidFill>
                  <a:srgbClr val="443728"/>
                </a:solidFill>
                <a:latin typeface="Arial" panose="020B0604020202020204" pitchFamily="34" charset="0"/>
                <a:ea typeface="Open Sans" pitchFamily="34" charset="-122"/>
                <a:cs typeface="Arial" panose="020B0604020202020204" pitchFamily="34" charset="0"/>
              </a:rPr>
              <a:t>"All or Nothing"</a:t>
            </a:r>
            <a:r>
              <a:rPr lang="en-US" sz="1700" dirty="0">
                <a:solidFill>
                  <a:srgbClr val="443728"/>
                </a:solidFill>
                <a:latin typeface="Arial" panose="020B0604020202020204" pitchFamily="34" charset="0"/>
                <a:ea typeface="Open Sans" pitchFamily="34" charset="-122"/>
                <a:cs typeface="Arial" panose="020B0604020202020204" pitchFamily="34" charset="0"/>
              </a:rPr>
              <a:t> — tất cả thành công hoặc tất cả thất bại, không có trạng thái nào ở giữa.</a:t>
            </a:r>
            <a:endParaRPr lang="en-US" sz="1700" dirty="0">
              <a:latin typeface="Arial" panose="020B0604020202020204" pitchFamily="34" charset="0"/>
              <a:cs typeface="Arial" panose="020B0604020202020204" pitchFamily="34" charset="0"/>
            </a:endParaRPr>
          </a:p>
        </p:txBody>
      </p:sp>
      <p:sp>
        <p:nvSpPr>
          <p:cNvPr id="18" name="Shape 4">
            <a:extLst>
              <a:ext uri="{FF2B5EF4-FFF2-40B4-BE49-F238E27FC236}">
                <a16:creationId xmlns:a16="http://schemas.microsoft.com/office/drawing/2014/main" id="{29CA1C8B-3CA1-658E-B752-1BBEA9FBBA90}"/>
              </a:ext>
            </a:extLst>
          </p:cNvPr>
          <p:cNvSpPr/>
          <p:nvPr/>
        </p:nvSpPr>
        <p:spPr>
          <a:xfrm>
            <a:off x="1060133" y="2532102"/>
            <a:ext cx="8470519" cy="2126546"/>
          </a:xfrm>
          <a:prstGeom prst="roundRect">
            <a:avLst>
              <a:gd name="adj" fmla="val 4647"/>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9" name="Shape 5">
            <a:extLst>
              <a:ext uri="{FF2B5EF4-FFF2-40B4-BE49-F238E27FC236}">
                <a16:creationId xmlns:a16="http://schemas.microsoft.com/office/drawing/2014/main" id="{1E3770D6-DFA1-5C10-51E8-983BF71291E2}"/>
              </a:ext>
            </a:extLst>
          </p:cNvPr>
          <p:cNvSpPr/>
          <p:nvPr/>
        </p:nvSpPr>
        <p:spPr>
          <a:xfrm>
            <a:off x="1067753" y="2539721"/>
            <a:ext cx="2820156" cy="2108479"/>
          </a:xfrm>
          <a:prstGeom prst="roundRect">
            <a:avLst>
              <a:gd name="adj" fmla="val 4687"/>
            </a:avLst>
          </a:prstGeom>
          <a:solidFill>
            <a:srgbClr val="EBE2E0"/>
          </a:solidFill>
          <a:ln/>
        </p:spPr>
        <p:txBody>
          <a:bodyPr/>
          <a:lstStyle/>
          <a:p>
            <a:endParaRPr lang="en-US">
              <a:latin typeface="Arial" panose="020B0604020202020204" pitchFamily="34" charset="0"/>
              <a:cs typeface="Arial" panose="020B0604020202020204" pitchFamily="34" charset="0"/>
            </a:endParaRPr>
          </a:p>
        </p:txBody>
      </p:sp>
      <p:sp>
        <p:nvSpPr>
          <p:cNvPr id="20" name="Text 6">
            <a:extLst>
              <a:ext uri="{FF2B5EF4-FFF2-40B4-BE49-F238E27FC236}">
                <a16:creationId xmlns:a16="http://schemas.microsoft.com/office/drawing/2014/main" id="{EF477C18-B8E1-47C1-E10D-B51C4C8D18DF}"/>
              </a:ext>
            </a:extLst>
          </p:cNvPr>
          <p:cNvSpPr/>
          <p:nvPr/>
        </p:nvSpPr>
        <p:spPr>
          <a:xfrm>
            <a:off x="1266111" y="2738080"/>
            <a:ext cx="1611197" cy="367692"/>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Arial" panose="020B0604020202020204" pitchFamily="34" charset="0"/>
                <a:ea typeface="Crimson Pro Bold" pitchFamily="34" charset="-122"/>
                <a:cs typeface="Arial" panose="020B0604020202020204" pitchFamily="34" charset="0"/>
              </a:rPr>
              <a:t>✅</a:t>
            </a:r>
            <a:r>
              <a:rPr lang="en-US" sz="1950" b="1" dirty="0">
                <a:solidFill>
                  <a:srgbClr val="443728"/>
                </a:solidFill>
                <a:latin typeface="Arial" panose="020B0604020202020204" pitchFamily="34" charset="0"/>
                <a:ea typeface="Crimson Pro Bold" pitchFamily="34" charset="-122"/>
                <a:cs typeface="Arial" panose="020B0604020202020204" pitchFamily="34" charset="0"/>
              </a:rPr>
              <a:t> Commit</a:t>
            </a:r>
            <a:endParaRPr lang="en-US" sz="1950" dirty="0">
              <a:latin typeface="Arial" panose="020B0604020202020204" pitchFamily="34" charset="0"/>
              <a:cs typeface="Arial" panose="020B0604020202020204" pitchFamily="34" charset="0"/>
            </a:endParaRPr>
          </a:p>
        </p:txBody>
      </p:sp>
      <p:sp>
        <p:nvSpPr>
          <p:cNvPr id="21" name="Text 7">
            <a:extLst>
              <a:ext uri="{FF2B5EF4-FFF2-40B4-BE49-F238E27FC236}">
                <a16:creationId xmlns:a16="http://schemas.microsoft.com/office/drawing/2014/main" id="{AF568E94-B755-4971-B4CA-07AD986758EC}"/>
              </a:ext>
            </a:extLst>
          </p:cNvPr>
          <p:cNvSpPr/>
          <p:nvPr/>
        </p:nvSpPr>
        <p:spPr>
          <a:xfrm>
            <a:off x="1266112" y="3167301"/>
            <a:ext cx="2562512" cy="1129330"/>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Khi tất cả các thao tác trong transaction đều thành công, thay đổi được </a:t>
            </a:r>
            <a:r>
              <a:rPr lang="en-US" sz="1550" b="1" dirty="0">
                <a:solidFill>
                  <a:srgbClr val="443728"/>
                </a:solidFill>
                <a:latin typeface="Arial" panose="020B0604020202020204" pitchFamily="34" charset="0"/>
                <a:ea typeface="Open Sans" pitchFamily="34" charset="-122"/>
                <a:cs typeface="Arial" panose="020B0604020202020204" pitchFamily="34" charset="0"/>
              </a:rPr>
              <a:t>lưu vĩnh viễn</a:t>
            </a:r>
            <a:r>
              <a:rPr lang="en-US" sz="1550" dirty="0">
                <a:solidFill>
                  <a:srgbClr val="443728"/>
                </a:solidFill>
                <a:latin typeface="Arial" panose="020B0604020202020204" pitchFamily="34" charset="0"/>
                <a:ea typeface="Open Sans" pitchFamily="34" charset="-122"/>
                <a:cs typeface="Arial" panose="020B0604020202020204" pitchFamily="34" charset="0"/>
              </a:rPr>
              <a:t> vào database.</a:t>
            </a:r>
            <a:endParaRPr lang="en-US" sz="1550" dirty="0">
              <a:latin typeface="Arial" panose="020B0604020202020204" pitchFamily="34" charset="0"/>
              <a:cs typeface="Arial" panose="020B0604020202020204" pitchFamily="34" charset="0"/>
            </a:endParaRPr>
          </a:p>
        </p:txBody>
      </p:sp>
      <p:sp>
        <p:nvSpPr>
          <p:cNvPr id="22" name="Shape 8">
            <a:extLst>
              <a:ext uri="{FF2B5EF4-FFF2-40B4-BE49-F238E27FC236}">
                <a16:creationId xmlns:a16="http://schemas.microsoft.com/office/drawing/2014/main" id="{625A6B9F-C087-D862-1F1B-1790764BB1D6}"/>
              </a:ext>
            </a:extLst>
          </p:cNvPr>
          <p:cNvSpPr/>
          <p:nvPr/>
        </p:nvSpPr>
        <p:spPr>
          <a:xfrm>
            <a:off x="4724400" y="2539721"/>
            <a:ext cx="2820233" cy="2108479"/>
          </a:xfrm>
          <a:prstGeom prst="rect">
            <a:avLst/>
          </a:prstGeom>
          <a:solidFill>
            <a:srgbClr val="EBE2E0"/>
          </a:solidFill>
          <a:ln/>
        </p:spPr>
        <p:txBody>
          <a:bodyPr/>
          <a:lstStyle/>
          <a:p>
            <a:endParaRPr lang="en-US">
              <a:latin typeface="Arial" panose="020B0604020202020204" pitchFamily="34" charset="0"/>
              <a:cs typeface="Arial" panose="020B0604020202020204" pitchFamily="34" charset="0"/>
            </a:endParaRPr>
          </a:p>
        </p:txBody>
      </p:sp>
      <p:sp>
        <p:nvSpPr>
          <p:cNvPr id="23" name="Shape 9">
            <a:extLst>
              <a:ext uri="{FF2B5EF4-FFF2-40B4-BE49-F238E27FC236}">
                <a16:creationId xmlns:a16="http://schemas.microsoft.com/office/drawing/2014/main" id="{1E852455-7507-A419-086F-CC84DF950F57}"/>
              </a:ext>
            </a:extLst>
          </p:cNvPr>
          <p:cNvSpPr/>
          <p:nvPr/>
        </p:nvSpPr>
        <p:spPr>
          <a:xfrm>
            <a:off x="4724399" y="2539721"/>
            <a:ext cx="45719" cy="2108479"/>
          </a:xfrm>
          <a:prstGeom prst="roundRect">
            <a:avLst>
              <a:gd name="adj" fmla="val 364651"/>
            </a:avLst>
          </a:prstGeom>
          <a:solidFill>
            <a:srgbClr val="D1C8C6"/>
          </a:solidFill>
          <a:ln/>
        </p:spPr>
        <p:txBody>
          <a:bodyPr/>
          <a:lstStyle/>
          <a:p>
            <a:endParaRPr lang="en-US">
              <a:latin typeface="Arial" panose="020B0604020202020204" pitchFamily="34" charset="0"/>
              <a:cs typeface="Arial" panose="020B0604020202020204" pitchFamily="34" charset="0"/>
            </a:endParaRPr>
          </a:p>
        </p:txBody>
      </p:sp>
      <p:sp>
        <p:nvSpPr>
          <p:cNvPr id="24" name="Text 10">
            <a:extLst>
              <a:ext uri="{FF2B5EF4-FFF2-40B4-BE49-F238E27FC236}">
                <a16:creationId xmlns:a16="http://schemas.microsoft.com/office/drawing/2014/main" id="{74296EB5-A018-CA02-A7F2-8A7C3827BE8F}"/>
              </a:ext>
            </a:extLst>
          </p:cNvPr>
          <p:cNvSpPr/>
          <p:nvPr/>
        </p:nvSpPr>
        <p:spPr>
          <a:xfrm>
            <a:off x="4922758" y="2738080"/>
            <a:ext cx="1611197" cy="367692"/>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Arial" panose="020B0604020202020204" pitchFamily="34" charset="0"/>
                <a:ea typeface="Crimson Pro Bold" pitchFamily="34" charset="-122"/>
                <a:cs typeface="Arial" panose="020B0604020202020204" pitchFamily="34" charset="0"/>
              </a:rPr>
              <a:t>❌</a:t>
            </a:r>
            <a:r>
              <a:rPr lang="en-US" sz="1950" b="1" dirty="0">
                <a:solidFill>
                  <a:srgbClr val="443728"/>
                </a:solidFill>
                <a:latin typeface="Arial" panose="020B0604020202020204" pitchFamily="34" charset="0"/>
                <a:ea typeface="Crimson Pro Bold" pitchFamily="34" charset="-122"/>
                <a:cs typeface="Arial" panose="020B0604020202020204" pitchFamily="34" charset="0"/>
              </a:rPr>
              <a:t> Rollback</a:t>
            </a:r>
            <a:endParaRPr lang="en-US" sz="1950" dirty="0">
              <a:latin typeface="Arial" panose="020B0604020202020204" pitchFamily="34" charset="0"/>
              <a:cs typeface="Arial" panose="020B0604020202020204" pitchFamily="34" charset="0"/>
            </a:endParaRPr>
          </a:p>
        </p:txBody>
      </p:sp>
      <p:sp>
        <p:nvSpPr>
          <p:cNvPr id="25" name="Text 11">
            <a:extLst>
              <a:ext uri="{FF2B5EF4-FFF2-40B4-BE49-F238E27FC236}">
                <a16:creationId xmlns:a16="http://schemas.microsoft.com/office/drawing/2014/main" id="{2F02F523-3637-9202-F177-77F378EB20C8}"/>
              </a:ext>
            </a:extLst>
          </p:cNvPr>
          <p:cNvSpPr/>
          <p:nvPr/>
        </p:nvSpPr>
        <p:spPr>
          <a:xfrm>
            <a:off x="4922758" y="3167301"/>
            <a:ext cx="2562589" cy="1129330"/>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Nếu bất kỳ thao tác nào thất bại, </a:t>
            </a:r>
            <a:r>
              <a:rPr lang="en-US" sz="1550" b="1" dirty="0">
                <a:solidFill>
                  <a:srgbClr val="443728"/>
                </a:solidFill>
                <a:latin typeface="Arial" panose="020B0604020202020204" pitchFamily="34" charset="0"/>
                <a:ea typeface="Open Sans" pitchFamily="34" charset="-122"/>
                <a:cs typeface="Arial" panose="020B0604020202020204" pitchFamily="34" charset="0"/>
              </a:rPr>
              <a:t>toàn bộ thay đổi bị hủy</a:t>
            </a:r>
            <a:r>
              <a:rPr lang="en-US" sz="1550" dirty="0">
                <a:solidFill>
                  <a:srgbClr val="443728"/>
                </a:solidFill>
                <a:latin typeface="Arial" panose="020B0604020202020204" pitchFamily="34" charset="0"/>
                <a:ea typeface="Open Sans" pitchFamily="34" charset="-122"/>
                <a:cs typeface="Arial" panose="020B0604020202020204" pitchFamily="34" charset="0"/>
              </a:rPr>
              <a:t>, database trở về trạng thái ban đầu.</a:t>
            </a:r>
            <a:endParaRPr lang="en-US" sz="1550" dirty="0">
              <a:latin typeface="Arial" panose="020B0604020202020204" pitchFamily="34" charset="0"/>
              <a:cs typeface="Arial" panose="020B0604020202020204" pitchFamily="34" charset="0"/>
            </a:endParaRPr>
          </a:p>
        </p:txBody>
      </p:sp>
      <p:sp>
        <p:nvSpPr>
          <p:cNvPr id="26" name="Shape 12">
            <a:extLst>
              <a:ext uri="{FF2B5EF4-FFF2-40B4-BE49-F238E27FC236}">
                <a16:creationId xmlns:a16="http://schemas.microsoft.com/office/drawing/2014/main" id="{EEE15975-9578-498D-2DD4-1B33B59FEF23}"/>
              </a:ext>
            </a:extLst>
          </p:cNvPr>
          <p:cNvSpPr/>
          <p:nvPr/>
        </p:nvSpPr>
        <p:spPr>
          <a:xfrm>
            <a:off x="9219367" y="2539721"/>
            <a:ext cx="2820233" cy="2108479"/>
          </a:xfrm>
          <a:prstGeom prst="rect">
            <a:avLst/>
          </a:prstGeom>
          <a:solidFill>
            <a:srgbClr val="EBE2E0"/>
          </a:solidFill>
          <a:ln/>
        </p:spPr>
        <p:txBody>
          <a:bodyPr/>
          <a:lstStyle/>
          <a:p>
            <a:endParaRPr lang="en-US">
              <a:latin typeface="Arial" panose="020B0604020202020204" pitchFamily="34" charset="0"/>
              <a:cs typeface="Arial" panose="020B0604020202020204" pitchFamily="34" charset="0"/>
            </a:endParaRPr>
          </a:p>
        </p:txBody>
      </p:sp>
      <p:sp>
        <p:nvSpPr>
          <p:cNvPr id="27" name="Shape 13">
            <a:extLst>
              <a:ext uri="{FF2B5EF4-FFF2-40B4-BE49-F238E27FC236}">
                <a16:creationId xmlns:a16="http://schemas.microsoft.com/office/drawing/2014/main" id="{CEEA3E6F-5829-5867-DCCE-0C9BE94C9553}"/>
              </a:ext>
            </a:extLst>
          </p:cNvPr>
          <p:cNvSpPr/>
          <p:nvPr/>
        </p:nvSpPr>
        <p:spPr>
          <a:xfrm>
            <a:off x="9219366" y="2539721"/>
            <a:ext cx="45719" cy="2108479"/>
          </a:xfrm>
          <a:prstGeom prst="roundRect">
            <a:avLst>
              <a:gd name="adj" fmla="val 364651"/>
            </a:avLst>
          </a:prstGeom>
          <a:solidFill>
            <a:srgbClr val="D1C8C6"/>
          </a:solidFill>
          <a:ln/>
        </p:spPr>
        <p:txBody>
          <a:bodyPr/>
          <a:lstStyle/>
          <a:p>
            <a:endParaRPr lang="en-US">
              <a:latin typeface="Arial" panose="020B0604020202020204" pitchFamily="34" charset="0"/>
              <a:cs typeface="Arial" panose="020B0604020202020204" pitchFamily="34" charset="0"/>
            </a:endParaRPr>
          </a:p>
        </p:txBody>
      </p:sp>
      <p:sp>
        <p:nvSpPr>
          <p:cNvPr id="28" name="Text 14">
            <a:extLst>
              <a:ext uri="{FF2B5EF4-FFF2-40B4-BE49-F238E27FC236}">
                <a16:creationId xmlns:a16="http://schemas.microsoft.com/office/drawing/2014/main" id="{A58C4C3E-2437-4677-A56E-0372BEDFE529}"/>
              </a:ext>
            </a:extLst>
          </p:cNvPr>
          <p:cNvSpPr/>
          <p:nvPr/>
        </p:nvSpPr>
        <p:spPr>
          <a:xfrm>
            <a:off x="9417725" y="2738080"/>
            <a:ext cx="1611197" cy="367692"/>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Arial" panose="020B0604020202020204" pitchFamily="34" charset="0"/>
                <a:ea typeface="Crimson Pro Bold" pitchFamily="34" charset="-122"/>
                <a:cs typeface="Arial" panose="020B0604020202020204" pitchFamily="34" charset="0"/>
              </a:rPr>
              <a:t>🔒</a:t>
            </a:r>
            <a:r>
              <a:rPr lang="en-US" sz="1950" b="1" dirty="0">
                <a:solidFill>
                  <a:srgbClr val="443728"/>
                </a:solidFill>
                <a:latin typeface="Arial" panose="020B0604020202020204" pitchFamily="34" charset="0"/>
                <a:ea typeface="Crimson Pro Bold" pitchFamily="34" charset="-122"/>
                <a:cs typeface="Arial" panose="020B0604020202020204" pitchFamily="34" charset="0"/>
              </a:rPr>
              <a:t> Isolation</a:t>
            </a:r>
            <a:endParaRPr lang="en-US" sz="1950" dirty="0">
              <a:latin typeface="Arial" panose="020B0604020202020204" pitchFamily="34" charset="0"/>
              <a:cs typeface="Arial" panose="020B0604020202020204" pitchFamily="34" charset="0"/>
            </a:endParaRPr>
          </a:p>
        </p:txBody>
      </p:sp>
      <p:sp>
        <p:nvSpPr>
          <p:cNvPr id="29" name="Text 15">
            <a:extLst>
              <a:ext uri="{FF2B5EF4-FFF2-40B4-BE49-F238E27FC236}">
                <a16:creationId xmlns:a16="http://schemas.microsoft.com/office/drawing/2014/main" id="{646541AA-B53A-F698-F1BD-DE2CB21EE976}"/>
              </a:ext>
            </a:extLst>
          </p:cNvPr>
          <p:cNvSpPr/>
          <p:nvPr/>
        </p:nvSpPr>
        <p:spPr>
          <a:xfrm>
            <a:off x="9417725" y="3167301"/>
            <a:ext cx="2562589" cy="1129330"/>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Các transaction chạy song song </a:t>
            </a:r>
            <a:r>
              <a:rPr lang="en-US" sz="1550" b="1" dirty="0">
                <a:solidFill>
                  <a:srgbClr val="443728"/>
                </a:solidFill>
                <a:latin typeface="Arial" panose="020B0604020202020204" pitchFamily="34" charset="0"/>
                <a:ea typeface="Open Sans" pitchFamily="34" charset="-122"/>
                <a:cs typeface="Arial" panose="020B0604020202020204" pitchFamily="34" charset="0"/>
              </a:rPr>
              <a:t>không ảnh hưởng lẫn nhau</a:t>
            </a:r>
            <a:r>
              <a:rPr lang="en-US" sz="1550" dirty="0">
                <a:solidFill>
                  <a:srgbClr val="443728"/>
                </a:solidFill>
                <a:latin typeface="Arial" panose="020B0604020202020204" pitchFamily="34" charset="0"/>
                <a:ea typeface="Open Sans" pitchFamily="34" charset="-122"/>
                <a:cs typeface="Arial" panose="020B0604020202020204" pitchFamily="34" charset="0"/>
              </a:rPr>
              <a:t> cho đến khi được commit.</a:t>
            </a:r>
            <a:endParaRPr lang="en-US" sz="15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3729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AA5C0-CF60-4AD5-AB5D-9525094C5329}"/>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28D9BA5A-23AE-E0CD-FC1C-B473DF56AC4C}"/>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73439F9B-11D0-D3A3-D2B6-54D82526D281}"/>
              </a:ext>
            </a:extLst>
          </p:cNvPr>
          <p:cNvSpPr/>
          <p:nvPr/>
        </p:nvSpPr>
        <p:spPr>
          <a:xfrm>
            <a:off x="838200" y="442370"/>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Arial" panose="020B0604020202020204" pitchFamily="34" charset="0"/>
                <a:ea typeface="Crimson Pro Bold" pitchFamily="34" charset="-122"/>
                <a:cs typeface="Arial" panose="020B0604020202020204" pitchFamily="34" charset="0"/>
              </a:rPr>
              <a:t>4 Tính </a:t>
            </a:r>
            <a:r>
              <a:rPr lang="en-US" sz="3900" b="1" dirty="0" err="1">
                <a:solidFill>
                  <a:srgbClr val="443728"/>
                </a:solidFill>
                <a:latin typeface="Arial" panose="020B0604020202020204" pitchFamily="34" charset="0"/>
                <a:ea typeface="Crimson Pro Bold" pitchFamily="34" charset="-122"/>
                <a:cs typeface="Arial" panose="020B0604020202020204" pitchFamily="34" charset="0"/>
              </a:rPr>
              <a:t>Chất</a:t>
            </a:r>
            <a:r>
              <a:rPr lang="en-US" sz="3900" b="1" dirty="0">
                <a:solidFill>
                  <a:srgbClr val="443728"/>
                </a:solidFill>
                <a:latin typeface="Arial" panose="020B0604020202020204" pitchFamily="34" charset="0"/>
                <a:ea typeface="Crimson Pro Bold" pitchFamily="34" charset="-122"/>
                <a:cs typeface="Arial" panose="020B0604020202020204" pitchFamily="34" charset="0"/>
              </a:rPr>
              <a:t> - ACID</a:t>
            </a:r>
            <a:endParaRPr lang="en-US" sz="3900" dirty="0">
              <a:latin typeface="Arial" panose="020B0604020202020204" pitchFamily="34" charset="0"/>
              <a:cs typeface="Arial" panose="020B0604020202020204" pitchFamily="34" charset="0"/>
            </a:endParaRPr>
          </a:p>
        </p:txBody>
      </p:sp>
      <p:sp>
        <p:nvSpPr>
          <p:cNvPr id="3" name="Shape 3">
            <a:extLst>
              <a:ext uri="{FF2B5EF4-FFF2-40B4-BE49-F238E27FC236}">
                <a16:creationId xmlns:a16="http://schemas.microsoft.com/office/drawing/2014/main" id="{B2AFFD05-F870-C65D-C2C1-B54D38E15746}"/>
              </a:ext>
            </a:extLst>
          </p:cNvPr>
          <p:cNvSpPr/>
          <p:nvPr/>
        </p:nvSpPr>
        <p:spPr>
          <a:xfrm>
            <a:off x="838200" y="1379220"/>
            <a:ext cx="5419011" cy="2004060"/>
          </a:xfrm>
          <a:prstGeom prst="roundRect">
            <a:avLst>
              <a:gd name="adj" fmla="val 3445"/>
            </a:avLst>
          </a:prstGeom>
          <a:solidFill>
            <a:srgbClr val="FFFCFA"/>
          </a:solidFill>
          <a:ln w="2286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4" name="Shape 4">
            <a:extLst>
              <a:ext uri="{FF2B5EF4-FFF2-40B4-BE49-F238E27FC236}">
                <a16:creationId xmlns:a16="http://schemas.microsoft.com/office/drawing/2014/main" id="{E3EF79F8-9460-71CD-98F3-3AD6A271213C}"/>
              </a:ext>
            </a:extLst>
          </p:cNvPr>
          <p:cNvSpPr/>
          <p:nvPr/>
        </p:nvSpPr>
        <p:spPr>
          <a:xfrm>
            <a:off x="861060" y="1402080"/>
            <a:ext cx="5380433" cy="388582"/>
          </a:xfrm>
          <a:prstGeom prst="roundRect">
            <a:avLst>
              <a:gd name="adj" fmla="val 9395"/>
            </a:avLst>
          </a:prstGeom>
          <a:solidFill>
            <a:srgbClr val="EBE2E0"/>
          </a:solidFill>
          <a:ln/>
        </p:spPr>
        <p:txBody>
          <a:bodyPr/>
          <a:lstStyle/>
          <a:p>
            <a:endParaRPr lang="en-US">
              <a:latin typeface="Arial" panose="020B0604020202020204" pitchFamily="34" charset="0"/>
              <a:cs typeface="Arial" panose="020B0604020202020204" pitchFamily="34" charset="0"/>
            </a:endParaRPr>
          </a:p>
        </p:txBody>
      </p:sp>
      <p:sp>
        <p:nvSpPr>
          <p:cNvPr id="5" name="Text 5">
            <a:extLst>
              <a:ext uri="{FF2B5EF4-FFF2-40B4-BE49-F238E27FC236}">
                <a16:creationId xmlns:a16="http://schemas.microsoft.com/office/drawing/2014/main" id="{03AA5C1E-0B2F-F51E-F876-76FD6D42D023}"/>
              </a:ext>
            </a:extLst>
          </p:cNvPr>
          <p:cNvSpPr/>
          <p:nvPr/>
        </p:nvSpPr>
        <p:spPr>
          <a:xfrm>
            <a:off x="1059418" y="1987403"/>
            <a:ext cx="2841716" cy="322171"/>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Arial" panose="020B0604020202020204" pitchFamily="34" charset="0"/>
                <a:ea typeface="Crimson Pro Bold" pitchFamily="34" charset="-122"/>
                <a:cs typeface="Arial" panose="020B0604020202020204" pitchFamily="34" charset="0"/>
              </a:rPr>
              <a:t>A — Atomicity (Tính nguyên tử)</a:t>
            </a:r>
            <a:endParaRPr lang="en-US" sz="1950" dirty="0">
              <a:latin typeface="Arial" panose="020B0604020202020204" pitchFamily="34" charset="0"/>
              <a:cs typeface="Arial" panose="020B0604020202020204" pitchFamily="34" charset="0"/>
            </a:endParaRPr>
          </a:p>
        </p:txBody>
      </p:sp>
      <p:sp>
        <p:nvSpPr>
          <p:cNvPr id="6" name="Text 6">
            <a:extLst>
              <a:ext uri="{FF2B5EF4-FFF2-40B4-BE49-F238E27FC236}">
                <a16:creationId xmlns:a16="http://schemas.microsoft.com/office/drawing/2014/main" id="{F628E32C-FDC6-1D26-3426-3ACDDF0E1D72}"/>
              </a:ext>
            </a:extLst>
          </p:cNvPr>
          <p:cNvSpPr/>
          <p:nvPr/>
        </p:nvSpPr>
        <p:spPr>
          <a:xfrm>
            <a:off x="1059419" y="2416624"/>
            <a:ext cx="5045688" cy="989516"/>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Toàn bộ các thao tác trong transaction phải được thực hiện hoặc không thao tác nào được thực hiện. Không có trạng thái "thực hiện một phần".</a:t>
            </a:r>
            <a:endParaRPr lang="en-US" sz="1550" dirty="0">
              <a:latin typeface="Arial" panose="020B0604020202020204" pitchFamily="34" charset="0"/>
              <a:cs typeface="Arial" panose="020B0604020202020204" pitchFamily="34" charset="0"/>
            </a:endParaRPr>
          </a:p>
        </p:txBody>
      </p:sp>
      <p:sp>
        <p:nvSpPr>
          <p:cNvPr id="8" name="Shape 7">
            <a:extLst>
              <a:ext uri="{FF2B5EF4-FFF2-40B4-BE49-F238E27FC236}">
                <a16:creationId xmlns:a16="http://schemas.microsoft.com/office/drawing/2014/main" id="{139B3B6D-BC8E-626E-5510-5F3C9F145C47}"/>
              </a:ext>
            </a:extLst>
          </p:cNvPr>
          <p:cNvSpPr/>
          <p:nvPr/>
        </p:nvSpPr>
        <p:spPr>
          <a:xfrm>
            <a:off x="6511086" y="1402080"/>
            <a:ext cx="5419011" cy="2004060"/>
          </a:xfrm>
          <a:prstGeom prst="roundRect">
            <a:avLst>
              <a:gd name="adj" fmla="val 3445"/>
            </a:avLst>
          </a:prstGeom>
          <a:solidFill>
            <a:srgbClr val="FFFCFA"/>
          </a:solidFill>
          <a:ln w="2286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B5E24612-F7C4-A829-9F46-3DC0D3359C12}"/>
              </a:ext>
            </a:extLst>
          </p:cNvPr>
          <p:cNvSpPr/>
          <p:nvPr/>
        </p:nvSpPr>
        <p:spPr>
          <a:xfrm>
            <a:off x="6533946" y="1424940"/>
            <a:ext cx="5380433" cy="388582"/>
          </a:xfrm>
          <a:prstGeom prst="roundRect">
            <a:avLst>
              <a:gd name="adj" fmla="val 9395"/>
            </a:avLst>
          </a:prstGeom>
          <a:solidFill>
            <a:srgbClr val="EBE2E0"/>
          </a:solidFill>
          <a:ln/>
        </p:spPr>
        <p:txBody>
          <a:bodyPr/>
          <a:lstStyle/>
          <a:p>
            <a:endParaRPr lang="en-US">
              <a:latin typeface="Arial" panose="020B0604020202020204" pitchFamily="34" charset="0"/>
              <a:cs typeface="Arial" panose="020B0604020202020204" pitchFamily="34" charset="0"/>
            </a:endParaRPr>
          </a:p>
        </p:txBody>
      </p:sp>
      <p:sp>
        <p:nvSpPr>
          <p:cNvPr id="10" name="Text 9">
            <a:extLst>
              <a:ext uri="{FF2B5EF4-FFF2-40B4-BE49-F238E27FC236}">
                <a16:creationId xmlns:a16="http://schemas.microsoft.com/office/drawing/2014/main" id="{26D2D224-A524-F040-412D-81E577AFD0AF}"/>
              </a:ext>
            </a:extLst>
          </p:cNvPr>
          <p:cNvSpPr/>
          <p:nvPr/>
        </p:nvSpPr>
        <p:spPr>
          <a:xfrm>
            <a:off x="6732304" y="2010263"/>
            <a:ext cx="3061128" cy="322171"/>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Arial" panose="020B0604020202020204" pitchFamily="34" charset="0"/>
                <a:ea typeface="Crimson Pro Bold" pitchFamily="34" charset="-122"/>
                <a:cs typeface="Arial" panose="020B0604020202020204" pitchFamily="34" charset="0"/>
              </a:rPr>
              <a:t>C — Consistency (Tính nhất quán)</a:t>
            </a:r>
            <a:endParaRPr lang="en-US" sz="1950" dirty="0">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4682B8F4-B458-0950-F965-7BD373C5F1B3}"/>
              </a:ext>
            </a:extLst>
          </p:cNvPr>
          <p:cNvSpPr/>
          <p:nvPr/>
        </p:nvSpPr>
        <p:spPr>
          <a:xfrm>
            <a:off x="6732305" y="2439484"/>
            <a:ext cx="5045688" cy="989516"/>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Sau khi transaction hoàn thành (commit hoặc rollback), dữ liệu phải ở trạng thái hợp lệ, tuân thủ tất cả các ràng buộc và quy tắc nghiệp vụ đã định nghĩa.</a:t>
            </a:r>
            <a:endParaRPr lang="en-US" sz="1550" dirty="0">
              <a:latin typeface="Arial" panose="020B0604020202020204" pitchFamily="34" charset="0"/>
              <a:cs typeface="Arial" panose="020B0604020202020204" pitchFamily="34" charset="0"/>
            </a:endParaRPr>
          </a:p>
        </p:txBody>
      </p:sp>
      <p:sp>
        <p:nvSpPr>
          <p:cNvPr id="12" name="Shape 11">
            <a:extLst>
              <a:ext uri="{FF2B5EF4-FFF2-40B4-BE49-F238E27FC236}">
                <a16:creationId xmlns:a16="http://schemas.microsoft.com/office/drawing/2014/main" id="{60A4F3A8-0641-90B9-FE63-0437B9021BD5}"/>
              </a:ext>
            </a:extLst>
          </p:cNvPr>
          <p:cNvSpPr/>
          <p:nvPr/>
        </p:nvSpPr>
        <p:spPr>
          <a:xfrm>
            <a:off x="844253" y="3655829"/>
            <a:ext cx="5419011" cy="2004060"/>
          </a:xfrm>
          <a:prstGeom prst="roundRect">
            <a:avLst>
              <a:gd name="adj" fmla="val 3445"/>
            </a:avLst>
          </a:prstGeom>
          <a:solidFill>
            <a:srgbClr val="FFFCFA"/>
          </a:solidFill>
          <a:ln w="2286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3" name="Shape 12">
            <a:extLst>
              <a:ext uri="{FF2B5EF4-FFF2-40B4-BE49-F238E27FC236}">
                <a16:creationId xmlns:a16="http://schemas.microsoft.com/office/drawing/2014/main" id="{C9527B87-67D2-6FBC-D489-40FCAFAA7766}"/>
              </a:ext>
            </a:extLst>
          </p:cNvPr>
          <p:cNvSpPr/>
          <p:nvPr/>
        </p:nvSpPr>
        <p:spPr>
          <a:xfrm>
            <a:off x="867113" y="3671107"/>
            <a:ext cx="5380433" cy="388582"/>
          </a:xfrm>
          <a:prstGeom prst="roundRect">
            <a:avLst>
              <a:gd name="adj" fmla="val 9395"/>
            </a:avLst>
          </a:prstGeom>
          <a:solidFill>
            <a:srgbClr val="EBE2E0"/>
          </a:solidFill>
          <a:ln/>
        </p:spPr>
        <p:txBody>
          <a:bodyPr/>
          <a:lstStyle/>
          <a:p>
            <a:endParaRPr lang="en-US">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06C4EC44-7B5B-45FA-506C-505C8E756CEF}"/>
              </a:ext>
            </a:extLst>
          </p:cNvPr>
          <p:cNvSpPr/>
          <p:nvPr/>
        </p:nvSpPr>
        <p:spPr>
          <a:xfrm>
            <a:off x="1065471" y="4264011"/>
            <a:ext cx="2332265" cy="322171"/>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Arial" panose="020B0604020202020204" pitchFamily="34" charset="0"/>
                <a:ea typeface="Crimson Pro Bold" pitchFamily="34" charset="-122"/>
                <a:cs typeface="Arial" panose="020B0604020202020204" pitchFamily="34" charset="0"/>
              </a:rPr>
              <a:t>I — Isolation (Tính cô lập)</a:t>
            </a:r>
            <a:endParaRPr lang="en-US" sz="1950" dirty="0">
              <a:latin typeface="Arial" panose="020B0604020202020204" pitchFamily="34" charset="0"/>
              <a:cs typeface="Arial" panose="020B0604020202020204" pitchFamily="34" charset="0"/>
            </a:endParaRPr>
          </a:p>
        </p:txBody>
      </p:sp>
      <p:sp>
        <p:nvSpPr>
          <p:cNvPr id="15" name="Text 14">
            <a:extLst>
              <a:ext uri="{FF2B5EF4-FFF2-40B4-BE49-F238E27FC236}">
                <a16:creationId xmlns:a16="http://schemas.microsoft.com/office/drawing/2014/main" id="{A9C85DD3-2D95-1E49-C7BC-13BFF45C4EAC}"/>
              </a:ext>
            </a:extLst>
          </p:cNvPr>
          <p:cNvSpPr/>
          <p:nvPr/>
        </p:nvSpPr>
        <p:spPr>
          <a:xfrm>
            <a:off x="1065472" y="4693233"/>
            <a:ext cx="5045688" cy="989516"/>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Các transaction đang thực thi song song phải hoạt động độc lập với nhau. Kết quả trung gian của một transaction không được hiển thị với các transaction khác.</a:t>
            </a:r>
            <a:endParaRPr lang="en-US" sz="1550" dirty="0">
              <a:latin typeface="Arial" panose="020B0604020202020204" pitchFamily="34" charset="0"/>
              <a:cs typeface="Arial" panose="020B0604020202020204" pitchFamily="34" charset="0"/>
            </a:endParaRPr>
          </a:p>
        </p:txBody>
      </p:sp>
      <p:sp>
        <p:nvSpPr>
          <p:cNvPr id="16" name="Shape 15">
            <a:extLst>
              <a:ext uri="{FF2B5EF4-FFF2-40B4-BE49-F238E27FC236}">
                <a16:creationId xmlns:a16="http://schemas.microsoft.com/office/drawing/2014/main" id="{B0B957F4-FF39-C6E9-9908-C9F3F3EC18EE}"/>
              </a:ext>
            </a:extLst>
          </p:cNvPr>
          <p:cNvSpPr/>
          <p:nvPr/>
        </p:nvSpPr>
        <p:spPr>
          <a:xfrm>
            <a:off x="6517139" y="3678689"/>
            <a:ext cx="5419011" cy="2004060"/>
          </a:xfrm>
          <a:prstGeom prst="roundRect">
            <a:avLst>
              <a:gd name="adj" fmla="val 3445"/>
            </a:avLst>
          </a:prstGeom>
          <a:solidFill>
            <a:srgbClr val="FFFCFA"/>
          </a:solidFill>
          <a:ln w="2286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7" name="Shape 16">
            <a:extLst>
              <a:ext uri="{FF2B5EF4-FFF2-40B4-BE49-F238E27FC236}">
                <a16:creationId xmlns:a16="http://schemas.microsoft.com/office/drawing/2014/main" id="{FF12D8F3-F867-97A2-D5BC-E2EF5AF8B161}"/>
              </a:ext>
            </a:extLst>
          </p:cNvPr>
          <p:cNvSpPr/>
          <p:nvPr/>
        </p:nvSpPr>
        <p:spPr>
          <a:xfrm>
            <a:off x="6539999" y="3693967"/>
            <a:ext cx="5380433" cy="388582"/>
          </a:xfrm>
          <a:prstGeom prst="roundRect">
            <a:avLst>
              <a:gd name="adj" fmla="val 9395"/>
            </a:avLst>
          </a:prstGeom>
          <a:solidFill>
            <a:srgbClr val="EBE2E0"/>
          </a:solidFill>
          <a:ln/>
        </p:spPr>
        <p:txBody>
          <a:bodyPr/>
          <a:lstStyle/>
          <a:p>
            <a:endParaRPr lang="en-US">
              <a:latin typeface="Arial" panose="020B0604020202020204" pitchFamily="34" charset="0"/>
              <a:cs typeface="Arial" panose="020B0604020202020204" pitchFamily="34" charset="0"/>
            </a:endParaRPr>
          </a:p>
        </p:txBody>
      </p:sp>
      <p:sp>
        <p:nvSpPr>
          <p:cNvPr id="18" name="Text 17">
            <a:extLst>
              <a:ext uri="{FF2B5EF4-FFF2-40B4-BE49-F238E27FC236}">
                <a16:creationId xmlns:a16="http://schemas.microsoft.com/office/drawing/2014/main" id="{7070A4CA-82BA-7F2C-D16C-8AFD831D6236}"/>
              </a:ext>
            </a:extLst>
          </p:cNvPr>
          <p:cNvSpPr/>
          <p:nvPr/>
        </p:nvSpPr>
        <p:spPr>
          <a:xfrm>
            <a:off x="6738357" y="4286871"/>
            <a:ext cx="2830665" cy="322171"/>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Arial" panose="020B0604020202020204" pitchFamily="34" charset="0"/>
                <a:ea typeface="Crimson Pro Bold" pitchFamily="34" charset="-122"/>
                <a:cs typeface="Arial" panose="020B0604020202020204" pitchFamily="34" charset="0"/>
              </a:rPr>
              <a:t>D — Durability (Tính bền vững)</a:t>
            </a:r>
            <a:endParaRPr lang="en-US" sz="1950" dirty="0">
              <a:latin typeface="Arial" panose="020B0604020202020204" pitchFamily="34" charset="0"/>
              <a:cs typeface="Arial" panose="020B0604020202020204" pitchFamily="34" charset="0"/>
            </a:endParaRPr>
          </a:p>
        </p:txBody>
      </p:sp>
      <p:sp>
        <p:nvSpPr>
          <p:cNvPr id="19" name="Text 18">
            <a:extLst>
              <a:ext uri="{FF2B5EF4-FFF2-40B4-BE49-F238E27FC236}">
                <a16:creationId xmlns:a16="http://schemas.microsoft.com/office/drawing/2014/main" id="{9A27FB3C-7717-0DA0-D191-C3DA2F856DC1}"/>
              </a:ext>
            </a:extLst>
          </p:cNvPr>
          <p:cNvSpPr/>
          <p:nvPr/>
        </p:nvSpPr>
        <p:spPr>
          <a:xfrm>
            <a:off x="6738358" y="4716093"/>
            <a:ext cx="5045688" cy="659677"/>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Một khi transaction đã được commit, dữ liệu phải được lưu trữ vĩnh viễn — kể cả khi hệ thống bị crash ngay sau đó.</a:t>
            </a:r>
            <a:endParaRPr lang="en-US" sz="15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7102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5C565-2E05-5EAF-672E-4A18FCB2B1AB}"/>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5A5A21CD-1A26-8679-AB96-07A021424CC3}"/>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3" name="Shape 12">
            <a:extLst>
              <a:ext uri="{FF2B5EF4-FFF2-40B4-BE49-F238E27FC236}">
                <a16:creationId xmlns:a16="http://schemas.microsoft.com/office/drawing/2014/main" id="{17E4C912-F702-7A3D-F888-DAC39A1C5FB2}"/>
              </a:ext>
            </a:extLst>
          </p:cNvPr>
          <p:cNvSpPr/>
          <p:nvPr/>
        </p:nvSpPr>
        <p:spPr>
          <a:xfrm>
            <a:off x="6127410" y="1457548"/>
            <a:ext cx="5472084" cy="4413171"/>
          </a:xfrm>
          <a:prstGeom prst="roundRect">
            <a:avLst>
              <a:gd name="adj" fmla="val 1564"/>
            </a:avLst>
          </a:prstGeom>
          <a:solidFill>
            <a:srgbClr val="F2EFED"/>
          </a:solidFill>
          <a:ln/>
        </p:spPr>
        <p:txBody>
          <a:bodyPr/>
          <a:lstStyle/>
          <a:p>
            <a:endParaRPr lang="en-US">
              <a:latin typeface="Arial" panose="020B0604020202020204" pitchFamily="34" charset="0"/>
              <a:cs typeface="Arial" panose="020B0604020202020204" pitchFamily="34" charset="0"/>
            </a:endParaRPr>
          </a:p>
        </p:txBody>
      </p:sp>
      <p:sp>
        <p:nvSpPr>
          <p:cNvPr id="4" name="Shape 13">
            <a:extLst>
              <a:ext uri="{FF2B5EF4-FFF2-40B4-BE49-F238E27FC236}">
                <a16:creationId xmlns:a16="http://schemas.microsoft.com/office/drawing/2014/main" id="{85AA6A92-2126-201A-ED42-D8B72F12AAF3}"/>
              </a:ext>
            </a:extLst>
          </p:cNvPr>
          <p:cNvSpPr/>
          <p:nvPr/>
        </p:nvSpPr>
        <p:spPr>
          <a:xfrm>
            <a:off x="6119195" y="1457548"/>
            <a:ext cx="5486400" cy="4413171"/>
          </a:xfrm>
          <a:prstGeom prst="roundRect">
            <a:avLst>
              <a:gd name="adj" fmla="val 559"/>
            </a:avLst>
          </a:prstGeom>
          <a:solidFill>
            <a:srgbClr val="F2EFED"/>
          </a:solidFill>
          <a:ln/>
        </p:spPr>
        <p:txBody>
          <a:bodyPr/>
          <a:lstStyle/>
          <a:p>
            <a:endParaRPr lang="en-US">
              <a:latin typeface="Arial" panose="020B0604020202020204" pitchFamily="34" charset="0"/>
              <a:cs typeface="Arial" panose="020B0604020202020204" pitchFamily="34" charset="0"/>
            </a:endParaRPr>
          </a:p>
        </p:txBody>
      </p:sp>
      <p:sp>
        <p:nvSpPr>
          <p:cNvPr id="5" name="Text 14">
            <a:extLst>
              <a:ext uri="{FF2B5EF4-FFF2-40B4-BE49-F238E27FC236}">
                <a16:creationId xmlns:a16="http://schemas.microsoft.com/office/drawing/2014/main" id="{0C723426-805D-B662-C793-C36B2D001730}"/>
              </a:ext>
            </a:extLst>
          </p:cNvPr>
          <p:cNvSpPr/>
          <p:nvPr/>
        </p:nvSpPr>
        <p:spPr>
          <a:xfrm>
            <a:off x="6324578" y="1621855"/>
            <a:ext cx="5128477" cy="4084558"/>
          </a:xfrm>
          <a:prstGeom prst="rect">
            <a:avLst/>
          </a:prstGeom>
          <a:noFill/>
          <a:ln/>
        </p:spPr>
        <p:txBody>
          <a:bodyPr wrap="square" lIns="0" tIns="0" rIns="0" bIns="0" rtlCol="0" anchor="t"/>
          <a:lstStyle/>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BEGIN TRANSACTION;</a:t>
            </a:r>
            <a:endParaRPr lang="en-US" sz="1250" dirty="0">
              <a:latin typeface="Arial" panose="020B0604020202020204" pitchFamily="34" charset="0"/>
              <a:cs typeface="Arial" panose="020B0604020202020204" pitchFamily="34" charset="0"/>
            </a:endParaRPr>
          </a:p>
          <a:p>
            <a:pPr marL="0" indent="0" algn="l">
              <a:lnSpc>
                <a:spcPts val="1850"/>
              </a:lnSpc>
              <a:buNone/>
            </a:pP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 Bước 1: Trừ tiền tài khoản A</a:t>
            </a: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UPDATE account </a:t>
            </a: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SET balance = balance - 500000 </a:t>
            </a: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WHERE id = 'A';</a:t>
            </a:r>
            <a:endParaRPr lang="en-US" sz="1250" dirty="0">
              <a:latin typeface="Arial" panose="020B0604020202020204" pitchFamily="34" charset="0"/>
              <a:cs typeface="Arial" panose="020B0604020202020204" pitchFamily="34" charset="0"/>
            </a:endParaRPr>
          </a:p>
          <a:p>
            <a:pPr marL="0" indent="0" algn="l">
              <a:lnSpc>
                <a:spcPts val="1850"/>
              </a:lnSpc>
              <a:buNone/>
            </a:pP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 Bước 2: Cộng tiền tài khoản B  </a:t>
            </a: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UPDATE account </a:t>
            </a: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SET balance = balance + 500000 </a:t>
            </a: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WHERE id = 'B';</a:t>
            </a:r>
            <a:endParaRPr lang="en-US" sz="1250" dirty="0">
              <a:latin typeface="Arial" panose="020B0604020202020204" pitchFamily="34" charset="0"/>
              <a:cs typeface="Arial" panose="020B0604020202020204" pitchFamily="34" charset="0"/>
            </a:endParaRPr>
          </a:p>
          <a:p>
            <a:pPr marL="0" indent="0" algn="l">
              <a:lnSpc>
                <a:spcPts val="1850"/>
              </a:lnSpc>
              <a:buNone/>
            </a:pP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 Nếu thành công</a:t>
            </a: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COMMIT;</a:t>
            </a:r>
            <a:endParaRPr lang="en-US" sz="1250" dirty="0">
              <a:latin typeface="Arial" panose="020B0604020202020204" pitchFamily="34" charset="0"/>
              <a:cs typeface="Arial" panose="020B0604020202020204" pitchFamily="34" charset="0"/>
            </a:endParaRPr>
          </a:p>
          <a:p>
            <a:pPr marL="0" indent="0" algn="l">
              <a:lnSpc>
                <a:spcPts val="1850"/>
              </a:lnSpc>
              <a:buNone/>
            </a:pP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 Nếu có lỗi</a:t>
            </a:r>
            <a:endParaRPr lang="en-US" sz="1250" dirty="0">
              <a:latin typeface="Arial" panose="020B0604020202020204" pitchFamily="34" charset="0"/>
              <a:cs typeface="Arial" panose="020B0604020202020204" pitchFamily="34" charset="0"/>
            </a:endParaRPr>
          </a:p>
          <a:p>
            <a:pPr marL="0" indent="0" algn="l">
              <a:lnSpc>
                <a:spcPts val="1850"/>
              </a:lnSpc>
              <a:buNone/>
            </a:pPr>
            <a:r>
              <a:rPr lang="en-US" sz="1250" dirty="0">
                <a:solidFill>
                  <a:srgbClr val="D73A49"/>
                </a:solidFill>
                <a:highlight>
                  <a:srgbClr val="F2EFED"/>
                </a:highlight>
                <a:latin typeface="Arial" panose="020B0604020202020204" pitchFamily="34" charset="0"/>
                <a:ea typeface="Consolas" pitchFamily="34" charset="-122"/>
                <a:cs typeface="Arial" panose="020B0604020202020204" pitchFamily="34" charset="0"/>
              </a:rPr>
              <a:t>ROLLBACK;</a:t>
            </a:r>
            <a:endParaRPr lang="en-US" sz="1250" dirty="0">
              <a:latin typeface="Arial" panose="020B0604020202020204" pitchFamily="34" charset="0"/>
              <a:cs typeface="Arial" panose="020B0604020202020204" pitchFamily="34" charset="0"/>
            </a:endParaRPr>
          </a:p>
        </p:txBody>
      </p:sp>
      <p:sp>
        <p:nvSpPr>
          <p:cNvPr id="10" name="Text 2">
            <a:extLst>
              <a:ext uri="{FF2B5EF4-FFF2-40B4-BE49-F238E27FC236}">
                <a16:creationId xmlns:a16="http://schemas.microsoft.com/office/drawing/2014/main" id="{8BF44E88-51DB-03A3-576D-7EF9F820EDD5}"/>
              </a:ext>
            </a:extLst>
          </p:cNvPr>
          <p:cNvSpPr/>
          <p:nvPr/>
        </p:nvSpPr>
        <p:spPr>
          <a:xfrm>
            <a:off x="875571" y="519206"/>
            <a:ext cx="6766798" cy="513517"/>
          </a:xfrm>
          <a:prstGeom prst="rect">
            <a:avLst/>
          </a:prstGeom>
          <a:noFill/>
          <a:ln/>
        </p:spPr>
        <p:txBody>
          <a:bodyPr wrap="none" lIns="0" tIns="0" rIns="0" bIns="0" rtlCol="0" anchor="t"/>
          <a:lstStyle/>
          <a:p>
            <a:pPr marL="0" indent="0" algn="l">
              <a:lnSpc>
                <a:spcPts val="4000"/>
              </a:lnSpc>
              <a:buNone/>
            </a:pPr>
            <a:r>
              <a:rPr lang="en-US" sz="3200" b="1" dirty="0">
                <a:solidFill>
                  <a:srgbClr val="443728"/>
                </a:solidFill>
                <a:latin typeface="Arial" panose="020B0604020202020204" pitchFamily="34" charset="0"/>
                <a:ea typeface="Crimson Pro Bold" pitchFamily="34" charset="-122"/>
                <a:cs typeface="Arial" panose="020B0604020202020204" pitchFamily="34" charset="0"/>
              </a:rPr>
              <a:t>Flow Transaction &amp; Ví Dụ Chuyển Tiền</a:t>
            </a:r>
            <a:endParaRPr lang="en-US" sz="3200" dirty="0">
              <a:latin typeface="Arial" panose="020B0604020202020204" pitchFamily="34" charset="0"/>
              <a:cs typeface="Arial" panose="020B0604020202020204" pitchFamily="34" charset="0"/>
            </a:endParaRPr>
          </a:p>
        </p:txBody>
      </p:sp>
      <p:pic>
        <p:nvPicPr>
          <p:cNvPr id="11" name="Image 0" descr="preencoded.png">
            <a:extLst>
              <a:ext uri="{FF2B5EF4-FFF2-40B4-BE49-F238E27FC236}">
                <a16:creationId xmlns:a16="http://schemas.microsoft.com/office/drawing/2014/main" id="{DD980FD9-0762-60EF-ADE0-1D48E3889B4B}"/>
              </a:ext>
            </a:extLst>
          </p:cNvPr>
          <p:cNvPicPr>
            <a:picLocks noChangeAspect="1"/>
          </p:cNvPicPr>
          <p:nvPr/>
        </p:nvPicPr>
        <p:blipFill>
          <a:blip r:embed="rId2"/>
          <a:stretch>
            <a:fillRect/>
          </a:stretch>
        </p:blipFill>
        <p:spPr>
          <a:xfrm>
            <a:off x="875571" y="2102034"/>
            <a:ext cx="5105400" cy="2241071"/>
          </a:xfrm>
          <a:prstGeom prst="rect">
            <a:avLst/>
          </a:prstGeom>
        </p:spPr>
      </p:pic>
      <p:sp>
        <p:nvSpPr>
          <p:cNvPr id="12" name="Text 4">
            <a:extLst>
              <a:ext uri="{FF2B5EF4-FFF2-40B4-BE49-F238E27FC236}">
                <a16:creationId xmlns:a16="http://schemas.microsoft.com/office/drawing/2014/main" id="{F3DB80FE-1B73-8DAB-D15F-E56D293D0A3A}"/>
              </a:ext>
            </a:extLst>
          </p:cNvPr>
          <p:cNvSpPr/>
          <p:nvPr/>
        </p:nvSpPr>
        <p:spPr>
          <a:xfrm>
            <a:off x="1821663" y="3826279"/>
            <a:ext cx="809880" cy="103771"/>
          </a:xfrm>
          <a:prstGeom prst="rect">
            <a:avLst/>
          </a:prstGeom>
          <a:noFill/>
          <a:ln/>
        </p:spPr>
        <p:txBody>
          <a:bodyPr wrap="none" lIns="0" tIns="0" rIns="0" bIns="0" rtlCol="0" anchor="t"/>
          <a:lstStyle/>
          <a:p>
            <a:pPr marL="0" indent="0" algn="ctr">
              <a:lnSpc>
                <a:spcPts val="1300"/>
              </a:lnSpc>
              <a:buNone/>
            </a:pPr>
            <a:r>
              <a:rPr lang="en-US" sz="1050" b="1" dirty="0">
                <a:solidFill>
                  <a:srgbClr val="443728"/>
                </a:solidFill>
                <a:latin typeface="Arial" panose="020B0604020202020204" pitchFamily="34" charset="0"/>
                <a:ea typeface="Crimson Pro Bold" pitchFamily="34" charset="-122"/>
                <a:cs typeface="Arial" panose="020B0604020202020204" pitchFamily="34" charset="0"/>
              </a:rPr>
              <a:t>Bắt đầu</a:t>
            </a:r>
            <a:endParaRPr lang="en-US" sz="1050" dirty="0">
              <a:latin typeface="Arial" panose="020B0604020202020204" pitchFamily="34" charset="0"/>
              <a:cs typeface="Arial" panose="020B0604020202020204" pitchFamily="34" charset="0"/>
            </a:endParaRPr>
          </a:p>
        </p:txBody>
      </p:sp>
      <p:sp>
        <p:nvSpPr>
          <p:cNvPr id="13" name="Text 5">
            <a:extLst>
              <a:ext uri="{FF2B5EF4-FFF2-40B4-BE49-F238E27FC236}">
                <a16:creationId xmlns:a16="http://schemas.microsoft.com/office/drawing/2014/main" id="{F19CFF55-8D59-8D44-FC79-B3C74C35B64C}"/>
              </a:ext>
            </a:extLst>
          </p:cNvPr>
          <p:cNvSpPr/>
          <p:nvPr/>
        </p:nvSpPr>
        <p:spPr>
          <a:xfrm>
            <a:off x="1821663" y="4044773"/>
            <a:ext cx="809880" cy="75868"/>
          </a:xfrm>
          <a:prstGeom prst="rect">
            <a:avLst/>
          </a:prstGeom>
          <a:noFill/>
          <a:ln/>
        </p:spPr>
        <p:txBody>
          <a:bodyPr wrap="none" lIns="0" tIns="0" rIns="0" bIns="0" rtlCol="0" anchor="t"/>
          <a:lstStyle/>
          <a:p>
            <a:pPr marL="0" indent="0" algn="ctr">
              <a:lnSpc>
                <a:spcPts val="950"/>
              </a:lnSpc>
              <a:buNone/>
            </a:pPr>
            <a:r>
              <a:rPr lang="en-US" sz="850" dirty="0">
                <a:solidFill>
                  <a:srgbClr val="443728"/>
                </a:solidFill>
                <a:latin typeface="Arial" panose="020B0604020202020204" pitchFamily="34" charset="0"/>
                <a:ea typeface="Open Sans" pitchFamily="34" charset="-122"/>
                <a:cs typeface="Arial" panose="020B0604020202020204" pitchFamily="34" charset="0"/>
              </a:rPr>
              <a:t>BEGIN transaction</a:t>
            </a:r>
            <a:endParaRPr lang="en-US" sz="850" dirty="0">
              <a:latin typeface="Arial" panose="020B0604020202020204" pitchFamily="34" charset="0"/>
              <a:cs typeface="Arial" panose="020B0604020202020204" pitchFamily="34" charset="0"/>
            </a:endParaRPr>
          </a:p>
        </p:txBody>
      </p:sp>
      <p:sp>
        <p:nvSpPr>
          <p:cNvPr id="14" name="Text 6">
            <a:extLst>
              <a:ext uri="{FF2B5EF4-FFF2-40B4-BE49-F238E27FC236}">
                <a16:creationId xmlns:a16="http://schemas.microsoft.com/office/drawing/2014/main" id="{5E5709B6-71C5-D7C3-46EC-25590EA542C7}"/>
              </a:ext>
            </a:extLst>
          </p:cNvPr>
          <p:cNvSpPr/>
          <p:nvPr/>
        </p:nvSpPr>
        <p:spPr>
          <a:xfrm>
            <a:off x="4343400" y="3116255"/>
            <a:ext cx="809880" cy="207542"/>
          </a:xfrm>
          <a:prstGeom prst="rect">
            <a:avLst/>
          </a:prstGeom>
          <a:noFill/>
          <a:ln/>
        </p:spPr>
        <p:txBody>
          <a:bodyPr wrap="square" lIns="0" tIns="0" rIns="0" bIns="0" rtlCol="0" anchor="t"/>
          <a:lstStyle/>
          <a:p>
            <a:pPr marL="0" indent="0" algn="ctr">
              <a:lnSpc>
                <a:spcPts val="1300"/>
              </a:lnSpc>
              <a:buNone/>
            </a:pPr>
            <a:r>
              <a:rPr lang="en-US" sz="1050" b="1" dirty="0">
                <a:solidFill>
                  <a:srgbClr val="443728"/>
                </a:solidFill>
                <a:latin typeface="Arial" panose="020B0604020202020204" pitchFamily="34" charset="0"/>
                <a:ea typeface="Crimson Pro Bold" pitchFamily="34" charset="-122"/>
                <a:cs typeface="Arial" panose="020B0604020202020204" pitchFamily="34" charset="0"/>
              </a:rPr>
              <a:t>Commit hoặc Rollback</a:t>
            </a:r>
            <a:endParaRPr lang="en-US" sz="1050" dirty="0">
              <a:latin typeface="Arial" panose="020B0604020202020204" pitchFamily="34" charset="0"/>
              <a:cs typeface="Arial" panose="020B0604020202020204" pitchFamily="34" charset="0"/>
            </a:endParaRPr>
          </a:p>
        </p:txBody>
      </p:sp>
      <p:sp>
        <p:nvSpPr>
          <p:cNvPr id="15" name="Text 7">
            <a:extLst>
              <a:ext uri="{FF2B5EF4-FFF2-40B4-BE49-F238E27FC236}">
                <a16:creationId xmlns:a16="http://schemas.microsoft.com/office/drawing/2014/main" id="{76A08BA3-FB4B-36ED-2E65-8263A875CE3B}"/>
              </a:ext>
            </a:extLst>
          </p:cNvPr>
          <p:cNvSpPr/>
          <p:nvPr/>
        </p:nvSpPr>
        <p:spPr>
          <a:xfrm>
            <a:off x="4343400" y="3674543"/>
            <a:ext cx="809880" cy="151736"/>
          </a:xfrm>
          <a:prstGeom prst="rect">
            <a:avLst/>
          </a:prstGeom>
          <a:noFill/>
          <a:ln/>
        </p:spPr>
        <p:txBody>
          <a:bodyPr wrap="square" lIns="0" tIns="0" rIns="0" bIns="0" rtlCol="0" anchor="t"/>
          <a:lstStyle/>
          <a:p>
            <a:pPr marL="0" indent="0" algn="ctr">
              <a:lnSpc>
                <a:spcPts val="950"/>
              </a:lnSpc>
              <a:buNone/>
            </a:pPr>
            <a:r>
              <a:rPr lang="en-US" sz="850" dirty="0">
                <a:solidFill>
                  <a:srgbClr val="443728"/>
                </a:solidFill>
                <a:latin typeface="Arial" panose="020B0604020202020204" pitchFamily="34" charset="0"/>
                <a:ea typeface="Open Sans" pitchFamily="34" charset="-122"/>
                <a:cs typeface="Arial" panose="020B0604020202020204" pitchFamily="34" charset="0"/>
              </a:rPr>
              <a:t>COMMIT nếu ok, else ROLLBACK</a:t>
            </a:r>
            <a:endParaRPr lang="en-US" sz="850" dirty="0">
              <a:latin typeface="Arial" panose="020B0604020202020204" pitchFamily="34" charset="0"/>
              <a:cs typeface="Arial" panose="020B0604020202020204" pitchFamily="34" charset="0"/>
            </a:endParaRPr>
          </a:p>
        </p:txBody>
      </p:sp>
      <p:sp>
        <p:nvSpPr>
          <p:cNvPr id="16" name="Text 8">
            <a:extLst>
              <a:ext uri="{FF2B5EF4-FFF2-40B4-BE49-F238E27FC236}">
                <a16:creationId xmlns:a16="http://schemas.microsoft.com/office/drawing/2014/main" id="{EEB5D1CC-4F8A-CE6B-EB72-2F10EFAF0518}"/>
              </a:ext>
            </a:extLst>
          </p:cNvPr>
          <p:cNvSpPr/>
          <p:nvPr/>
        </p:nvSpPr>
        <p:spPr>
          <a:xfrm>
            <a:off x="3124200" y="2322035"/>
            <a:ext cx="809880" cy="103771"/>
          </a:xfrm>
          <a:prstGeom prst="rect">
            <a:avLst/>
          </a:prstGeom>
          <a:noFill/>
          <a:ln/>
        </p:spPr>
        <p:txBody>
          <a:bodyPr wrap="none" lIns="0" tIns="0" rIns="0" bIns="0" rtlCol="0" anchor="t"/>
          <a:lstStyle/>
          <a:p>
            <a:pPr marL="0" indent="0" algn="ctr">
              <a:lnSpc>
                <a:spcPts val="1300"/>
              </a:lnSpc>
              <a:buNone/>
            </a:pPr>
            <a:r>
              <a:rPr lang="en-US" sz="1050" b="1" dirty="0">
                <a:solidFill>
                  <a:srgbClr val="443728"/>
                </a:solidFill>
                <a:latin typeface="Arial" panose="020B0604020202020204" pitchFamily="34" charset="0"/>
                <a:ea typeface="Crimson Pro Bold" pitchFamily="34" charset="-122"/>
                <a:cs typeface="Arial" panose="020B0604020202020204" pitchFamily="34" charset="0"/>
              </a:rPr>
              <a:t>Thực thi SQL</a:t>
            </a:r>
            <a:endParaRPr lang="en-US" sz="1050" dirty="0">
              <a:latin typeface="Arial" panose="020B0604020202020204" pitchFamily="34" charset="0"/>
              <a:cs typeface="Arial" panose="020B0604020202020204" pitchFamily="34" charset="0"/>
            </a:endParaRPr>
          </a:p>
        </p:txBody>
      </p:sp>
      <p:sp>
        <p:nvSpPr>
          <p:cNvPr id="17" name="Text 9">
            <a:extLst>
              <a:ext uri="{FF2B5EF4-FFF2-40B4-BE49-F238E27FC236}">
                <a16:creationId xmlns:a16="http://schemas.microsoft.com/office/drawing/2014/main" id="{D18A48DF-8C3B-5167-03D1-EC474EF9E45E}"/>
              </a:ext>
            </a:extLst>
          </p:cNvPr>
          <p:cNvSpPr/>
          <p:nvPr/>
        </p:nvSpPr>
        <p:spPr>
          <a:xfrm>
            <a:off x="3124200" y="2540529"/>
            <a:ext cx="809880" cy="151736"/>
          </a:xfrm>
          <a:prstGeom prst="rect">
            <a:avLst/>
          </a:prstGeom>
          <a:noFill/>
          <a:ln/>
        </p:spPr>
        <p:txBody>
          <a:bodyPr wrap="square" lIns="0" tIns="0" rIns="0" bIns="0" rtlCol="0" anchor="t"/>
          <a:lstStyle/>
          <a:p>
            <a:pPr marL="0" indent="0" algn="ctr">
              <a:lnSpc>
                <a:spcPts val="950"/>
              </a:lnSpc>
              <a:buNone/>
            </a:pPr>
            <a:r>
              <a:rPr lang="en-US" sz="850" dirty="0">
                <a:solidFill>
                  <a:srgbClr val="443728"/>
                </a:solidFill>
                <a:latin typeface="Arial" panose="020B0604020202020204" pitchFamily="34" charset="0"/>
                <a:ea typeface="Open Sans" pitchFamily="34" charset="-122"/>
                <a:cs typeface="Arial" panose="020B0604020202020204" pitchFamily="34" charset="0"/>
              </a:rPr>
              <a:t>Thực hiện các lệnh truy vấn</a:t>
            </a:r>
            <a:endParaRPr lang="en-US" sz="8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8019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EFFE5-A52C-6D96-805A-BBCE37990AFC}"/>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F0EBF780-E264-4279-B546-350F429E1C28}"/>
              </a:ext>
            </a:extLst>
          </p:cNvPr>
          <p:cNvSpPr txBox="1">
            <a:spLocks noGrp="1"/>
          </p:cNvSpPr>
          <p:nvPr>
            <p:ph type="ftr" sz="quarter" idx="5"/>
          </p:nvPr>
        </p:nvSpPr>
        <p:spPr>
          <a:xfrm>
            <a:off x="2057400" y="6593936"/>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38656CDB-1BA8-C50C-3099-C8D354E94AB4}"/>
              </a:ext>
            </a:extLst>
          </p:cNvPr>
          <p:cNvSpPr/>
          <p:nvPr/>
        </p:nvSpPr>
        <p:spPr>
          <a:xfrm>
            <a:off x="838200" y="533400"/>
            <a:ext cx="5967770" cy="445651"/>
          </a:xfrm>
          <a:prstGeom prst="rect">
            <a:avLst/>
          </a:prstGeom>
          <a:noFill/>
          <a:ln/>
        </p:spPr>
        <p:txBody>
          <a:bodyPr wrap="none" lIns="0" tIns="0" rIns="0" bIns="0" rtlCol="0" anchor="t"/>
          <a:lstStyle/>
          <a:p>
            <a:pPr marL="0" indent="0" algn="l">
              <a:lnSpc>
                <a:spcPts val="3500"/>
              </a:lnSpc>
              <a:buNone/>
            </a:pPr>
            <a:r>
              <a:rPr lang="en-US" sz="2800" b="1" dirty="0">
                <a:solidFill>
                  <a:srgbClr val="443728"/>
                </a:solidFill>
                <a:latin typeface="Arial" panose="020B0604020202020204" pitchFamily="34" charset="0"/>
                <a:ea typeface="Crimson Pro Bold" pitchFamily="34" charset="-122"/>
                <a:cs typeface="Arial" panose="020B0604020202020204" pitchFamily="34" charset="0"/>
              </a:rPr>
              <a:t>JDBC Transaction — Quản Lý Thủ Công</a:t>
            </a:r>
            <a:endParaRPr lang="en-US" sz="2800" dirty="0">
              <a:latin typeface="Arial" panose="020B0604020202020204" pitchFamily="34" charset="0"/>
              <a:cs typeface="Arial" panose="020B0604020202020204" pitchFamily="34" charset="0"/>
            </a:endParaRPr>
          </a:p>
        </p:txBody>
      </p:sp>
      <p:sp>
        <p:nvSpPr>
          <p:cNvPr id="3" name="Text 3">
            <a:extLst>
              <a:ext uri="{FF2B5EF4-FFF2-40B4-BE49-F238E27FC236}">
                <a16:creationId xmlns:a16="http://schemas.microsoft.com/office/drawing/2014/main" id="{B30C1765-5E82-BB4D-1E35-876A79FBB6C0}"/>
              </a:ext>
            </a:extLst>
          </p:cNvPr>
          <p:cNvSpPr/>
          <p:nvPr/>
        </p:nvSpPr>
        <p:spPr>
          <a:xfrm>
            <a:off x="1812687" y="1796967"/>
            <a:ext cx="2151221" cy="222885"/>
          </a:xfrm>
          <a:prstGeom prst="rect">
            <a:avLst/>
          </a:prstGeom>
          <a:noFill/>
          <a:ln/>
        </p:spPr>
        <p:txBody>
          <a:bodyPr wrap="none" lIns="0" tIns="0" rIns="0" bIns="0" rtlCol="0" anchor="t"/>
          <a:lstStyle/>
          <a:p>
            <a:pPr marL="0" indent="0" algn="l">
              <a:lnSpc>
                <a:spcPts val="1750"/>
              </a:lnSpc>
              <a:buNone/>
            </a:pPr>
            <a:r>
              <a:rPr lang="en-US" sz="1400" b="1" dirty="0">
                <a:solidFill>
                  <a:srgbClr val="443728"/>
                </a:solidFill>
                <a:latin typeface="Arial" panose="020B0604020202020204" pitchFamily="34" charset="0"/>
                <a:ea typeface="Crimson Pro Bold" pitchFamily="34" charset="-122"/>
                <a:cs typeface="Arial" panose="020B0604020202020204" pitchFamily="34" charset="0"/>
              </a:rPr>
              <a:t>Cách JDBC xử lý Transaction</a:t>
            </a:r>
            <a:endParaRPr lang="en-US" sz="1400" dirty="0">
              <a:latin typeface="Arial" panose="020B0604020202020204" pitchFamily="34" charset="0"/>
              <a:cs typeface="Arial" panose="020B0604020202020204" pitchFamily="34" charset="0"/>
            </a:endParaRPr>
          </a:p>
        </p:txBody>
      </p:sp>
      <p:pic>
        <p:nvPicPr>
          <p:cNvPr id="4" name="Image 0" descr="preencoded.png">
            <a:extLst>
              <a:ext uri="{FF2B5EF4-FFF2-40B4-BE49-F238E27FC236}">
                <a16:creationId xmlns:a16="http://schemas.microsoft.com/office/drawing/2014/main" id="{38D03D5F-296C-7C6E-2B01-153F519B7C9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98280" y="2112109"/>
            <a:ext cx="213955" cy="213955"/>
          </a:xfrm>
          <a:prstGeom prst="rect">
            <a:avLst/>
          </a:prstGeom>
        </p:spPr>
      </p:pic>
      <p:sp>
        <p:nvSpPr>
          <p:cNvPr id="5" name="Text 5">
            <a:extLst>
              <a:ext uri="{FF2B5EF4-FFF2-40B4-BE49-F238E27FC236}">
                <a16:creationId xmlns:a16="http://schemas.microsoft.com/office/drawing/2014/main" id="{1E4F9F91-175D-2056-77DC-6F621D8DF0AD}"/>
              </a:ext>
            </a:extLst>
          </p:cNvPr>
          <p:cNvSpPr/>
          <p:nvPr/>
        </p:nvSpPr>
        <p:spPr>
          <a:xfrm>
            <a:off x="2208331" y="2107764"/>
            <a:ext cx="1783080" cy="222885"/>
          </a:xfrm>
          <a:prstGeom prst="rect">
            <a:avLst/>
          </a:prstGeom>
          <a:noFill/>
          <a:ln/>
        </p:spPr>
        <p:txBody>
          <a:bodyPr wrap="none" lIns="0" tIns="0" rIns="0" bIns="0" rtlCol="0" anchor="t"/>
          <a:lstStyle/>
          <a:p>
            <a:pPr marL="0" indent="0" algn="l">
              <a:lnSpc>
                <a:spcPts val="1750"/>
              </a:lnSpc>
              <a:buNone/>
            </a:pPr>
            <a:r>
              <a:rPr lang="en-US" sz="1400" b="1" dirty="0">
                <a:solidFill>
                  <a:srgbClr val="443728"/>
                </a:solidFill>
                <a:latin typeface="Arial" panose="020B0604020202020204" pitchFamily="34" charset="0"/>
                <a:ea typeface="Crimson Pro Bold" pitchFamily="34" charset="-122"/>
                <a:cs typeface="Arial" panose="020B0604020202020204" pitchFamily="34" charset="0"/>
              </a:rPr>
              <a:t>setAutoCommit(false)</a:t>
            </a:r>
            <a:endParaRPr lang="en-US" sz="1400" dirty="0">
              <a:latin typeface="Arial" panose="020B0604020202020204" pitchFamily="34" charset="0"/>
              <a:cs typeface="Arial" panose="020B0604020202020204" pitchFamily="34" charset="0"/>
            </a:endParaRPr>
          </a:p>
        </p:txBody>
      </p:sp>
      <p:sp>
        <p:nvSpPr>
          <p:cNvPr id="6" name="Text 6">
            <a:extLst>
              <a:ext uri="{FF2B5EF4-FFF2-40B4-BE49-F238E27FC236}">
                <a16:creationId xmlns:a16="http://schemas.microsoft.com/office/drawing/2014/main" id="{253CCB3E-1348-B00B-52B2-B95EA524E072}"/>
              </a:ext>
            </a:extLst>
          </p:cNvPr>
          <p:cNvSpPr/>
          <p:nvPr/>
        </p:nvSpPr>
        <p:spPr>
          <a:xfrm>
            <a:off x="2208331" y="2433162"/>
            <a:ext cx="4987052" cy="196096"/>
          </a:xfrm>
          <a:prstGeom prst="rect">
            <a:avLst/>
          </a:prstGeom>
          <a:noFill/>
          <a:ln/>
        </p:spPr>
        <p:txBody>
          <a:bodyPr wrap="none" lIns="0" tIns="0" rIns="0" bIns="0" rtlCol="0" anchor="t"/>
          <a:lstStyle/>
          <a:p>
            <a:pPr marL="0" indent="0" algn="l">
              <a:lnSpc>
                <a:spcPts val="1500"/>
              </a:lnSpc>
              <a:buNone/>
            </a:pPr>
            <a:r>
              <a:rPr lang="en-US" sz="1100" dirty="0">
                <a:solidFill>
                  <a:srgbClr val="443728"/>
                </a:solidFill>
                <a:latin typeface="Arial" panose="020B0604020202020204" pitchFamily="34" charset="0"/>
                <a:ea typeface="Open Sans" pitchFamily="34" charset="-122"/>
                <a:cs typeface="Arial" panose="020B0604020202020204" pitchFamily="34" charset="0"/>
              </a:rPr>
              <a:t>Tắt chế độ tự động commit, bắt đầu kiểm soát transaction.</a:t>
            </a:r>
            <a:endParaRPr lang="en-US" sz="1100" dirty="0">
              <a:latin typeface="Arial" panose="020B0604020202020204" pitchFamily="34" charset="0"/>
              <a:cs typeface="Arial" panose="020B0604020202020204" pitchFamily="34" charset="0"/>
            </a:endParaRPr>
          </a:p>
        </p:txBody>
      </p:sp>
      <p:pic>
        <p:nvPicPr>
          <p:cNvPr id="8" name="Image 1" descr="preencoded.png">
            <a:extLst>
              <a:ext uri="{FF2B5EF4-FFF2-40B4-BE49-F238E27FC236}">
                <a16:creationId xmlns:a16="http://schemas.microsoft.com/office/drawing/2014/main" id="{BFF9ECFA-AEDF-548A-0A39-8738D65687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98280" y="2838629"/>
            <a:ext cx="213955" cy="213955"/>
          </a:xfrm>
          <a:prstGeom prst="rect">
            <a:avLst/>
          </a:prstGeom>
        </p:spPr>
      </p:pic>
      <p:sp>
        <p:nvSpPr>
          <p:cNvPr id="9" name="Text 7">
            <a:extLst>
              <a:ext uri="{FF2B5EF4-FFF2-40B4-BE49-F238E27FC236}">
                <a16:creationId xmlns:a16="http://schemas.microsoft.com/office/drawing/2014/main" id="{4A24482D-D085-92A1-6EF2-6BE1EA50DBD6}"/>
              </a:ext>
            </a:extLst>
          </p:cNvPr>
          <p:cNvSpPr/>
          <p:nvPr/>
        </p:nvSpPr>
        <p:spPr>
          <a:xfrm>
            <a:off x="2208331" y="2834283"/>
            <a:ext cx="1783080" cy="222885"/>
          </a:xfrm>
          <a:prstGeom prst="rect">
            <a:avLst/>
          </a:prstGeom>
          <a:noFill/>
          <a:ln/>
        </p:spPr>
        <p:txBody>
          <a:bodyPr wrap="none" lIns="0" tIns="0" rIns="0" bIns="0" rtlCol="0" anchor="t"/>
          <a:lstStyle/>
          <a:p>
            <a:pPr marL="0" indent="0" algn="l">
              <a:lnSpc>
                <a:spcPts val="1750"/>
              </a:lnSpc>
              <a:buNone/>
            </a:pPr>
            <a:r>
              <a:rPr lang="en-US" sz="1400" b="1" dirty="0">
                <a:solidFill>
                  <a:srgbClr val="443728"/>
                </a:solidFill>
                <a:latin typeface="Arial" panose="020B0604020202020204" pitchFamily="34" charset="0"/>
                <a:ea typeface="Crimson Pro Bold" pitchFamily="34" charset="-122"/>
                <a:cs typeface="Arial" panose="020B0604020202020204" pitchFamily="34" charset="0"/>
              </a:rPr>
              <a:t>Execute SQL</a:t>
            </a:r>
            <a:endParaRPr lang="en-US" sz="1400" dirty="0">
              <a:latin typeface="Arial" panose="020B0604020202020204" pitchFamily="34" charset="0"/>
              <a:cs typeface="Arial" panose="020B0604020202020204" pitchFamily="34" charset="0"/>
            </a:endParaRPr>
          </a:p>
        </p:txBody>
      </p:sp>
      <p:sp>
        <p:nvSpPr>
          <p:cNvPr id="10" name="Text 8">
            <a:extLst>
              <a:ext uri="{FF2B5EF4-FFF2-40B4-BE49-F238E27FC236}">
                <a16:creationId xmlns:a16="http://schemas.microsoft.com/office/drawing/2014/main" id="{1BAE0163-83CB-4163-9785-9FB82F0DEA2E}"/>
              </a:ext>
            </a:extLst>
          </p:cNvPr>
          <p:cNvSpPr/>
          <p:nvPr/>
        </p:nvSpPr>
        <p:spPr>
          <a:xfrm>
            <a:off x="2208331" y="3159681"/>
            <a:ext cx="4987052" cy="196096"/>
          </a:xfrm>
          <a:prstGeom prst="rect">
            <a:avLst/>
          </a:prstGeom>
          <a:noFill/>
          <a:ln/>
        </p:spPr>
        <p:txBody>
          <a:bodyPr wrap="none" lIns="0" tIns="0" rIns="0" bIns="0" rtlCol="0" anchor="t"/>
          <a:lstStyle/>
          <a:p>
            <a:pPr marL="0" indent="0" algn="l">
              <a:lnSpc>
                <a:spcPts val="1500"/>
              </a:lnSpc>
              <a:buNone/>
            </a:pPr>
            <a:r>
              <a:rPr lang="en-US" sz="1100" dirty="0">
                <a:solidFill>
                  <a:srgbClr val="443728"/>
                </a:solidFill>
                <a:latin typeface="Arial" panose="020B0604020202020204" pitchFamily="34" charset="0"/>
                <a:ea typeface="Open Sans" pitchFamily="34" charset="-122"/>
                <a:cs typeface="Arial" panose="020B0604020202020204" pitchFamily="34" charset="0"/>
              </a:rPr>
              <a:t>Thực thi các câu lệnh INSERT/UPDATE/DELETE.</a:t>
            </a:r>
            <a:endParaRPr lang="en-US" sz="1100" dirty="0">
              <a:latin typeface="Arial" panose="020B0604020202020204" pitchFamily="34" charset="0"/>
              <a:cs typeface="Arial" panose="020B0604020202020204" pitchFamily="34" charset="0"/>
            </a:endParaRPr>
          </a:p>
        </p:txBody>
      </p:sp>
      <p:pic>
        <p:nvPicPr>
          <p:cNvPr id="11" name="Image 2" descr="preencoded.png">
            <a:extLst>
              <a:ext uri="{FF2B5EF4-FFF2-40B4-BE49-F238E27FC236}">
                <a16:creationId xmlns:a16="http://schemas.microsoft.com/office/drawing/2014/main" id="{CD6FB69A-82C1-6007-482E-F1010B1D976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98280" y="3565148"/>
            <a:ext cx="213955" cy="213955"/>
          </a:xfrm>
          <a:prstGeom prst="rect">
            <a:avLst/>
          </a:prstGeom>
        </p:spPr>
      </p:pic>
      <p:sp>
        <p:nvSpPr>
          <p:cNvPr id="12" name="Text 9">
            <a:extLst>
              <a:ext uri="{FF2B5EF4-FFF2-40B4-BE49-F238E27FC236}">
                <a16:creationId xmlns:a16="http://schemas.microsoft.com/office/drawing/2014/main" id="{CD481201-CCF1-68E9-F064-9B8D22A816FE}"/>
              </a:ext>
            </a:extLst>
          </p:cNvPr>
          <p:cNvSpPr/>
          <p:nvPr/>
        </p:nvSpPr>
        <p:spPr>
          <a:xfrm>
            <a:off x="2208331" y="3560802"/>
            <a:ext cx="1783080" cy="222885"/>
          </a:xfrm>
          <a:prstGeom prst="rect">
            <a:avLst/>
          </a:prstGeom>
          <a:noFill/>
          <a:ln/>
        </p:spPr>
        <p:txBody>
          <a:bodyPr wrap="none" lIns="0" tIns="0" rIns="0" bIns="0" rtlCol="0" anchor="t"/>
          <a:lstStyle/>
          <a:p>
            <a:pPr marL="0" indent="0" algn="l">
              <a:lnSpc>
                <a:spcPts val="1750"/>
              </a:lnSpc>
              <a:buNone/>
            </a:pPr>
            <a:r>
              <a:rPr lang="en-US" sz="1400" b="1" dirty="0">
                <a:solidFill>
                  <a:srgbClr val="443728"/>
                </a:solidFill>
                <a:latin typeface="Arial" panose="020B0604020202020204" pitchFamily="34" charset="0"/>
                <a:ea typeface="Crimson Pro Bold" pitchFamily="34" charset="-122"/>
                <a:cs typeface="Arial" panose="020B0604020202020204" pitchFamily="34" charset="0"/>
              </a:rPr>
              <a:t>commit() / rollback()</a:t>
            </a:r>
            <a:endParaRPr lang="en-US" sz="1400" dirty="0">
              <a:latin typeface="Arial" panose="020B0604020202020204" pitchFamily="34" charset="0"/>
              <a:cs typeface="Arial" panose="020B0604020202020204" pitchFamily="34" charset="0"/>
            </a:endParaRPr>
          </a:p>
        </p:txBody>
      </p:sp>
      <p:sp>
        <p:nvSpPr>
          <p:cNvPr id="13" name="Text 10">
            <a:extLst>
              <a:ext uri="{FF2B5EF4-FFF2-40B4-BE49-F238E27FC236}">
                <a16:creationId xmlns:a16="http://schemas.microsoft.com/office/drawing/2014/main" id="{FA5A391E-84E5-0C38-B4FD-204F6E44E087}"/>
              </a:ext>
            </a:extLst>
          </p:cNvPr>
          <p:cNvSpPr/>
          <p:nvPr/>
        </p:nvSpPr>
        <p:spPr>
          <a:xfrm>
            <a:off x="2208331" y="3886200"/>
            <a:ext cx="4987052" cy="196096"/>
          </a:xfrm>
          <a:prstGeom prst="rect">
            <a:avLst/>
          </a:prstGeom>
          <a:noFill/>
          <a:ln/>
        </p:spPr>
        <p:txBody>
          <a:bodyPr wrap="none" lIns="0" tIns="0" rIns="0" bIns="0" rtlCol="0" anchor="t"/>
          <a:lstStyle/>
          <a:p>
            <a:pPr marL="0" indent="0" algn="l">
              <a:lnSpc>
                <a:spcPts val="1500"/>
              </a:lnSpc>
              <a:buNone/>
            </a:pPr>
            <a:r>
              <a:rPr lang="en-US" sz="1100" dirty="0">
                <a:solidFill>
                  <a:srgbClr val="443728"/>
                </a:solidFill>
                <a:latin typeface="Arial" panose="020B0604020202020204" pitchFamily="34" charset="0"/>
                <a:ea typeface="Open Sans" pitchFamily="34" charset="-122"/>
                <a:cs typeface="Arial" panose="020B0604020202020204" pitchFamily="34" charset="0"/>
              </a:rPr>
              <a:t>Xác nhận hoặc hủy bỏ toàn bộ thay đổi.</a:t>
            </a:r>
            <a:endParaRPr lang="en-US" sz="1100" dirty="0">
              <a:latin typeface="Arial" panose="020B0604020202020204" pitchFamily="34" charset="0"/>
              <a:cs typeface="Arial" panose="020B0604020202020204" pitchFamily="34" charset="0"/>
            </a:endParaRPr>
          </a:p>
        </p:txBody>
      </p:sp>
      <p:sp>
        <p:nvSpPr>
          <p:cNvPr id="14" name="Shape 12">
            <a:extLst>
              <a:ext uri="{FF2B5EF4-FFF2-40B4-BE49-F238E27FC236}">
                <a16:creationId xmlns:a16="http://schemas.microsoft.com/office/drawing/2014/main" id="{EBB590E8-6EB9-24EE-1BD9-B0C74C98DCE3}"/>
              </a:ext>
            </a:extLst>
          </p:cNvPr>
          <p:cNvSpPr/>
          <p:nvPr/>
        </p:nvSpPr>
        <p:spPr>
          <a:xfrm>
            <a:off x="6179224" y="990600"/>
            <a:ext cx="4974230" cy="5439384"/>
          </a:xfrm>
          <a:prstGeom prst="roundRect">
            <a:avLst>
              <a:gd name="adj" fmla="val 1099"/>
            </a:avLst>
          </a:prstGeom>
          <a:solidFill>
            <a:srgbClr val="F2EFED"/>
          </a:solidFill>
          <a:ln/>
        </p:spPr>
        <p:txBody>
          <a:bodyPr/>
          <a:lstStyle/>
          <a:p>
            <a:endParaRPr lang="en-US">
              <a:latin typeface="Arial" panose="020B0604020202020204" pitchFamily="34" charset="0"/>
              <a:cs typeface="Arial" panose="020B0604020202020204" pitchFamily="34" charset="0"/>
            </a:endParaRPr>
          </a:p>
        </p:txBody>
      </p:sp>
      <p:sp>
        <p:nvSpPr>
          <p:cNvPr id="15" name="Shape 13">
            <a:extLst>
              <a:ext uri="{FF2B5EF4-FFF2-40B4-BE49-F238E27FC236}">
                <a16:creationId xmlns:a16="http://schemas.microsoft.com/office/drawing/2014/main" id="{5F704E24-8990-B26A-0B8D-E9227F874C0D}"/>
              </a:ext>
            </a:extLst>
          </p:cNvPr>
          <p:cNvSpPr/>
          <p:nvPr/>
        </p:nvSpPr>
        <p:spPr>
          <a:xfrm>
            <a:off x="6172200" y="990600"/>
            <a:ext cx="4987052" cy="5244607"/>
          </a:xfrm>
          <a:prstGeom prst="roundRect">
            <a:avLst>
              <a:gd name="adj" fmla="val 392"/>
            </a:avLst>
          </a:prstGeom>
          <a:solidFill>
            <a:srgbClr val="F2EFED"/>
          </a:solidFill>
          <a:ln/>
        </p:spPr>
        <p:txBody>
          <a:bodyPr/>
          <a:lstStyle/>
          <a:p>
            <a:endParaRPr lang="en-US">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91C1C826-7ACF-657F-D5DF-878D00C49399}"/>
              </a:ext>
            </a:extLst>
          </p:cNvPr>
          <p:cNvSpPr/>
          <p:nvPr/>
        </p:nvSpPr>
        <p:spPr>
          <a:xfrm>
            <a:off x="6350436" y="1069045"/>
            <a:ext cx="4661731" cy="5170733"/>
          </a:xfrm>
          <a:prstGeom prst="rect">
            <a:avLst/>
          </a:prstGeom>
          <a:noFill/>
          <a:ln/>
        </p:spPr>
        <p:txBody>
          <a:bodyPr wrap="square" lIns="0" tIns="0" rIns="0" bIns="0" rtlCol="0" anchor="t"/>
          <a:lstStyle/>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Connection conn = null;</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try {</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conn = dataSource.getConnection();</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 Tắt auto-commit</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conn.setAutoCommit(false);</a:t>
            </a:r>
            <a:endParaRPr lang="en-US" sz="1100" dirty="0">
              <a:latin typeface="Arial" panose="020B0604020202020204" pitchFamily="34" charset="0"/>
              <a:cs typeface="Arial" panose="020B0604020202020204" pitchFamily="34" charset="0"/>
            </a:endParaRPr>
          </a:p>
          <a:p>
            <a:pPr marL="0" indent="0" algn="l">
              <a:lnSpc>
                <a:spcPts val="1500"/>
              </a:lnSpc>
              <a:buNone/>
            </a:pP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 Bước 1: Trừ tiền A</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PreparedStatement ps1 = </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conn.prepareStatement(</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"UPDATE account SET balance=balance-? WHERE id=?");</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ps1.setDouble(1, amount);</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ps1.setString(2, fromId);</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ps1.executeUpdate();</a:t>
            </a:r>
            <a:endParaRPr lang="en-US" sz="1100" dirty="0">
              <a:latin typeface="Arial" panose="020B0604020202020204" pitchFamily="34" charset="0"/>
              <a:cs typeface="Arial" panose="020B0604020202020204" pitchFamily="34" charset="0"/>
            </a:endParaRPr>
          </a:p>
          <a:p>
            <a:pPr marL="0" indent="0" algn="l">
              <a:lnSpc>
                <a:spcPts val="1500"/>
              </a:lnSpc>
              <a:buNone/>
            </a:pP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 Bước 2: Cộng tiền B</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PreparedStatement ps2 = </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conn.prepareStatement(</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"UPDATE account SET balance=balance+? WHERE id=?");</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ps2.setDouble(1, amount);</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ps2.setString(2, toId);</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ps2.executeUpdate();</a:t>
            </a:r>
            <a:endParaRPr lang="en-US" sz="1100" dirty="0">
              <a:latin typeface="Arial" panose="020B0604020202020204" pitchFamily="34" charset="0"/>
              <a:cs typeface="Arial" panose="020B0604020202020204" pitchFamily="34" charset="0"/>
            </a:endParaRPr>
          </a:p>
          <a:p>
            <a:pPr marL="0" indent="0" algn="l">
              <a:lnSpc>
                <a:spcPts val="1500"/>
              </a:lnSpc>
              <a:buNone/>
            </a:pP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conn.commit(); // Thành công</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catch (SQLException e) {</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conn.rollback(); // Thất bại → rollback</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finally {</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 conn.close();</a:t>
            </a:r>
            <a:endParaRPr lang="en-US" sz="1100" dirty="0">
              <a:latin typeface="Arial" panose="020B0604020202020204" pitchFamily="34" charset="0"/>
              <a:cs typeface="Arial" panose="020B0604020202020204" pitchFamily="34" charset="0"/>
            </a:endParaRPr>
          </a:p>
          <a:p>
            <a:pPr marL="0" indent="0" algn="l">
              <a:lnSpc>
                <a:spcPts val="1500"/>
              </a:lnSpc>
              <a:buNone/>
            </a:pPr>
            <a:r>
              <a:rPr lang="en-US" sz="1100" dirty="0">
                <a:solidFill>
                  <a:srgbClr val="443728"/>
                </a:solidFill>
                <a:latin typeface="Arial" panose="020B0604020202020204" pitchFamily="34" charset="0"/>
                <a:ea typeface="Consolas" pitchFamily="34" charset="-122"/>
                <a:cs typeface="Arial" panose="020B0604020202020204" pitchFamily="34" charset="0"/>
              </a:rPr>
              <a:t>}</a:t>
            </a:r>
            <a:endParaRPr lang="en-US" sz="1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8357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369D1-FE1B-0819-8954-6FAACBA9CB34}"/>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11AC696A-8C6C-432F-4594-994C719FD99F}"/>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51F45B05-D3EF-A348-FA3E-A8FE06E6BED4}"/>
              </a:ext>
            </a:extLst>
          </p:cNvPr>
          <p:cNvSpPr/>
          <p:nvPr/>
        </p:nvSpPr>
        <p:spPr>
          <a:xfrm>
            <a:off x="838200" y="457200"/>
            <a:ext cx="8379619" cy="474821"/>
          </a:xfrm>
          <a:prstGeom prst="rect">
            <a:avLst/>
          </a:prstGeom>
          <a:noFill/>
          <a:ln/>
        </p:spPr>
        <p:txBody>
          <a:bodyPr wrap="none" lIns="0" tIns="0" rIns="0" bIns="0" rtlCol="0" anchor="t"/>
          <a:lstStyle/>
          <a:p>
            <a:pPr algn="l">
              <a:lnSpc>
                <a:spcPts val="3700"/>
              </a:lnSpc>
            </a:pPr>
            <a:r>
              <a:rPr lang="en-US" sz="3200" b="1" dirty="0">
                <a:solidFill>
                  <a:srgbClr val="443728"/>
                </a:solidFill>
                <a:latin typeface="Arial" panose="020B0604020202020204" pitchFamily="34" charset="0"/>
                <a:ea typeface="Crimson Pro Bold" pitchFamily="34" charset="-122"/>
                <a:cs typeface="Arial" panose="020B0604020202020204" pitchFamily="34" charset="0"/>
              </a:rPr>
              <a:t>So </a:t>
            </a:r>
            <a:r>
              <a:rPr lang="en-US" sz="3200" b="1" dirty="0" err="1">
                <a:solidFill>
                  <a:srgbClr val="443728"/>
                </a:solidFill>
                <a:latin typeface="Arial" panose="020B0604020202020204" pitchFamily="34" charset="0"/>
                <a:ea typeface="Crimson Pro Bold" pitchFamily="34" charset="-122"/>
                <a:cs typeface="Arial" panose="020B0604020202020204" pitchFamily="34" charset="0"/>
              </a:rPr>
              <a:t>sánh</a:t>
            </a:r>
            <a:r>
              <a:rPr lang="en-US" sz="3200" b="1" dirty="0">
                <a:solidFill>
                  <a:srgbClr val="443728"/>
                </a:solidFill>
                <a:latin typeface="Arial" panose="020B0604020202020204" pitchFamily="34" charset="0"/>
                <a:ea typeface="Crimson Pro Bold" pitchFamily="34" charset="-122"/>
                <a:cs typeface="Arial" panose="020B0604020202020204" pitchFamily="34" charset="0"/>
              </a:rPr>
              <a:t> JDBC vs Hibernate</a:t>
            </a:r>
            <a:endParaRPr lang="en-US" sz="3200" dirty="0">
              <a:latin typeface="Arial" panose="020B0604020202020204" pitchFamily="34" charset="0"/>
              <a:cs typeface="Arial" panose="020B0604020202020204" pitchFamily="34" charset="0"/>
            </a:endParaRPr>
          </a:p>
        </p:txBody>
      </p:sp>
      <p:sp>
        <p:nvSpPr>
          <p:cNvPr id="3" name="Shape 8">
            <a:extLst>
              <a:ext uri="{FF2B5EF4-FFF2-40B4-BE49-F238E27FC236}">
                <a16:creationId xmlns:a16="http://schemas.microsoft.com/office/drawing/2014/main" id="{F9C5C52E-94E8-8F63-64BB-C48F42FF8490}"/>
              </a:ext>
            </a:extLst>
          </p:cNvPr>
          <p:cNvSpPr/>
          <p:nvPr/>
        </p:nvSpPr>
        <p:spPr>
          <a:xfrm>
            <a:off x="914400" y="1371600"/>
            <a:ext cx="8379618" cy="2646283"/>
          </a:xfrm>
          <a:prstGeom prst="roundRect">
            <a:avLst>
              <a:gd name="adj" fmla="val 2412"/>
            </a:avLst>
          </a:prstGeom>
          <a:noFill/>
          <a:ln w="7620">
            <a:solidFill>
              <a:srgbClr val="000000">
                <a:alpha val="8000"/>
              </a:srgbClr>
            </a:solidFill>
            <a:prstDash val="solid"/>
          </a:ln>
        </p:spPr>
        <p:txBody>
          <a:bodyPr/>
          <a:lstStyle/>
          <a:p>
            <a:endParaRPr lang="en-US" sz="1500">
              <a:latin typeface="Arial" panose="020B0604020202020204" pitchFamily="34" charset="0"/>
              <a:cs typeface="Arial" panose="020B0604020202020204" pitchFamily="34" charset="0"/>
            </a:endParaRPr>
          </a:p>
        </p:txBody>
      </p:sp>
      <p:sp>
        <p:nvSpPr>
          <p:cNvPr id="4" name="Text 9">
            <a:extLst>
              <a:ext uri="{FF2B5EF4-FFF2-40B4-BE49-F238E27FC236}">
                <a16:creationId xmlns:a16="http://schemas.microsoft.com/office/drawing/2014/main" id="{0E8D985B-480A-987B-E553-EBD084D8A5D8}"/>
              </a:ext>
            </a:extLst>
          </p:cNvPr>
          <p:cNvSpPr/>
          <p:nvPr/>
        </p:nvSpPr>
        <p:spPr>
          <a:xfrm>
            <a:off x="1074777" y="1456610"/>
            <a:ext cx="1622108" cy="214551"/>
          </a:xfrm>
          <a:prstGeom prst="rect">
            <a:avLst/>
          </a:prstGeom>
          <a:noFill/>
          <a:ln/>
        </p:spPr>
        <p:txBody>
          <a:bodyPr wrap="none" lIns="0" tIns="0" rIns="0" bIns="0" rtlCol="0" anchor="t"/>
          <a:lstStyle/>
          <a:p>
            <a:pPr marL="0" indent="0" algn="l">
              <a:lnSpc>
                <a:spcPts val="1650"/>
              </a:lnSpc>
              <a:buNone/>
            </a:pPr>
            <a:r>
              <a:rPr lang="en-US" sz="1500" b="1" dirty="0">
                <a:solidFill>
                  <a:srgbClr val="443728"/>
                </a:solidFill>
                <a:latin typeface="Arial" panose="020B0604020202020204" pitchFamily="34" charset="0"/>
                <a:ea typeface="Open Sans" pitchFamily="34" charset="-122"/>
                <a:cs typeface="Arial" panose="020B0604020202020204" pitchFamily="34" charset="0"/>
              </a:rPr>
              <a:t>Tiêu chí</a:t>
            </a:r>
            <a:endParaRPr lang="en-US" sz="1500" dirty="0">
              <a:latin typeface="Arial" panose="020B0604020202020204" pitchFamily="34" charset="0"/>
              <a:cs typeface="Arial" panose="020B0604020202020204" pitchFamily="34" charset="0"/>
            </a:endParaRPr>
          </a:p>
        </p:txBody>
      </p:sp>
      <p:sp>
        <p:nvSpPr>
          <p:cNvPr id="5" name="Text 10">
            <a:extLst>
              <a:ext uri="{FF2B5EF4-FFF2-40B4-BE49-F238E27FC236}">
                <a16:creationId xmlns:a16="http://schemas.microsoft.com/office/drawing/2014/main" id="{7EC87C92-A0E2-400D-B0DD-306FBFDA5EEE}"/>
              </a:ext>
            </a:extLst>
          </p:cNvPr>
          <p:cNvSpPr/>
          <p:nvPr/>
        </p:nvSpPr>
        <p:spPr>
          <a:xfrm>
            <a:off x="4267200" y="1456610"/>
            <a:ext cx="1618298" cy="214551"/>
          </a:xfrm>
          <a:prstGeom prst="rect">
            <a:avLst/>
          </a:prstGeom>
          <a:noFill/>
          <a:ln/>
        </p:spPr>
        <p:txBody>
          <a:bodyPr wrap="none" lIns="0" tIns="0" rIns="0" bIns="0" rtlCol="0" anchor="t"/>
          <a:lstStyle/>
          <a:p>
            <a:pPr marL="0" indent="0" algn="l">
              <a:lnSpc>
                <a:spcPts val="1650"/>
              </a:lnSpc>
              <a:buNone/>
            </a:pPr>
            <a:r>
              <a:rPr lang="en-US" sz="1500" b="1" dirty="0">
                <a:solidFill>
                  <a:srgbClr val="443728"/>
                </a:solidFill>
                <a:latin typeface="Arial" panose="020B0604020202020204" pitchFamily="34" charset="0"/>
                <a:ea typeface="Open Sans" pitchFamily="34" charset="-122"/>
                <a:cs typeface="Arial" panose="020B0604020202020204" pitchFamily="34" charset="0"/>
              </a:rPr>
              <a:t>JDBC</a:t>
            </a:r>
            <a:endParaRPr lang="en-US" sz="1500" dirty="0">
              <a:latin typeface="Arial" panose="020B0604020202020204" pitchFamily="34" charset="0"/>
              <a:cs typeface="Arial" panose="020B0604020202020204" pitchFamily="34" charset="0"/>
            </a:endParaRPr>
          </a:p>
        </p:txBody>
      </p:sp>
      <p:sp>
        <p:nvSpPr>
          <p:cNvPr id="6" name="Text 11">
            <a:extLst>
              <a:ext uri="{FF2B5EF4-FFF2-40B4-BE49-F238E27FC236}">
                <a16:creationId xmlns:a16="http://schemas.microsoft.com/office/drawing/2014/main" id="{A3AE890B-84D1-F85F-FF45-59F83FC54791}"/>
              </a:ext>
            </a:extLst>
          </p:cNvPr>
          <p:cNvSpPr/>
          <p:nvPr/>
        </p:nvSpPr>
        <p:spPr>
          <a:xfrm>
            <a:off x="7598092" y="1456610"/>
            <a:ext cx="1622108" cy="214551"/>
          </a:xfrm>
          <a:prstGeom prst="rect">
            <a:avLst/>
          </a:prstGeom>
          <a:noFill/>
          <a:ln/>
        </p:spPr>
        <p:txBody>
          <a:bodyPr wrap="none" lIns="0" tIns="0" rIns="0" bIns="0" rtlCol="0" anchor="t"/>
          <a:lstStyle/>
          <a:p>
            <a:pPr marL="0" indent="0" algn="l">
              <a:lnSpc>
                <a:spcPts val="1650"/>
              </a:lnSpc>
              <a:buNone/>
            </a:pPr>
            <a:r>
              <a:rPr lang="en-US" sz="1500" b="1" dirty="0">
                <a:solidFill>
                  <a:srgbClr val="443728"/>
                </a:solidFill>
                <a:latin typeface="Arial" panose="020B0604020202020204" pitchFamily="34" charset="0"/>
                <a:ea typeface="Open Sans" pitchFamily="34" charset="-122"/>
                <a:cs typeface="Arial" panose="020B0604020202020204" pitchFamily="34" charset="0"/>
              </a:rPr>
              <a:t>Hibernate</a:t>
            </a:r>
            <a:endParaRPr lang="en-US" sz="1500" dirty="0">
              <a:latin typeface="Arial" panose="020B0604020202020204" pitchFamily="34" charset="0"/>
              <a:cs typeface="Arial" panose="020B0604020202020204" pitchFamily="34" charset="0"/>
            </a:endParaRPr>
          </a:p>
        </p:txBody>
      </p:sp>
      <p:sp>
        <p:nvSpPr>
          <p:cNvPr id="8" name="Text 12">
            <a:extLst>
              <a:ext uri="{FF2B5EF4-FFF2-40B4-BE49-F238E27FC236}">
                <a16:creationId xmlns:a16="http://schemas.microsoft.com/office/drawing/2014/main" id="{6290D34F-7913-861F-CC86-053C5ACFE248}"/>
              </a:ext>
            </a:extLst>
          </p:cNvPr>
          <p:cNvSpPr/>
          <p:nvPr/>
        </p:nvSpPr>
        <p:spPr>
          <a:xfrm>
            <a:off x="1074777" y="1833562"/>
            <a:ext cx="162210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Quản lý connection</a:t>
            </a:r>
            <a:endParaRPr lang="en-US" sz="1500" dirty="0">
              <a:latin typeface="Arial" panose="020B0604020202020204" pitchFamily="34" charset="0"/>
              <a:cs typeface="Arial" panose="020B0604020202020204" pitchFamily="34" charset="0"/>
            </a:endParaRPr>
          </a:p>
        </p:txBody>
      </p:sp>
      <p:sp>
        <p:nvSpPr>
          <p:cNvPr id="9" name="Text 13">
            <a:extLst>
              <a:ext uri="{FF2B5EF4-FFF2-40B4-BE49-F238E27FC236}">
                <a16:creationId xmlns:a16="http://schemas.microsoft.com/office/drawing/2014/main" id="{B668A1A3-7BCA-6839-811F-E388A98874F8}"/>
              </a:ext>
            </a:extLst>
          </p:cNvPr>
          <p:cNvSpPr/>
          <p:nvPr/>
        </p:nvSpPr>
        <p:spPr>
          <a:xfrm>
            <a:off x="4267200" y="1833562"/>
            <a:ext cx="161829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Thủ công</a:t>
            </a:r>
            <a:endParaRPr lang="en-US" sz="1500" dirty="0">
              <a:latin typeface="Arial" panose="020B0604020202020204" pitchFamily="34" charset="0"/>
              <a:cs typeface="Arial" panose="020B0604020202020204" pitchFamily="34" charset="0"/>
            </a:endParaRPr>
          </a:p>
        </p:txBody>
      </p:sp>
      <p:sp>
        <p:nvSpPr>
          <p:cNvPr id="10" name="Text 14">
            <a:extLst>
              <a:ext uri="{FF2B5EF4-FFF2-40B4-BE49-F238E27FC236}">
                <a16:creationId xmlns:a16="http://schemas.microsoft.com/office/drawing/2014/main" id="{9DABAAF5-AAAF-C5AE-8CE3-945C1CB6C76B}"/>
              </a:ext>
            </a:extLst>
          </p:cNvPr>
          <p:cNvSpPr/>
          <p:nvPr/>
        </p:nvSpPr>
        <p:spPr>
          <a:xfrm>
            <a:off x="7598092" y="1833562"/>
            <a:ext cx="162210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Tự động</a:t>
            </a:r>
            <a:endParaRPr lang="en-US" sz="1500" dirty="0">
              <a:latin typeface="Arial" panose="020B0604020202020204" pitchFamily="34" charset="0"/>
              <a:cs typeface="Arial" panose="020B0604020202020204" pitchFamily="34" charset="0"/>
            </a:endParaRPr>
          </a:p>
        </p:txBody>
      </p:sp>
      <p:sp>
        <p:nvSpPr>
          <p:cNvPr id="11" name="Text 15">
            <a:extLst>
              <a:ext uri="{FF2B5EF4-FFF2-40B4-BE49-F238E27FC236}">
                <a16:creationId xmlns:a16="http://schemas.microsoft.com/office/drawing/2014/main" id="{68A3CA6E-BC76-6D70-8F5D-78E86729524D}"/>
              </a:ext>
            </a:extLst>
          </p:cNvPr>
          <p:cNvSpPr/>
          <p:nvPr/>
        </p:nvSpPr>
        <p:spPr>
          <a:xfrm>
            <a:off x="1074777" y="2210514"/>
            <a:ext cx="162210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Viết SQL</a:t>
            </a:r>
            <a:endParaRPr lang="en-US" sz="1500" dirty="0">
              <a:latin typeface="Arial" panose="020B0604020202020204" pitchFamily="34" charset="0"/>
              <a:cs typeface="Arial" panose="020B0604020202020204" pitchFamily="34" charset="0"/>
            </a:endParaRPr>
          </a:p>
        </p:txBody>
      </p:sp>
      <p:sp>
        <p:nvSpPr>
          <p:cNvPr id="12" name="Text 16">
            <a:extLst>
              <a:ext uri="{FF2B5EF4-FFF2-40B4-BE49-F238E27FC236}">
                <a16:creationId xmlns:a16="http://schemas.microsoft.com/office/drawing/2014/main" id="{E91AF7F9-44AC-99EF-B0AB-A2480509FE7A}"/>
              </a:ext>
            </a:extLst>
          </p:cNvPr>
          <p:cNvSpPr/>
          <p:nvPr/>
        </p:nvSpPr>
        <p:spPr>
          <a:xfrm>
            <a:off x="4267200" y="2210514"/>
            <a:ext cx="161829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Bắt buộc</a:t>
            </a:r>
            <a:endParaRPr lang="en-US" sz="1500" dirty="0">
              <a:latin typeface="Arial" panose="020B0604020202020204" pitchFamily="34" charset="0"/>
              <a:cs typeface="Arial" panose="020B0604020202020204" pitchFamily="34" charset="0"/>
            </a:endParaRPr>
          </a:p>
        </p:txBody>
      </p:sp>
      <p:sp>
        <p:nvSpPr>
          <p:cNvPr id="13" name="Text 17">
            <a:extLst>
              <a:ext uri="{FF2B5EF4-FFF2-40B4-BE49-F238E27FC236}">
                <a16:creationId xmlns:a16="http://schemas.microsoft.com/office/drawing/2014/main" id="{B4F706A5-8B19-1619-14C9-4CF7BA0D6974}"/>
              </a:ext>
            </a:extLst>
          </p:cNvPr>
          <p:cNvSpPr/>
          <p:nvPr/>
        </p:nvSpPr>
        <p:spPr>
          <a:xfrm>
            <a:off x="7598092" y="2210514"/>
            <a:ext cx="162210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Không cần</a:t>
            </a:r>
            <a:endParaRPr lang="en-US" sz="1500" dirty="0">
              <a:latin typeface="Arial" panose="020B0604020202020204" pitchFamily="34" charset="0"/>
              <a:cs typeface="Arial" panose="020B0604020202020204" pitchFamily="34" charset="0"/>
            </a:endParaRPr>
          </a:p>
        </p:txBody>
      </p:sp>
      <p:sp>
        <p:nvSpPr>
          <p:cNvPr id="14" name="Text 18">
            <a:extLst>
              <a:ext uri="{FF2B5EF4-FFF2-40B4-BE49-F238E27FC236}">
                <a16:creationId xmlns:a16="http://schemas.microsoft.com/office/drawing/2014/main" id="{C692DB33-9A81-83D1-BC37-774C605263B8}"/>
              </a:ext>
            </a:extLst>
          </p:cNvPr>
          <p:cNvSpPr/>
          <p:nvPr/>
        </p:nvSpPr>
        <p:spPr>
          <a:xfrm>
            <a:off x="1074777" y="2587466"/>
            <a:ext cx="162210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Số dòng code</a:t>
            </a:r>
            <a:endParaRPr lang="en-US" sz="1500" dirty="0">
              <a:latin typeface="Arial" panose="020B0604020202020204" pitchFamily="34" charset="0"/>
              <a:cs typeface="Arial" panose="020B0604020202020204" pitchFamily="34" charset="0"/>
            </a:endParaRPr>
          </a:p>
        </p:txBody>
      </p:sp>
      <p:sp>
        <p:nvSpPr>
          <p:cNvPr id="15" name="Text 19">
            <a:extLst>
              <a:ext uri="{FF2B5EF4-FFF2-40B4-BE49-F238E27FC236}">
                <a16:creationId xmlns:a16="http://schemas.microsoft.com/office/drawing/2014/main" id="{AB0D0FFB-7AFC-FA26-4310-4A5F62FD92EE}"/>
              </a:ext>
            </a:extLst>
          </p:cNvPr>
          <p:cNvSpPr/>
          <p:nvPr/>
        </p:nvSpPr>
        <p:spPr>
          <a:xfrm>
            <a:off x="4267200" y="2587466"/>
            <a:ext cx="161829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Nhiều</a:t>
            </a:r>
            <a:endParaRPr lang="en-US" sz="1500" dirty="0">
              <a:latin typeface="Arial" panose="020B0604020202020204" pitchFamily="34" charset="0"/>
              <a:cs typeface="Arial" panose="020B0604020202020204" pitchFamily="34" charset="0"/>
            </a:endParaRPr>
          </a:p>
        </p:txBody>
      </p:sp>
      <p:sp>
        <p:nvSpPr>
          <p:cNvPr id="16" name="Text 20">
            <a:extLst>
              <a:ext uri="{FF2B5EF4-FFF2-40B4-BE49-F238E27FC236}">
                <a16:creationId xmlns:a16="http://schemas.microsoft.com/office/drawing/2014/main" id="{68448CD7-B026-BCCE-EC43-B7735965D11B}"/>
              </a:ext>
            </a:extLst>
          </p:cNvPr>
          <p:cNvSpPr/>
          <p:nvPr/>
        </p:nvSpPr>
        <p:spPr>
          <a:xfrm>
            <a:off x="7598092" y="2587466"/>
            <a:ext cx="162210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Ít hơn 50%</a:t>
            </a:r>
            <a:endParaRPr lang="en-US" sz="1500" dirty="0">
              <a:latin typeface="Arial" panose="020B0604020202020204" pitchFamily="34" charset="0"/>
              <a:cs typeface="Arial" panose="020B0604020202020204" pitchFamily="34" charset="0"/>
            </a:endParaRPr>
          </a:p>
        </p:txBody>
      </p:sp>
      <p:sp>
        <p:nvSpPr>
          <p:cNvPr id="17" name="Text 21">
            <a:extLst>
              <a:ext uri="{FF2B5EF4-FFF2-40B4-BE49-F238E27FC236}">
                <a16:creationId xmlns:a16="http://schemas.microsoft.com/office/drawing/2014/main" id="{823D4969-732C-1B03-B211-4968F92422DC}"/>
              </a:ext>
            </a:extLst>
          </p:cNvPr>
          <p:cNvSpPr/>
          <p:nvPr/>
        </p:nvSpPr>
        <p:spPr>
          <a:xfrm>
            <a:off x="1074777" y="2964418"/>
            <a:ext cx="162210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Mapping Object</a:t>
            </a:r>
            <a:endParaRPr lang="en-US" sz="1500" dirty="0">
              <a:latin typeface="Arial" panose="020B0604020202020204" pitchFamily="34" charset="0"/>
              <a:cs typeface="Arial" panose="020B0604020202020204" pitchFamily="34" charset="0"/>
            </a:endParaRPr>
          </a:p>
        </p:txBody>
      </p:sp>
      <p:sp>
        <p:nvSpPr>
          <p:cNvPr id="18" name="Text 22">
            <a:extLst>
              <a:ext uri="{FF2B5EF4-FFF2-40B4-BE49-F238E27FC236}">
                <a16:creationId xmlns:a16="http://schemas.microsoft.com/office/drawing/2014/main" id="{5986157D-6BCF-D85A-2AEF-A55F9560E483}"/>
              </a:ext>
            </a:extLst>
          </p:cNvPr>
          <p:cNvSpPr/>
          <p:nvPr/>
        </p:nvSpPr>
        <p:spPr>
          <a:xfrm>
            <a:off x="4267200" y="2964418"/>
            <a:ext cx="161829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Thủ công</a:t>
            </a:r>
            <a:endParaRPr lang="en-US" sz="1500" dirty="0">
              <a:latin typeface="Arial" panose="020B0604020202020204" pitchFamily="34" charset="0"/>
              <a:cs typeface="Arial" panose="020B0604020202020204" pitchFamily="34" charset="0"/>
            </a:endParaRPr>
          </a:p>
        </p:txBody>
      </p:sp>
      <p:sp>
        <p:nvSpPr>
          <p:cNvPr id="19" name="Text 23">
            <a:extLst>
              <a:ext uri="{FF2B5EF4-FFF2-40B4-BE49-F238E27FC236}">
                <a16:creationId xmlns:a16="http://schemas.microsoft.com/office/drawing/2014/main" id="{F17B4CD4-FC77-0A16-AA77-824F9AA57529}"/>
              </a:ext>
            </a:extLst>
          </p:cNvPr>
          <p:cNvSpPr/>
          <p:nvPr/>
        </p:nvSpPr>
        <p:spPr>
          <a:xfrm>
            <a:off x="7598092" y="2964418"/>
            <a:ext cx="162210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Tự động</a:t>
            </a:r>
            <a:endParaRPr lang="en-US" sz="1500" dirty="0">
              <a:latin typeface="Arial" panose="020B0604020202020204" pitchFamily="34" charset="0"/>
              <a:cs typeface="Arial" panose="020B0604020202020204" pitchFamily="34" charset="0"/>
            </a:endParaRPr>
          </a:p>
        </p:txBody>
      </p:sp>
      <p:sp>
        <p:nvSpPr>
          <p:cNvPr id="20" name="Text 24">
            <a:extLst>
              <a:ext uri="{FF2B5EF4-FFF2-40B4-BE49-F238E27FC236}">
                <a16:creationId xmlns:a16="http://schemas.microsoft.com/office/drawing/2014/main" id="{658B9165-1CBF-9833-E50D-B1D1F5682F24}"/>
              </a:ext>
            </a:extLst>
          </p:cNvPr>
          <p:cNvSpPr/>
          <p:nvPr/>
        </p:nvSpPr>
        <p:spPr>
          <a:xfrm>
            <a:off x="1074777" y="3341370"/>
            <a:ext cx="162210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Cache tích hợp</a:t>
            </a:r>
            <a:endParaRPr lang="en-US" sz="1500" dirty="0">
              <a:latin typeface="Arial" panose="020B0604020202020204" pitchFamily="34" charset="0"/>
              <a:cs typeface="Arial" panose="020B0604020202020204" pitchFamily="34" charset="0"/>
            </a:endParaRPr>
          </a:p>
        </p:txBody>
      </p:sp>
      <p:sp>
        <p:nvSpPr>
          <p:cNvPr id="21" name="Text 25">
            <a:extLst>
              <a:ext uri="{FF2B5EF4-FFF2-40B4-BE49-F238E27FC236}">
                <a16:creationId xmlns:a16="http://schemas.microsoft.com/office/drawing/2014/main" id="{EB7F8B7E-35CE-9BCF-8977-7EFB4EADD704}"/>
              </a:ext>
            </a:extLst>
          </p:cNvPr>
          <p:cNvSpPr/>
          <p:nvPr/>
        </p:nvSpPr>
        <p:spPr>
          <a:xfrm>
            <a:off x="4267200" y="3341370"/>
            <a:ext cx="161829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Không</a:t>
            </a:r>
            <a:endParaRPr lang="en-US" sz="1500" dirty="0">
              <a:latin typeface="Arial" panose="020B0604020202020204" pitchFamily="34" charset="0"/>
              <a:cs typeface="Arial" panose="020B0604020202020204" pitchFamily="34" charset="0"/>
            </a:endParaRPr>
          </a:p>
        </p:txBody>
      </p:sp>
      <p:sp>
        <p:nvSpPr>
          <p:cNvPr id="22" name="Text 26">
            <a:extLst>
              <a:ext uri="{FF2B5EF4-FFF2-40B4-BE49-F238E27FC236}">
                <a16:creationId xmlns:a16="http://schemas.microsoft.com/office/drawing/2014/main" id="{745DC5D5-E55B-83E1-A42A-7DD8FC9268C4}"/>
              </a:ext>
            </a:extLst>
          </p:cNvPr>
          <p:cNvSpPr/>
          <p:nvPr/>
        </p:nvSpPr>
        <p:spPr>
          <a:xfrm>
            <a:off x="7598092" y="3341370"/>
            <a:ext cx="1622108" cy="214551"/>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Có (L1, L2)</a:t>
            </a:r>
            <a:endParaRPr lang="en-US" sz="1500" dirty="0">
              <a:latin typeface="Arial" panose="020B0604020202020204" pitchFamily="34" charset="0"/>
              <a:cs typeface="Arial" panose="020B0604020202020204" pitchFamily="34" charset="0"/>
            </a:endParaRPr>
          </a:p>
        </p:txBody>
      </p:sp>
      <p:sp>
        <p:nvSpPr>
          <p:cNvPr id="23" name="Text 27">
            <a:extLst>
              <a:ext uri="{FF2B5EF4-FFF2-40B4-BE49-F238E27FC236}">
                <a16:creationId xmlns:a16="http://schemas.microsoft.com/office/drawing/2014/main" id="{8E2127EA-3F35-3928-AC12-38FF05832DE3}"/>
              </a:ext>
            </a:extLst>
          </p:cNvPr>
          <p:cNvSpPr/>
          <p:nvPr/>
        </p:nvSpPr>
        <p:spPr>
          <a:xfrm>
            <a:off x="1074777" y="3718322"/>
            <a:ext cx="1256206" cy="220665"/>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Rollback</a:t>
            </a:r>
            <a:endParaRPr lang="en-US" sz="1500" dirty="0">
              <a:latin typeface="Arial" panose="020B0604020202020204" pitchFamily="34" charset="0"/>
              <a:cs typeface="Arial" panose="020B0604020202020204" pitchFamily="34" charset="0"/>
            </a:endParaRPr>
          </a:p>
        </p:txBody>
      </p:sp>
      <p:sp>
        <p:nvSpPr>
          <p:cNvPr id="24" name="Text 28">
            <a:extLst>
              <a:ext uri="{FF2B5EF4-FFF2-40B4-BE49-F238E27FC236}">
                <a16:creationId xmlns:a16="http://schemas.microsoft.com/office/drawing/2014/main" id="{311EF540-D076-36DA-D1C9-DF1C6F22EB80}"/>
              </a:ext>
            </a:extLst>
          </p:cNvPr>
          <p:cNvSpPr/>
          <p:nvPr/>
        </p:nvSpPr>
        <p:spPr>
          <a:xfrm>
            <a:off x="4267200" y="3718322"/>
            <a:ext cx="1253255" cy="220665"/>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Thủ công</a:t>
            </a:r>
            <a:endParaRPr lang="en-US" sz="1500" dirty="0">
              <a:latin typeface="Arial" panose="020B0604020202020204" pitchFamily="34" charset="0"/>
              <a:cs typeface="Arial" panose="020B0604020202020204" pitchFamily="34" charset="0"/>
            </a:endParaRPr>
          </a:p>
        </p:txBody>
      </p:sp>
      <p:sp>
        <p:nvSpPr>
          <p:cNvPr id="25" name="Text 29">
            <a:extLst>
              <a:ext uri="{FF2B5EF4-FFF2-40B4-BE49-F238E27FC236}">
                <a16:creationId xmlns:a16="http://schemas.microsoft.com/office/drawing/2014/main" id="{6232D4D2-3FA7-F529-D3D0-783C9BBDE8C8}"/>
              </a:ext>
            </a:extLst>
          </p:cNvPr>
          <p:cNvSpPr/>
          <p:nvPr/>
        </p:nvSpPr>
        <p:spPr>
          <a:xfrm>
            <a:off x="7598092" y="3718322"/>
            <a:ext cx="1256206" cy="220665"/>
          </a:xfrm>
          <a:prstGeom prst="rect">
            <a:avLst/>
          </a:prstGeom>
          <a:noFill/>
          <a:ln/>
        </p:spPr>
        <p:txBody>
          <a:bodyPr wrap="none" lIns="0" tIns="0" rIns="0" bIns="0" rtlCol="0" anchor="t"/>
          <a:lstStyle/>
          <a:p>
            <a:pPr marL="0" indent="0" algn="l">
              <a:lnSpc>
                <a:spcPts val="1650"/>
              </a:lnSpc>
              <a:buNone/>
            </a:pPr>
            <a:r>
              <a:rPr lang="en-US" sz="1500" dirty="0">
                <a:solidFill>
                  <a:srgbClr val="443728"/>
                </a:solidFill>
                <a:latin typeface="Arial" panose="020B0604020202020204" pitchFamily="34" charset="0"/>
                <a:ea typeface="Open Sans" pitchFamily="34" charset="-122"/>
                <a:cs typeface="Arial" panose="020B0604020202020204" pitchFamily="34" charset="0"/>
              </a:rPr>
              <a:t>Tự động qua API</a:t>
            </a:r>
            <a:endParaRPr lang="en-US" sz="1500" dirty="0">
              <a:latin typeface="Arial" panose="020B0604020202020204" pitchFamily="34" charset="0"/>
              <a:cs typeface="Arial" panose="020B0604020202020204" pitchFamily="34" charset="0"/>
            </a:endParaRPr>
          </a:p>
        </p:txBody>
      </p:sp>
      <p:sp>
        <p:nvSpPr>
          <p:cNvPr id="26" name="Shape 30">
            <a:extLst>
              <a:ext uri="{FF2B5EF4-FFF2-40B4-BE49-F238E27FC236}">
                <a16:creationId xmlns:a16="http://schemas.microsoft.com/office/drawing/2014/main" id="{ED31D037-786C-0A8D-319E-6EE316D83302}"/>
              </a:ext>
            </a:extLst>
          </p:cNvPr>
          <p:cNvSpPr/>
          <p:nvPr/>
        </p:nvSpPr>
        <p:spPr>
          <a:xfrm>
            <a:off x="914400" y="4428322"/>
            <a:ext cx="8379619" cy="785795"/>
          </a:xfrm>
          <a:prstGeom prst="roundRect">
            <a:avLst>
              <a:gd name="adj" fmla="val 8353"/>
            </a:avLst>
          </a:prstGeom>
          <a:solidFill>
            <a:srgbClr val="B6FCB8"/>
          </a:solidFill>
          <a:ln/>
        </p:spPr>
        <p:txBody>
          <a:bodyPr/>
          <a:lstStyle/>
          <a:p>
            <a:endParaRPr lang="en-US" sz="1500">
              <a:latin typeface="Arial" panose="020B0604020202020204" pitchFamily="34" charset="0"/>
              <a:cs typeface="Arial" panose="020B0604020202020204" pitchFamily="34" charset="0"/>
            </a:endParaRPr>
          </a:p>
        </p:txBody>
      </p:sp>
      <p:pic>
        <p:nvPicPr>
          <p:cNvPr id="27" name="Image 0" descr="preencoded.png">
            <a:extLst>
              <a:ext uri="{FF2B5EF4-FFF2-40B4-BE49-F238E27FC236}">
                <a16:creationId xmlns:a16="http://schemas.microsoft.com/office/drawing/2014/main" id="{3603C3C0-B9A2-1E44-C888-7783F11E06B2}"/>
              </a:ext>
            </a:extLst>
          </p:cNvPr>
          <p:cNvPicPr>
            <a:picLocks noChangeAspect="1"/>
          </p:cNvPicPr>
          <p:nvPr/>
        </p:nvPicPr>
        <p:blipFill>
          <a:blip r:embed="rId2"/>
          <a:stretch>
            <a:fillRect/>
          </a:stretch>
        </p:blipFill>
        <p:spPr>
          <a:xfrm>
            <a:off x="1066324" y="4645253"/>
            <a:ext cx="195316" cy="156253"/>
          </a:xfrm>
          <a:prstGeom prst="rect">
            <a:avLst/>
          </a:prstGeom>
        </p:spPr>
      </p:pic>
      <p:sp>
        <p:nvSpPr>
          <p:cNvPr id="28" name="Text 31">
            <a:extLst>
              <a:ext uri="{FF2B5EF4-FFF2-40B4-BE49-F238E27FC236}">
                <a16:creationId xmlns:a16="http://schemas.microsoft.com/office/drawing/2014/main" id="{7D9EE93B-CF68-B070-2620-5AE2C597FCEA}"/>
              </a:ext>
            </a:extLst>
          </p:cNvPr>
          <p:cNvSpPr/>
          <p:nvPr/>
        </p:nvSpPr>
        <p:spPr>
          <a:xfrm>
            <a:off x="1408152" y="4582628"/>
            <a:ext cx="7938232" cy="404361"/>
          </a:xfrm>
          <a:prstGeom prst="rect">
            <a:avLst/>
          </a:prstGeom>
          <a:noFill/>
          <a:ln/>
        </p:spPr>
        <p:txBody>
          <a:bodyPr wrap="square" lIns="0" tIns="0" rIns="0" bIns="0" rtlCol="0" anchor="t"/>
          <a:lstStyle/>
          <a:p>
            <a:pPr marL="0" indent="0" algn="l">
              <a:lnSpc>
                <a:spcPts val="1650"/>
              </a:lnSpc>
              <a:buNone/>
            </a:pPr>
            <a:r>
              <a:rPr lang="en-US" sz="1500" dirty="0">
                <a:solidFill>
                  <a:srgbClr val="000000"/>
                </a:solidFill>
                <a:latin typeface="Arial" panose="020B0604020202020204" pitchFamily="34" charset="0"/>
                <a:ea typeface="Open Sans" pitchFamily="34" charset="-122"/>
                <a:cs typeface="Arial" panose="020B0604020202020204" pitchFamily="34" charset="0"/>
              </a:rPr>
              <a:t>Hibernate giảm đáng kể boilerplate code và tích hợp sẵn cơ chế cache, giúp tăng hiệu năng mà không cần viết thêm logic.</a:t>
            </a:r>
            <a:endParaRPr lang="en-US"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1878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B589C-CC3B-5578-2F93-58E82BE1EB88}"/>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9170E963-ED74-347E-BBB0-B537B64AD137}"/>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CD8741E6-F3EE-55EB-BC32-D0944B120FAA}"/>
              </a:ext>
            </a:extLst>
          </p:cNvPr>
          <p:cNvSpPr/>
          <p:nvPr/>
        </p:nvSpPr>
        <p:spPr>
          <a:xfrm>
            <a:off x="838200" y="533400"/>
            <a:ext cx="7871579" cy="513517"/>
          </a:xfrm>
          <a:prstGeom prst="rect">
            <a:avLst/>
          </a:prstGeom>
          <a:noFill/>
          <a:ln/>
        </p:spPr>
        <p:txBody>
          <a:bodyPr wrap="none" lIns="0" tIns="0" rIns="0" bIns="0" rtlCol="0" anchor="t"/>
          <a:lstStyle/>
          <a:p>
            <a:pPr marL="0" indent="0" algn="l">
              <a:lnSpc>
                <a:spcPts val="4000"/>
              </a:lnSpc>
              <a:buNone/>
            </a:pPr>
            <a:r>
              <a:rPr lang="en-US" sz="3000" b="1" dirty="0">
                <a:solidFill>
                  <a:srgbClr val="443728"/>
                </a:solidFill>
                <a:latin typeface="Arial" panose="020B0604020202020204" pitchFamily="34" charset="0"/>
                <a:ea typeface="Crimson Pro Bold" pitchFamily="34" charset="-122"/>
                <a:cs typeface="Arial" panose="020B0604020202020204" pitchFamily="34" charset="0"/>
              </a:rPr>
              <a:t>First-Level Cache — Bộ Nhớ Đệm Của Session</a:t>
            </a:r>
            <a:endParaRPr lang="en-US" sz="3000" dirty="0">
              <a:latin typeface="Arial" panose="020B0604020202020204" pitchFamily="34" charset="0"/>
              <a:cs typeface="Arial" panose="020B0604020202020204" pitchFamily="34" charset="0"/>
            </a:endParaRPr>
          </a:p>
        </p:txBody>
      </p:sp>
      <p:sp>
        <p:nvSpPr>
          <p:cNvPr id="3" name="Text 3">
            <a:extLst>
              <a:ext uri="{FF2B5EF4-FFF2-40B4-BE49-F238E27FC236}">
                <a16:creationId xmlns:a16="http://schemas.microsoft.com/office/drawing/2014/main" id="{8AC98E4B-28A1-41A5-D0B4-C033234CA32D}"/>
              </a:ext>
            </a:extLst>
          </p:cNvPr>
          <p:cNvSpPr/>
          <p:nvPr/>
        </p:nvSpPr>
        <p:spPr>
          <a:xfrm>
            <a:off x="838200" y="1219200"/>
            <a:ext cx="2054423" cy="256818"/>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Arial" panose="020B0604020202020204" pitchFamily="34" charset="0"/>
                <a:ea typeface="Crimson Pro Bold" pitchFamily="34" charset="-122"/>
                <a:cs typeface="Arial" panose="020B0604020202020204" pitchFamily="34" charset="0"/>
              </a:rPr>
              <a:t>Vấn đề N+1 Query</a:t>
            </a:r>
            <a:endParaRPr lang="en-US" sz="1600" dirty="0">
              <a:latin typeface="Arial" panose="020B0604020202020204" pitchFamily="34" charset="0"/>
              <a:cs typeface="Arial" panose="020B0604020202020204" pitchFamily="34" charset="0"/>
            </a:endParaRPr>
          </a:p>
        </p:txBody>
      </p:sp>
      <p:sp>
        <p:nvSpPr>
          <p:cNvPr id="4" name="Text 4">
            <a:extLst>
              <a:ext uri="{FF2B5EF4-FFF2-40B4-BE49-F238E27FC236}">
                <a16:creationId xmlns:a16="http://schemas.microsoft.com/office/drawing/2014/main" id="{885CEF15-C99E-A87F-EDD7-F199CA8BF7D0}"/>
              </a:ext>
            </a:extLst>
          </p:cNvPr>
          <p:cNvSpPr/>
          <p:nvPr/>
        </p:nvSpPr>
        <p:spPr>
          <a:xfrm>
            <a:off x="838200" y="1612106"/>
            <a:ext cx="6279952" cy="720804"/>
          </a:xfrm>
          <a:prstGeom prst="rect">
            <a:avLst/>
          </a:prstGeom>
          <a:noFill/>
          <a:ln/>
        </p:spPr>
        <p:txBody>
          <a:bodyPr wrap="square" lIns="0" tIns="0" rIns="0" bIns="0" rtlCol="0" anchor="t"/>
          <a:lstStyle/>
          <a:p>
            <a:pPr marL="0" indent="0" algn="l">
              <a:lnSpc>
                <a:spcPts val="1850"/>
              </a:lnSpc>
              <a:buNone/>
            </a:pPr>
            <a:r>
              <a:rPr lang="en-US" sz="1250" dirty="0">
                <a:solidFill>
                  <a:srgbClr val="443728"/>
                </a:solidFill>
                <a:latin typeface="Arial" panose="020B0604020202020204" pitchFamily="34" charset="0"/>
                <a:ea typeface="Open Sans" pitchFamily="34" charset="-122"/>
                <a:cs typeface="Arial" panose="020B0604020202020204" pitchFamily="34" charset="0"/>
              </a:rPr>
              <a:t>Khi bạn gọi </a:t>
            </a:r>
            <a:r>
              <a:rPr lang="en-US" sz="1250" dirty="0">
                <a:solidFill>
                  <a:srgbClr val="443728"/>
                </a:solidFill>
                <a:highlight>
                  <a:srgbClr val="F2EFED"/>
                </a:highlight>
                <a:latin typeface="Arial" panose="020B0604020202020204" pitchFamily="34" charset="0"/>
                <a:ea typeface="Consolas" pitchFamily="34" charset="-122"/>
                <a:cs typeface="Arial" panose="020B0604020202020204" pitchFamily="34" charset="0"/>
              </a:rPr>
              <a:t>session.get()</a:t>
            </a:r>
            <a:r>
              <a:rPr lang="en-US" sz="1250" dirty="0">
                <a:solidFill>
                  <a:srgbClr val="443728"/>
                </a:solidFill>
                <a:latin typeface="Arial" panose="020B0604020202020204" pitchFamily="34" charset="0"/>
                <a:ea typeface="Open Sans" pitchFamily="34" charset="-122"/>
                <a:cs typeface="Arial" panose="020B0604020202020204" pitchFamily="34" charset="0"/>
              </a:rPr>
              <a:t> nhiều lần cho cùng một entity, nếu không có cache, Hibernate sẽ gửi N câu SQL riêng biệt đến database — gây </a:t>
            </a:r>
            <a:r>
              <a:rPr lang="en-US" sz="1250" b="1" dirty="0">
                <a:solidFill>
                  <a:srgbClr val="443728"/>
                </a:solidFill>
                <a:latin typeface="Arial" panose="020B0604020202020204" pitchFamily="34" charset="0"/>
                <a:ea typeface="Open Sans" pitchFamily="34" charset="-122"/>
                <a:cs typeface="Arial" panose="020B0604020202020204" pitchFamily="34" charset="0"/>
              </a:rPr>
              <a:t>giảm hiệu năng nghiêm trọng</a:t>
            </a:r>
            <a:r>
              <a:rPr lang="en-US" sz="1250" dirty="0">
                <a:solidFill>
                  <a:srgbClr val="443728"/>
                </a:solidFill>
                <a:latin typeface="Arial" panose="020B0604020202020204" pitchFamily="34" charset="0"/>
                <a:ea typeface="Open Sans" pitchFamily="34" charset="-122"/>
                <a:cs typeface="Arial" panose="020B0604020202020204" pitchFamily="34" charset="0"/>
              </a:rPr>
              <a:t>.</a:t>
            </a:r>
            <a:endParaRPr lang="en-US" sz="1250" dirty="0">
              <a:latin typeface="Arial" panose="020B0604020202020204" pitchFamily="34" charset="0"/>
              <a:cs typeface="Arial" panose="020B0604020202020204" pitchFamily="34" charset="0"/>
            </a:endParaRPr>
          </a:p>
        </p:txBody>
      </p:sp>
      <p:sp>
        <p:nvSpPr>
          <p:cNvPr id="5" name="Shape 5">
            <a:extLst>
              <a:ext uri="{FF2B5EF4-FFF2-40B4-BE49-F238E27FC236}">
                <a16:creationId xmlns:a16="http://schemas.microsoft.com/office/drawing/2014/main" id="{9B52BE99-F0D7-165B-1E46-FF169EE1480A}"/>
              </a:ext>
            </a:extLst>
          </p:cNvPr>
          <p:cNvSpPr/>
          <p:nvPr/>
        </p:nvSpPr>
        <p:spPr>
          <a:xfrm>
            <a:off x="838200" y="2486025"/>
            <a:ext cx="6279952" cy="862251"/>
          </a:xfrm>
          <a:prstGeom prst="roundRect">
            <a:avLst>
              <a:gd name="adj" fmla="val 8006"/>
            </a:avLst>
          </a:prstGeom>
          <a:solidFill>
            <a:srgbClr val="FCF2B5"/>
          </a:solidFill>
          <a:ln/>
        </p:spPr>
        <p:txBody>
          <a:bodyPr/>
          <a:lstStyle/>
          <a:p>
            <a:endParaRPr lang="en-US">
              <a:latin typeface="Arial" panose="020B0604020202020204" pitchFamily="34" charset="0"/>
              <a:cs typeface="Arial" panose="020B0604020202020204" pitchFamily="34" charset="0"/>
            </a:endParaRPr>
          </a:p>
        </p:txBody>
      </p:sp>
      <p:pic>
        <p:nvPicPr>
          <p:cNvPr id="6" name="Image 0" descr="preencoded.png">
            <a:extLst>
              <a:ext uri="{FF2B5EF4-FFF2-40B4-BE49-F238E27FC236}">
                <a16:creationId xmlns:a16="http://schemas.microsoft.com/office/drawing/2014/main" id="{164A8C04-E5CD-AD79-DD6A-1A4DBE603C32}"/>
              </a:ext>
            </a:extLst>
          </p:cNvPr>
          <p:cNvPicPr>
            <a:picLocks noChangeAspect="1"/>
          </p:cNvPicPr>
          <p:nvPr/>
        </p:nvPicPr>
        <p:blipFill>
          <a:blip r:embed="rId2"/>
          <a:stretch>
            <a:fillRect/>
          </a:stretch>
        </p:blipFill>
        <p:spPr>
          <a:xfrm>
            <a:off x="1002506" y="2730461"/>
            <a:ext cx="205383" cy="164306"/>
          </a:xfrm>
          <a:prstGeom prst="rect">
            <a:avLst/>
          </a:prstGeom>
        </p:spPr>
      </p:pic>
      <p:sp>
        <p:nvSpPr>
          <p:cNvPr id="8" name="Text 6">
            <a:extLst>
              <a:ext uri="{FF2B5EF4-FFF2-40B4-BE49-F238E27FC236}">
                <a16:creationId xmlns:a16="http://schemas.microsoft.com/office/drawing/2014/main" id="{C68D9020-5427-6B0D-0DF2-A1C2D442E217}"/>
              </a:ext>
            </a:extLst>
          </p:cNvPr>
          <p:cNvSpPr/>
          <p:nvPr/>
        </p:nvSpPr>
        <p:spPr>
          <a:xfrm>
            <a:off x="1372195" y="2663190"/>
            <a:ext cx="5581650" cy="480536"/>
          </a:xfrm>
          <a:prstGeom prst="rect">
            <a:avLst/>
          </a:prstGeom>
          <a:noFill/>
          <a:ln/>
        </p:spPr>
        <p:txBody>
          <a:bodyPr wrap="square" lIns="0" tIns="0" rIns="0" bIns="0" rtlCol="0" anchor="t"/>
          <a:lstStyle/>
          <a:p>
            <a:pPr marL="0" indent="0" algn="l">
              <a:lnSpc>
                <a:spcPts val="1850"/>
              </a:lnSpc>
              <a:buNone/>
            </a:pPr>
            <a:r>
              <a:rPr lang="en-US" sz="1250" dirty="0">
                <a:solidFill>
                  <a:srgbClr val="000000"/>
                </a:solidFill>
                <a:latin typeface="Arial" panose="020B0604020202020204" pitchFamily="34" charset="0"/>
                <a:ea typeface="Open Sans" pitchFamily="34" charset="-122"/>
                <a:cs typeface="Arial" panose="020B0604020202020204" pitchFamily="34" charset="0"/>
              </a:rPr>
              <a:t>Ví dụ: Load 100 Order, mỗi Order gọi thêm 1 query lấy Customer → 101 câu SQL thay vì 1!</a:t>
            </a:r>
            <a:endParaRPr lang="en-US" sz="1250" dirty="0">
              <a:latin typeface="Arial" panose="020B0604020202020204" pitchFamily="34" charset="0"/>
              <a:cs typeface="Arial" panose="020B0604020202020204" pitchFamily="34" charset="0"/>
            </a:endParaRPr>
          </a:p>
        </p:txBody>
      </p:sp>
      <p:sp>
        <p:nvSpPr>
          <p:cNvPr id="9" name="Text 7">
            <a:extLst>
              <a:ext uri="{FF2B5EF4-FFF2-40B4-BE49-F238E27FC236}">
                <a16:creationId xmlns:a16="http://schemas.microsoft.com/office/drawing/2014/main" id="{1350C4C7-412E-5C1B-6763-F46022E361B5}"/>
              </a:ext>
            </a:extLst>
          </p:cNvPr>
          <p:cNvSpPr/>
          <p:nvPr/>
        </p:nvSpPr>
        <p:spPr>
          <a:xfrm>
            <a:off x="838200" y="3501390"/>
            <a:ext cx="2054423" cy="256818"/>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Arial" panose="020B0604020202020204" pitchFamily="34" charset="0"/>
                <a:ea typeface="Crimson Pro Bold" pitchFamily="34" charset="-122"/>
                <a:cs typeface="Arial" panose="020B0604020202020204" pitchFamily="34" charset="0"/>
              </a:rPr>
              <a:t>First-Level Cache là gì?</a:t>
            </a:r>
            <a:endParaRPr lang="en-US" sz="1600" dirty="0">
              <a:latin typeface="Arial" panose="020B0604020202020204" pitchFamily="34" charset="0"/>
              <a:cs typeface="Arial" panose="020B0604020202020204" pitchFamily="34" charset="0"/>
            </a:endParaRPr>
          </a:p>
        </p:txBody>
      </p:sp>
      <p:sp>
        <p:nvSpPr>
          <p:cNvPr id="10" name="Text 8">
            <a:extLst>
              <a:ext uri="{FF2B5EF4-FFF2-40B4-BE49-F238E27FC236}">
                <a16:creationId xmlns:a16="http://schemas.microsoft.com/office/drawing/2014/main" id="{BA0869D7-B2D8-3591-311D-2072FE70B640}"/>
              </a:ext>
            </a:extLst>
          </p:cNvPr>
          <p:cNvSpPr/>
          <p:nvPr/>
        </p:nvSpPr>
        <p:spPr>
          <a:xfrm>
            <a:off x="838200" y="3894296"/>
            <a:ext cx="6279952" cy="480536"/>
          </a:xfrm>
          <a:prstGeom prst="rect">
            <a:avLst/>
          </a:prstGeom>
          <a:noFill/>
          <a:ln/>
        </p:spPr>
        <p:txBody>
          <a:bodyPr wrap="square" lIns="0" tIns="0" rIns="0" bIns="0" rtlCol="0" anchor="t"/>
          <a:lstStyle/>
          <a:p>
            <a:pPr marL="0" indent="0" algn="l">
              <a:lnSpc>
                <a:spcPts val="1850"/>
              </a:lnSpc>
              <a:buNone/>
            </a:pPr>
            <a:r>
              <a:rPr lang="en-US" sz="1250" dirty="0">
                <a:solidFill>
                  <a:srgbClr val="443728"/>
                </a:solidFill>
                <a:latin typeface="Arial" panose="020B0604020202020204" pitchFamily="34" charset="0"/>
                <a:ea typeface="Open Sans" pitchFamily="34" charset="-122"/>
                <a:cs typeface="Arial" panose="020B0604020202020204" pitchFamily="34" charset="0"/>
              </a:rPr>
              <a:t>First-Level Cache (L1 Cache) là bộ nhớ đệm </a:t>
            </a:r>
            <a:r>
              <a:rPr lang="en-US" sz="1250" b="1" dirty="0">
                <a:solidFill>
                  <a:srgbClr val="443728"/>
                </a:solidFill>
                <a:latin typeface="Arial" panose="020B0604020202020204" pitchFamily="34" charset="0"/>
                <a:ea typeface="Open Sans" pitchFamily="34" charset="-122"/>
                <a:cs typeface="Arial" panose="020B0604020202020204" pitchFamily="34" charset="0"/>
              </a:rPr>
              <a:t>mặc định, luôn bật</a:t>
            </a:r>
            <a:r>
              <a:rPr lang="en-US" sz="1250" dirty="0">
                <a:solidFill>
                  <a:srgbClr val="443728"/>
                </a:solidFill>
                <a:latin typeface="Arial" panose="020B0604020202020204" pitchFamily="34" charset="0"/>
                <a:ea typeface="Open Sans" pitchFamily="34" charset="-122"/>
                <a:cs typeface="Arial" panose="020B0604020202020204" pitchFamily="34" charset="0"/>
              </a:rPr>
              <a:t> trong Hibernate, gắn liền với vòng đời của </a:t>
            </a:r>
            <a:r>
              <a:rPr lang="en-US" sz="1250" dirty="0">
                <a:solidFill>
                  <a:srgbClr val="443728"/>
                </a:solidFill>
                <a:highlight>
                  <a:srgbClr val="F2EFED"/>
                </a:highlight>
                <a:latin typeface="Arial" panose="020B0604020202020204" pitchFamily="34" charset="0"/>
                <a:ea typeface="Consolas" pitchFamily="34" charset="-122"/>
                <a:cs typeface="Arial" panose="020B0604020202020204" pitchFamily="34" charset="0"/>
              </a:rPr>
              <a:t>Session</a:t>
            </a:r>
            <a:r>
              <a:rPr lang="en-US" sz="1250" dirty="0">
                <a:solidFill>
                  <a:srgbClr val="443728"/>
                </a:solidFill>
                <a:latin typeface="Arial" panose="020B0604020202020204" pitchFamily="34" charset="0"/>
                <a:ea typeface="Open Sans" pitchFamily="34" charset="-122"/>
                <a:cs typeface="Arial" panose="020B0604020202020204" pitchFamily="34" charset="0"/>
              </a:rPr>
              <a:t>. Mỗi Session có một cache riêng biệt.</a:t>
            </a:r>
            <a:endParaRPr lang="en-US" sz="1250" dirty="0">
              <a:latin typeface="Arial" panose="020B0604020202020204" pitchFamily="34" charset="0"/>
              <a:cs typeface="Arial" panose="020B0604020202020204" pitchFamily="34" charset="0"/>
            </a:endParaRPr>
          </a:p>
        </p:txBody>
      </p:sp>
      <p:sp>
        <p:nvSpPr>
          <p:cNvPr id="11" name="Text 9">
            <a:extLst>
              <a:ext uri="{FF2B5EF4-FFF2-40B4-BE49-F238E27FC236}">
                <a16:creationId xmlns:a16="http://schemas.microsoft.com/office/drawing/2014/main" id="{3D8B782C-A118-7FCB-798A-3E3726BE624C}"/>
              </a:ext>
            </a:extLst>
          </p:cNvPr>
          <p:cNvSpPr/>
          <p:nvPr/>
        </p:nvSpPr>
        <p:spPr>
          <a:xfrm>
            <a:off x="7760095" y="1553351"/>
            <a:ext cx="2054423" cy="256818"/>
          </a:xfrm>
          <a:prstGeom prst="rect">
            <a:avLst/>
          </a:prstGeom>
          <a:noFill/>
          <a:ln/>
        </p:spPr>
        <p:txBody>
          <a:bodyPr wrap="none" lIns="0" tIns="0" rIns="0" bIns="0" rtlCol="0" anchor="t"/>
          <a:lstStyle/>
          <a:p>
            <a:pPr marL="0" indent="0" algn="l">
              <a:lnSpc>
                <a:spcPts val="2000"/>
              </a:lnSpc>
              <a:buNone/>
            </a:pPr>
            <a:r>
              <a:rPr lang="en-US" sz="1600" b="1" dirty="0">
                <a:solidFill>
                  <a:srgbClr val="443728"/>
                </a:solidFill>
                <a:latin typeface="Arial" panose="020B0604020202020204" pitchFamily="34" charset="0"/>
                <a:ea typeface="Crimson Pro Bold" pitchFamily="34" charset="-122"/>
                <a:cs typeface="Arial" panose="020B0604020202020204" pitchFamily="34" charset="0"/>
              </a:rPr>
              <a:t>Cơ chế hoạt động</a:t>
            </a:r>
            <a:endParaRPr lang="en-US" sz="1600" dirty="0">
              <a:latin typeface="Arial" panose="020B0604020202020204" pitchFamily="34" charset="0"/>
              <a:cs typeface="Arial" panose="020B0604020202020204" pitchFamily="34" charset="0"/>
            </a:endParaRPr>
          </a:p>
        </p:txBody>
      </p:sp>
      <p:pic>
        <p:nvPicPr>
          <p:cNvPr id="12" name="Image 1" descr="preencoded.png">
            <a:extLst>
              <a:ext uri="{FF2B5EF4-FFF2-40B4-BE49-F238E27FC236}">
                <a16:creationId xmlns:a16="http://schemas.microsoft.com/office/drawing/2014/main" id="{7519928D-AD0C-FF21-C7D2-E83449D6805B}"/>
              </a:ext>
            </a:extLst>
          </p:cNvPr>
          <p:cNvPicPr>
            <a:picLocks noChangeAspect="1"/>
          </p:cNvPicPr>
          <p:nvPr/>
        </p:nvPicPr>
        <p:blipFill>
          <a:blip r:embed="rId3"/>
          <a:stretch>
            <a:fillRect/>
          </a:stretch>
        </p:blipFill>
        <p:spPr>
          <a:xfrm>
            <a:off x="6413173" y="1882135"/>
            <a:ext cx="6279952" cy="3554254"/>
          </a:xfrm>
          <a:prstGeom prst="rect">
            <a:avLst/>
          </a:prstGeom>
        </p:spPr>
      </p:pic>
      <p:sp>
        <p:nvSpPr>
          <p:cNvPr id="13" name="Text 10">
            <a:extLst>
              <a:ext uri="{FF2B5EF4-FFF2-40B4-BE49-F238E27FC236}">
                <a16:creationId xmlns:a16="http://schemas.microsoft.com/office/drawing/2014/main" id="{9CB8A750-E568-4CD2-583E-20B4C426C15D}"/>
              </a:ext>
            </a:extLst>
          </p:cNvPr>
          <p:cNvSpPr/>
          <p:nvPr/>
        </p:nvSpPr>
        <p:spPr>
          <a:xfrm>
            <a:off x="9770527" y="2845789"/>
            <a:ext cx="1436152" cy="179519"/>
          </a:xfrm>
          <a:prstGeom prst="rect">
            <a:avLst/>
          </a:prstGeom>
          <a:noFill/>
          <a:ln/>
        </p:spPr>
        <p:txBody>
          <a:bodyPr wrap="none" lIns="0" tIns="0" rIns="0" bIns="0" rtlCol="0" anchor="t"/>
          <a:lstStyle/>
          <a:p>
            <a:pPr marL="0" indent="0" algn="l">
              <a:lnSpc>
                <a:spcPts val="1400"/>
              </a:lnSpc>
              <a:buNone/>
            </a:pPr>
            <a:r>
              <a:rPr lang="en-US" sz="1100" b="1" dirty="0">
                <a:solidFill>
                  <a:srgbClr val="443728"/>
                </a:solidFill>
                <a:latin typeface="Arial" panose="020B0604020202020204" pitchFamily="34" charset="0"/>
                <a:ea typeface="Crimson Pro Bold" pitchFamily="34" charset="-122"/>
                <a:cs typeface="Arial" panose="020B0604020202020204" pitchFamily="34" charset="0"/>
              </a:rPr>
              <a:t>Cache Hit</a:t>
            </a:r>
            <a:endParaRPr lang="en-US" sz="1100" dirty="0">
              <a:latin typeface="Arial" panose="020B0604020202020204" pitchFamily="34" charset="0"/>
              <a:cs typeface="Arial" panose="020B0604020202020204" pitchFamily="34" charset="0"/>
            </a:endParaRPr>
          </a:p>
        </p:txBody>
      </p:sp>
      <p:sp>
        <p:nvSpPr>
          <p:cNvPr id="14" name="Text 11">
            <a:extLst>
              <a:ext uri="{FF2B5EF4-FFF2-40B4-BE49-F238E27FC236}">
                <a16:creationId xmlns:a16="http://schemas.microsoft.com/office/drawing/2014/main" id="{9FA668F9-CF40-CEB6-0371-E313CBFDBCB9}"/>
              </a:ext>
            </a:extLst>
          </p:cNvPr>
          <p:cNvSpPr/>
          <p:nvPr/>
        </p:nvSpPr>
        <p:spPr>
          <a:xfrm>
            <a:off x="9770527" y="3076371"/>
            <a:ext cx="2202100" cy="262497"/>
          </a:xfrm>
          <a:prstGeom prst="rect">
            <a:avLst/>
          </a:prstGeom>
          <a:noFill/>
          <a:ln/>
        </p:spPr>
        <p:txBody>
          <a:bodyPr wrap="square" lIns="0" tIns="0" rIns="0" bIns="0" rtlCol="0" anchor="t"/>
          <a:lstStyle/>
          <a:p>
            <a:pPr marL="0" indent="0" algn="l">
              <a:lnSpc>
                <a:spcPts val="1000"/>
              </a:lnSpc>
              <a:buNone/>
            </a:pPr>
            <a:r>
              <a:rPr lang="en-US" sz="900" dirty="0">
                <a:solidFill>
                  <a:srgbClr val="443728"/>
                </a:solidFill>
                <a:latin typeface="Arial" panose="020B0604020202020204" pitchFamily="34" charset="0"/>
                <a:ea typeface="Open Sans" pitchFamily="34" charset="-122"/>
                <a:cs typeface="Arial" panose="020B0604020202020204" pitchFamily="34" charset="0"/>
              </a:rPr>
              <a:t>session.get → kiểm tra L1 Cache → tìm thấy → trả về đối tượng</a:t>
            </a:r>
            <a:endParaRPr lang="en-US" sz="900" dirty="0">
              <a:latin typeface="Arial" panose="020B0604020202020204" pitchFamily="34" charset="0"/>
              <a:cs typeface="Arial" panose="020B0604020202020204" pitchFamily="34" charset="0"/>
            </a:endParaRPr>
          </a:p>
        </p:txBody>
      </p:sp>
      <p:pic>
        <p:nvPicPr>
          <p:cNvPr id="15" name="Image 2" descr="preencoded.png">
            <a:extLst>
              <a:ext uri="{FF2B5EF4-FFF2-40B4-BE49-F238E27FC236}">
                <a16:creationId xmlns:a16="http://schemas.microsoft.com/office/drawing/2014/main" id="{E0AD5134-F4E7-1D09-4F2E-C47E47B0DEC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81861" y="2570978"/>
            <a:ext cx="191488" cy="191487"/>
          </a:xfrm>
          <a:prstGeom prst="rect">
            <a:avLst/>
          </a:prstGeom>
        </p:spPr>
      </p:pic>
      <p:pic>
        <p:nvPicPr>
          <p:cNvPr id="16" name="Image 3" descr="preencoded.png">
            <a:extLst>
              <a:ext uri="{FF2B5EF4-FFF2-40B4-BE49-F238E27FC236}">
                <a16:creationId xmlns:a16="http://schemas.microsoft.com/office/drawing/2014/main" id="{57446BD8-D207-0A89-BA96-1F64B51C680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9954" y="3273097"/>
            <a:ext cx="191487" cy="191487"/>
          </a:xfrm>
          <a:prstGeom prst="rect">
            <a:avLst/>
          </a:prstGeom>
        </p:spPr>
      </p:pic>
      <p:sp>
        <p:nvSpPr>
          <p:cNvPr id="17" name="Text 12">
            <a:extLst>
              <a:ext uri="{FF2B5EF4-FFF2-40B4-BE49-F238E27FC236}">
                <a16:creationId xmlns:a16="http://schemas.microsoft.com/office/drawing/2014/main" id="{FDEC4E8D-30A3-6E9B-5871-E984A5004796}"/>
              </a:ext>
            </a:extLst>
          </p:cNvPr>
          <p:cNvSpPr/>
          <p:nvPr/>
        </p:nvSpPr>
        <p:spPr>
          <a:xfrm>
            <a:off x="7905289" y="3532465"/>
            <a:ext cx="1436152" cy="179519"/>
          </a:xfrm>
          <a:prstGeom prst="rect">
            <a:avLst/>
          </a:prstGeom>
          <a:noFill/>
          <a:ln/>
        </p:spPr>
        <p:txBody>
          <a:bodyPr wrap="none" lIns="0" tIns="0" rIns="0" bIns="0" rtlCol="0" anchor="t"/>
          <a:lstStyle/>
          <a:p>
            <a:pPr marL="0" indent="0" algn="r">
              <a:lnSpc>
                <a:spcPts val="1400"/>
              </a:lnSpc>
              <a:buNone/>
            </a:pPr>
            <a:r>
              <a:rPr lang="en-US" sz="1100" b="1" dirty="0">
                <a:solidFill>
                  <a:srgbClr val="443728"/>
                </a:solidFill>
                <a:latin typeface="Arial" panose="020B0604020202020204" pitchFamily="34" charset="0"/>
                <a:ea typeface="Crimson Pro Bold" pitchFamily="34" charset="-122"/>
                <a:cs typeface="Arial" panose="020B0604020202020204" pitchFamily="34" charset="0"/>
              </a:rPr>
              <a:t>Cache Miss</a:t>
            </a:r>
            <a:endParaRPr lang="en-US" sz="1100" dirty="0">
              <a:latin typeface="Arial" panose="020B0604020202020204" pitchFamily="34" charset="0"/>
              <a:cs typeface="Arial" panose="020B0604020202020204" pitchFamily="34" charset="0"/>
            </a:endParaRPr>
          </a:p>
        </p:txBody>
      </p:sp>
      <p:sp>
        <p:nvSpPr>
          <p:cNvPr id="18" name="Text 13">
            <a:extLst>
              <a:ext uri="{FF2B5EF4-FFF2-40B4-BE49-F238E27FC236}">
                <a16:creationId xmlns:a16="http://schemas.microsoft.com/office/drawing/2014/main" id="{9610CE70-FDB4-051E-D28A-C2A341CE78A5}"/>
              </a:ext>
            </a:extLst>
          </p:cNvPr>
          <p:cNvSpPr/>
          <p:nvPr/>
        </p:nvSpPr>
        <p:spPr>
          <a:xfrm>
            <a:off x="7139341" y="3763047"/>
            <a:ext cx="2202100" cy="262497"/>
          </a:xfrm>
          <a:prstGeom prst="rect">
            <a:avLst/>
          </a:prstGeom>
          <a:noFill/>
          <a:ln/>
        </p:spPr>
        <p:txBody>
          <a:bodyPr wrap="square" lIns="0" tIns="0" rIns="0" bIns="0" rtlCol="0" anchor="t"/>
          <a:lstStyle/>
          <a:p>
            <a:pPr marL="0" indent="0" algn="r">
              <a:lnSpc>
                <a:spcPts val="1000"/>
              </a:lnSpc>
              <a:buNone/>
            </a:pPr>
            <a:r>
              <a:rPr lang="en-US" sz="900" dirty="0">
                <a:solidFill>
                  <a:srgbClr val="443728"/>
                </a:solidFill>
                <a:latin typeface="Arial" panose="020B0604020202020204" pitchFamily="34" charset="0"/>
                <a:ea typeface="Open Sans" pitchFamily="34" charset="-122"/>
                <a:cs typeface="Arial" panose="020B0604020202020204" pitchFamily="34" charset="0"/>
              </a:rPr>
              <a:t>session.get → kiểm tra L1 Cache → không tìm thấy → truy vấn DB</a:t>
            </a:r>
            <a:endParaRPr lang="en-US" sz="900" dirty="0">
              <a:latin typeface="Arial" panose="020B0604020202020204" pitchFamily="34" charset="0"/>
              <a:cs typeface="Arial" panose="020B0604020202020204" pitchFamily="34" charset="0"/>
            </a:endParaRPr>
          </a:p>
        </p:txBody>
      </p:sp>
      <p:sp>
        <p:nvSpPr>
          <p:cNvPr id="19" name="Text 14">
            <a:extLst>
              <a:ext uri="{FF2B5EF4-FFF2-40B4-BE49-F238E27FC236}">
                <a16:creationId xmlns:a16="http://schemas.microsoft.com/office/drawing/2014/main" id="{53E9E901-44B2-3F26-6EBB-5DCFDF6AEAF0}"/>
              </a:ext>
            </a:extLst>
          </p:cNvPr>
          <p:cNvSpPr/>
          <p:nvPr/>
        </p:nvSpPr>
        <p:spPr>
          <a:xfrm>
            <a:off x="9781413" y="4260440"/>
            <a:ext cx="1436152" cy="179519"/>
          </a:xfrm>
          <a:prstGeom prst="rect">
            <a:avLst/>
          </a:prstGeom>
          <a:noFill/>
          <a:ln/>
        </p:spPr>
        <p:txBody>
          <a:bodyPr wrap="none" lIns="0" tIns="0" rIns="0" bIns="0" rtlCol="0" anchor="t"/>
          <a:lstStyle/>
          <a:p>
            <a:pPr marL="0" indent="0" algn="l">
              <a:lnSpc>
                <a:spcPts val="1400"/>
              </a:lnSpc>
              <a:buNone/>
            </a:pPr>
            <a:r>
              <a:rPr lang="en-US" sz="1100" b="1" dirty="0">
                <a:solidFill>
                  <a:srgbClr val="443728"/>
                </a:solidFill>
                <a:latin typeface="Arial" panose="020B0604020202020204" pitchFamily="34" charset="0"/>
                <a:ea typeface="Crimson Pro Bold" pitchFamily="34" charset="-122"/>
                <a:cs typeface="Arial" panose="020B0604020202020204" pitchFamily="34" charset="0"/>
              </a:rPr>
              <a:t>Lưu vào Cache</a:t>
            </a:r>
            <a:endParaRPr lang="en-US" sz="1100" dirty="0">
              <a:latin typeface="Arial" panose="020B0604020202020204" pitchFamily="34" charset="0"/>
              <a:cs typeface="Arial" panose="020B0604020202020204" pitchFamily="34" charset="0"/>
            </a:endParaRPr>
          </a:p>
        </p:txBody>
      </p:sp>
      <p:sp>
        <p:nvSpPr>
          <p:cNvPr id="20" name="Text 15">
            <a:extLst>
              <a:ext uri="{FF2B5EF4-FFF2-40B4-BE49-F238E27FC236}">
                <a16:creationId xmlns:a16="http://schemas.microsoft.com/office/drawing/2014/main" id="{4671B3B1-8C1D-916C-4D4F-3F49168920E0}"/>
              </a:ext>
            </a:extLst>
          </p:cNvPr>
          <p:cNvSpPr/>
          <p:nvPr/>
        </p:nvSpPr>
        <p:spPr>
          <a:xfrm>
            <a:off x="9781413" y="4491023"/>
            <a:ext cx="2202100" cy="262497"/>
          </a:xfrm>
          <a:prstGeom prst="rect">
            <a:avLst/>
          </a:prstGeom>
          <a:noFill/>
          <a:ln/>
        </p:spPr>
        <p:txBody>
          <a:bodyPr wrap="square" lIns="0" tIns="0" rIns="0" bIns="0" rtlCol="0" anchor="t"/>
          <a:lstStyle/>
          <a:p>
            <a:pPr marL="0" indent="0" algn="l">
              <a:lnSpc>
                <a:spcPts val="1000"/>
              </a:lnSpc>
              <a:buNone/>
            </a:pPr>
            <a:r>
              <a:rPr lang="en-US" sz="900" dirty="0">
                <a:solidFill>
                  <a:srgbClr val="443728"/>
                </a:solidFill>
                <a:latin typeface="Arial" panose="020B0604020202020204" pitchFamily="34" charset="0"/>
                <a:ea typeface="Open Sans" pitchFamily="34" charset="-122"/>
                <a:cs typeface="Arial" panose="020B0604020202020204" pitchFamily="34" charset="0"/>
              </a:rPr>
              <a:t>Nhận từ DB → lưu vào L1 Cache → trả về đối tượng</a:t>
            </a:r>
            <a:endParaRPr lang="en-US" sz="900" dirty="0">
              <a:latin typeface="Arial" panose="020B0604020202020204" pitchFamily="34" charset="0"/>
              <a:cs typeface="Arial" panose="020B0604020202020204" pitchFamily="34" charset="0"/>
            </a:endParaRPr>
          </a:p>
        </p:txBody>
      </p:sp>
      <p:pic>
        <p:nvPicPr>
          <p:cNvPr id="21" name="Image 4" descr="preencoded.png">
            <a:extLst>
              <a:ext uri="{FF2B5EF4-FFF2-40B4-BE49-F238E27FC236}">
                <a16:creationId xmlns:a16="http://schemas.microsoft.com/office/drawing/2014/main" id="{BFDA9ADA-A0B7-2E77-F35B-ADC81D32149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81861" y="3975216"/>
            <a:ext cx="191488" cy="191487"/>
          </a:xfrm>
          <a:prstGeom prst="rect">
            <a:avLst/>
          </a:prstGeom>
        </p:spPr>
      </p:pic>
    </p:spTree>
    <p:extLst>
      <p:ext uri="{BB962C8B-B14F-4D97-AF65-F5344CB8AC3E}">
        <p14:creationId xmlns:p14="http://schemas.microsoft.com/office/powerpoint/2010/main" val="3804357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21393-C286-D33C-2B34-2E290FFAACB6}"/>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EEF42E25-5D69-BC11-35FB-816F4F018BAF}"/>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3C5B7B10-FD00-E729-074A-6C3A94FDA079}"/>
              </a:ext>
            </a:extLst>
          </p:cNvPr>
          <p:cNvSpPr/>
          <p:nvPr/>
        </p:nvSpPr>
        <p:spPr>
          <a:xfrm>
            <a:off x="914400" y="457200"/>
            <a:ext cx="5654873" cy="532924"/>
          </a:xfrm>
          <a:prstGeom prst="rect">
            <a:avLst/>
          </a:prstGeom>
          <a:noFill/>
          <a:ln/>
        </p:spPr>
        <p:txBody>
          <a:bodyPr wrap="none" lIns="0" tIns="0" rIns="0" bIns="0" rtlCol="0" anchor="t"/>
          <a:lstStyle/>
          <a:p>
            <a:pPr marL="0" indent="0" algn="l">
              <a:lnSpc>
                <a:spcPts val="4150"/>
              </a:lnSpc>
              <a:buNone/>
            </a:pPr>
            <a:r>
              <a:rPr lang="en-US" sz="3350" b="1" dirty="0">
                <a:solidFill>
                  <a:srgbClr val="443728"/>
                </a:solidFill>
                <a:latin typeface="Arial" panose="020B0604020202020204" pitchFamily="34" charset="0"/>
                <a:ea typeface="Crimson Pro Bold" pitchFamily="34" charset="-122"/>
                <a:cs typeface="Arial" panose="020B0604020202020204" pitchFamily="34" charset="0"/>
              </a:rPr>
              <a:t>Vòng Đời Cache &amp; Cơ Chế Flush</a:t>
            </a:r>
            <a:endParaRPr lang="en-US" sz="3350" dirty="0">
              <a:latin typeface="Arial" panose="020B0604020202020204" pitchFamily="34" charset="0"/>
              <a:cs typeface="Arial" panose="020B0604020202020204" pitchFamily="34" charset="0"/>
            </a:endParaRPr>
          </a:p>
        </p:txBody>
      </p:sp>
      <p:sp>
        <p:nvSpPr>
          <p:cNvPr id="3" name="Shape 3">
            <a:extLst>
              <a:ext uri="{FF2B5EF4-FFF2-40B4-BE49-F238E27FC236}">
                <a16:creationId xmlns:a16="http://schemas.microsoft.com/office/drawing/2014/main" id="{0D071826-ED88-581B-2573-7368AF8C8A3F}"/>
              </a:ext>
            </a:extLst>
          </p:cNvPr>
          <p:cNvSpPr/>
          <p:nvPr/>
        </p:nvSpPr>
        <p:spPr>
          <a:xfrm>
            <a:off x="6249829" y="1165152"/>
            <a:ext cx="22860" cy="4972645"/>
          </a:xfrm>
          <a:prstGeom prst="roundRect">
            <a:avLst>
              <a:gd name="adj" fmla="val 313372"/>
            </a:avLst>
          </a:prstGeom>
          <a:solidFill>
            <a:srgbClr val="D1C8C6"/>
          </a:solidFill>
          <a:ln/>
        </p:spPr>
        <p:txBody>
          <a:bodyPr/>
          <a:lstStyle/>
          <a:p>
            <a:endParaRPr lang="en-US">
              <a:latin typeface="Arial" panose="020B0604020202020204" pitchFamily="34" charset="0"/>
              <a:cs typeface="Arial" panose="020B0604020202020204" pitchFamily="34" charset="0"/>
            </a:endParaRPr>
          </a:p>
        </p:txBody>
      </p:sp>
      <p:sp>
        <p:nvSpPr>
          <p:cNvPr id="4" name="Shape 4">
            <a:extLst>
              <a:ext uri="{FF2B5EF4-FFF2-40B4-BE49-F238E27FC236}">
                <a16:creationId xmlns:a16="http://schemas.microsoft.com/office/drawing/2014/main" id="{6C65C5DA-942C-98AA-9C7E-BCADDB79ECCC}"/>
              </a:ext>
            </a:extLst>
          </p:cNvPr>
          <p:cNvSpPr/>
          <p:nvPr/>
        </p:nvSpPr>
        <p:spPr>
          <a:xfrm>
            <a:off x="5580638" y="1345531"/>
            <a:ext cx="511612" cy="22860"/>
          </a:xfrm>
          <a:prstGeom prst="roundRect">
            <a:avLst>
              <a:gd name="adj" fmla="val 313372"/>
            </a:avLst>
          </a:prstGeom>
          <a:solidFill>
            <a:srgbClr val="D1C8C6"/>
          </a:solidFill>
          <a:ln/>
        </p:spPr>
        <p:txBody>
          <a:bodyPr/>
          <a:lstStyle/>
          <a:p>
            <a:endParaRPr lang="en-US">
              <a:latin typeface="Arial" panose="020B0604020202020204" pitchFamily="34" charset="0"/>
              <a:cs typeface="Arial" panose="020B0604020202020204" pitchFamily="34" charset="0"/>
            </a:endParaRPr>
          </a:p>
        </p:txBody>
      </p:sp>
      <p:sp>
        <p:nvSpPr>
          <p:cNvPr id="5" name="Shape 5">
            <a:extLst>
              <a:ext uri="{FF2B5EF4-FFF2-40B4-BE49-F238E27FC236}">
                <a16:creationId xmlns:a16="http://schemas.microsoft.com/office/drawing/2014/main" id="{0397167F-2E5C-AF40-4E62-53B8AB2BD7B9}"/>
              </a:ext>
            </a:extLst>
          </p:cNvPr>
          <p:cNvSpPr/>
          <p:nvPr/>
        </p:nvSpPr>
        <p:spPr>
          <a:xfrm>
            <a:off x="6069390" y="1165152"/>
            <a:ext cx="383738" cy="383738"/>
          </a:xfrm>
          <a:prstGeom prst="roundRect">
            <a:avLst>
              <a:gd name="adj" fmla="val 18668"/>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6" name="Text 6">
            <a:extLst>
              <a:ext uri="{FF2B5EF4-FFF2-40B4-BE49-F238E27FC236}">
                <a16:creationId xmlns:a16="http://schemas.microsoft.com/office/drawing/2014/main" id="{826056E1-C9A8-59CE-71F7-1F3A3192E9F6}"/>
              </a:ext>
            </a:extLst>
          </p:cNvPr>
          <p:cNvSpPr/>
          <p:nvPr/>
        </p:nvSpPr>
        <p:spPr>
          <a:xfrm>
            <a:off x="6133326" y="1197061"/>
            <a:ext cx="255746" cy="319802"/>
          </a:xfrm>
          <a:prstGeom prst="rect">
            <a:avLst/>
          </a:prstGeom>
          <a:noFill/>
          <a:ln/>
        </p:spPr>
        <p:txBody>
          <a:bodyPr wrap="none" lIns="0" tIns="0" rIns="0" bIns="0" rtlCol="0" anchor="t"/>
          <a:lstStyle/>
          <a:p>
            <a:pPr marL="0" indent="0" algn="ctr">
              <a:lnSpc>
                <a:spcPts val="2000"/>
              </a:lnSpc>
              <a:buNone/>
            </a:pPr>
            <a:r>
              <a:rPr lang="en-US" sz="2000" b="1" dirty="0">
                <a:solidFill>
                  <a:srgbClr val="443728"/>
                </a:solidFill>
                <a:latin typeface="Arial" panose="020B0604020202020204" pitchFamily="34" charset="0"/>
                <a:ea typeface="Crimson Pro Bold" pitchFamily="34" charset="-122"/>
                <a:cs typeface="Arial" panose="020B0604020202020204" pitchFamily="34" charset="0"/>
              </a:rPr>
              <a:t>1</a:t>
            </a:r>
            <a:endParaRPr lang="en-US" sz="2000" dirty="0">
              <a:latin typeface="Arial" panose="020B0604020202020204" pitchFamily="34" charset="0"/>
              <a:cs typeface="Arial" panose="020B0604020202020204" pitchFamily="34" charset="0"/>
            </a:endParaRPr>
          </a:p>
        </p:txBody>
      </p:sp>
      <p:sp>
        <p:nvSpPr>
          <p:cNvPr id="8" name="Text 7">
            <a:extLst>
              <a:ext uri="{FF2B5EF4-FFF2-40B4-BE49-F238E27FC236}">
                <a16:creationId xmlns:a16="http://schemas.microsoft.com/office/drawing/2014/main" id="{BDBA5ACA-0EE5-C9B5-369F-748991619DDA}"/>
              </a:ext>
            </a:extLst>
          </p:cNvPr>
          <p:cNvSpPr/>
          <p:nvPr/>
        </p:nvSpPr>
        <p:spPr>
          <a:xfrm>
            <a:off x="3276600" y="1223731"/>
            <a:ext cx="2131933" cy="266462"/>
          </a:xfrm>
          <a:prstGeom prst="rect">
            <a:avLst/>
          </a:prstGeom>
          <a:noFill/>
          <a:ln/>
        </p:spPr>
        <p:txBody>
          <a:bodyPr wrap="none" lIns="0" tIns="0" rIns="0" bIns="0" rtlCol="0" anchor="t"/>
          <a:lstStyle/>
          <a:p>
            <a:pPr marL="0" indent="0" algn="r">
              <a:lnSpc>
                <a:spcPts val="2050"/>
              </a:lnSpc>
              <a:buNone/>
            </a:pPr>
            <a:r>
              <a:rPr lang="en-US" sz="1650" b="1" dirty="0">
                <a:solidFill>
                  <a:srgbClr val="443728"/>
                </a:solidFill>
                <a:latin typeface="Arial" panose="020B0604020202020204" pitchFamily="34" charset="0"/>
                <a:ea typeface="Crimson Pro Bold" pitchFamily="34" charset="-122"/>
                <a:cs typeface="Arial" panose="020B0604020202020204" pitchFamily="34" charset="0"/>
              </a:rPr>
              <a:t>openSession()</a:t>
            </a:r>
            <a:endParaRPr lang="en-US" sz="1650" dirty="0">
              <a:latin typeface="Arial" panose="020B0604020202020204" pitchFamily="34" charset="0"/>
              <a:cs typeface="Arial" panose="020B0604020202020204" pitchFamily="34" charset="0"/>
            </a:endParaRPr>
          </a:p>
        </p:txBody>
      </p:sp>
      <p:sp>
        <p:nvSpPr>
          <p:cNvPr id="9" name="Text 8">
            <a:extLst>
              <a:ext uri="{FF2B5EF4-FFF2-40B4-BE49-F238E27FC236}">
                <a16:creationId xmlns:a16="http://schemas.microsoft.com/office/drawing/2014/main" id="{A2C69726-0E26-3EAC-0284-DD64FB265B6C}"/>
              </a:ext>
            </a:extLst>
          </p:cNvPr>
          <p:cNvSpPr/>
          <p:nvPr/>
        </p:nvSpPr>
        <p:spPr>
          <a:xfrm>
            <a:off x="-371713" y="1578061"/>
            <a:ext cx="5780246" cy="253722"/>
          </a:xfrm>
          <a:prstGeom prst="rect">
            <a:avLst/>
          </a:prstGeom>
          <a:noFill/>
          <a:ln/>
        </p:spPr>
        <p:txBody>
          <a:bodyPr wrap="none" lIns="0" tIns="0" rIns="0" bIns="0" rtlCol="0" anchor="t"/>
          <a:lstStyle/>
          <a:p>
            <a:pPr marL="0" indent="0" algn="r">
              <a:lnSpc>
                <a:spcPts val="1950"/>
              </a:lnSpc>
              <a:buNone/>
            </a:pPr>
            <a:r>
              <a:rPr lang="en-US" sz="1300" dirty="0">
                <a:solidFill>
                  <a:srgbClr val="443728"/>
                </a:solidFill>
                <a:latin typeface="Arial" panose="020B0604020202020204" pitchFamily="34" charset="0"/>
                <a:ea typeface="Open Sans" pitchFamily="34" charset="-122"/>
                <a:cs typeface="Arial" panose="020B0604020202020204" pitchFamily="34" charset="0"/>
              </a:rPr>
              <a:t>Session được tạo, First-Level Cache khởi tạo trống.</a:t>
            </a:r>
            <a:endParaRPr lang="en-US" sz="1300" dirty="0">
              <a:latin typeface="Arial" panose="020B0604020202020204" pitchFamily="34" charset="0"/>
              <a:cs typeface="Arial" panose="020B0604020202020204" pitchFamily="34" charset="0"/>
            </a:endParaRPr>
          </a:p>
        </p:txBody>
      </p:sp>
      <p:sp>
        <p:nvSpPr>
          <p:cNvPr id="10" name="Shape 9">
            <a:extLst>
              <a:ext uri="{FF2B5EF4-FFF2-40B4-BE49-F238E27FC236}">
                <a16:creationId xmlns:a16="http://schemas.microsoft.com/office/drawing/2014/main" id="{D892B983-7734-21DE-1537-F13530F35C2B}"/>
              </a:ext>
            </a:extLst>
          </p:cNvPr>
          <p:cNvSpPr/>
          <p:nvPr/>
        </p:nvSpPr>
        <p:spPr>
          <a:xfrm>
            <a:off x="6430268" y="2320891"/>
            <a:ext cx="511612" cy="22860"/>
          </a:xfrm>
          <a:prstGeom prst="roundRect">
            <a:avLst>
              <a:gd name="adj" fmla="val 313372"/>
            </a:avLst>
          </a:prstGeom>
          <a:solidFill>
            <a:srgbClr val="D1C8C6"/>
          </a:solidFill>
          <a:ln/>
        </p:spPr>
        <p:txBody>
          <a:bodyPr/>
          <a:lstStyle/>
          <a:p>
            <a:endParaRPr lang="en-US">
              <a:latin typeface="Arial" panose="020B0604020202020204" pitchFamily="34" charset="0"/>
              <a:cs typeface="Arial" panose="020B0604020202020204" pitchFamily="34" charset="0"/>
            </a:endParaRPr>
          </a:p>
        </p:txBody>
      </p:sp>
      <p:sp>
        <p:nvSpPr>
          <p:cNvPr id="11" name="Shape 10">
            <a:extLst>
              <a:ext uri="{FF2B5EF4-FFF2-40B4-BE49-F238E27FC236}">
                <a16:creationId xmlns:a16="http://schemas.microsoft.com/office/drawing/2014/main" id="{824A3676-667C-EEC4-27AF-43C95E58342C}"/>
              </a:ext>
            </a:extLst>
          </p:cNvPr>
          <p:cNvSpPr/>
          <p:nvPr/>
        </p:nvSpPr>
        <p:spPr>
          <a:xfrm>
            <a:off x="6069390" y="2140512"/>
            <a:ext cx="383738" cy="383738"/>
          </a:xfrm>
          <a:prstGeom prst="roundRect">
            <a:avLst>
              <a:gd name="adj" fmla="val 18668"/>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2" name="Text 11">
            <a:extLst>
              <a:ext uri="{FF2B5EF4-FFF2-40B4-BE49-F238E27FC236}">
                <a16:creationId xmlns:a16="http://schemas.microsoft.com/office/drawing/2014/main" id="{F6B71700-492D-966B-7035-7FC91C371E66}"/>
              </a:ext>
            </a:extLst>
          </p:cNvPr>
          <p:cNvSpPr/>
          <p:nvPr/>
        </p:nvSpPr>
        <p:spPr>
          <a:xfrm>
            <a:off x="6133326" y="2172420"/>
            <a:ext cx="255746" cy="319802"/>
          </a:xfrm>
          <a:prstGeom prst="rect">
            <a:avLst/>
          </a:prstGeom>
          <a:noFill/>
          <a:ln/>
        </p:spPr>
        <p:txBody>
          <a:bodyPr wrap="none" lIns="0" tIns="0" rIns="0" bIns="0" rtlCol="0" anchor="t"/>
          <a:lstStyle/>
          <a:p>
            <a:pPr marL="0" indent="0" algn="ctr">
              <a:lnSpc>
                <a:spcPts val="2000"/>
              </a:lnSpc>
              <a:buNone/>
            </a:pPr>
            <a:r>
              <a:rPr lang="en-US" sz="2000" b="1" dirty="0">
                <a:solidFill>
                  <a:srgbClr val="443728"/>
                </a:solidFill>
                <a:latin typeface="Arial" panose="020B0604020202020204" pitchFamily="34" charset="0"/>
                <a:ea typeface="Crimson Pro Bold" pitchFamily="34" charset="-122"/>
                <a:cs typeface="Arial" panose="020B0604020202020204" pitchFamily="34" charset="0"/>
              </a:rPr>
              <a:t>2</a:t>
            </a:r>
            <a:endParaRPr lang="en-US" sz="2000" dirty="0">
              <a:latin typeface="Arial" panose="020B0604020202020204" pitchFamily="34" charset="0"/>
              <a:cs typeface="Arial" panose="020B0604020202020204" pitchFamily="34" charset="0"/>
            </a:endParaRPr>
          </a:p>
        </p:txBody>
      </p:sp>
      <p:sp>
        <p:nvSpPr>
          <p:cNvPr id="13" name="Text 12">
            <a:extLst>
              <a:ext uri="{FF2B5EF4-FFF2-40B4-BE49-F238E27FC236}">
                <a16:creationId xmlns:a16="http://schemas.microsoft.com/office/drawing/2014/main" id="{39D59BC5-4FF9-EE16-B1BF-72BF1E7CD0CE}"/>
              </a:ext>
            </a:extLst>
          </p:cNvPr>
          <p:cNvSpPr/>
          <p:nvPr/>
        </p:nvSpPr>
        <p:spPr>
          <a:xfrm>
            <a:off x="7113985" y="2199091"/>
            <a:ext cx="2131933" cy="266462"/>
          </a:xfrm>
          <a:prstGeom prst="rect">
            <a:avLst/>
          </a:prstGeom>
          <a:noFill/>
          <a:ln/>
        </p:spPr>
        <p:txBody>
          <a:bodyPr wrap="none" lIns="0" tIns="0" rIns="0" bIns="0" rtlCol="0" anchor="t"/>
          <a:lstStyle/>
          <a:p>
            <a:pPr marL="0" indent="0" algn="l">
              <a:lnSpc>
                <a:spcPts val="2050"/>
              </a:lnSpc>
              <a:buNone/>
            </a:pPr>
            <a:r>
              <a:rPr lang="en-US" sz="1650" b="1" dirty="0">
                <a:solidFill>
                  <a:srgbClr val="443728"/>
                </a:solidFill>
                <a:latin typeface="Arial" panose="020B0604020202020204" pitchFamily="34" charset="0"/>
                <a:ea typeface="Crimson Pro Bold" pitchFamily="34" charset="-122"/>
                <a:cs typeface="Arial" panose="020B0604020202020204" pitchFamily="34" charset="0"/>
              </a:rPr>
              <a:t>session.get() / load()</a:t>
            </a:r>
            <a:endParaRPr lang="en-US" sz="1650" dirty="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174D8C12-99B8-3961-0A8A-93ABF6362386}"/>
              </a:ext>
            </a:extLst>
          </p:cNvPr>
          <p:cNvSpPr/>
          <p:nvPr/>
        </p:nvSpPr>
        <p:spPr>
          <a:xfrm>
            <a:off x="7113985" y="2553421"/>
            <a:ext cx="5780246" cy="507444"/>
          </a:xfrm>
          <a:prstGeom prst="rect">
            <a:avLst/>
          </a:prstGeom>
          <a:noFill/>
          <a:ln/>
        </p:spPr>
        <p:txBody>
          <a:bodyPr wrap="square" lIns="0" tIns="0" rIns="0" bIns="0" rtlCol="0" anchor="t"/>
          <a:lstStyle/>
          <a:p>
            <a:pPr marL="0" indent="0" algn="l">
              <a:lnSpc>
                <a:spcPts val="1950"/>
              </a:lnSpc>
              <a:buNone/>
            </a:pPr>
            <a:r>
              <a:rPr lang="en-US" sz="1300" dirty="0">
                <a:solidFill>
                  <a:srgbClr val="443728"/>
                </a:solidFill>
                <a:latin typeface="Arial" panose="020B0604020202020204" pitchFamily="34" charset="0"/>
                <a:ea typeface="Open Sans" pitchFamily="34" charset="-122"/>
                <a:cs typeface="Arial" panose="020B0604020202020204" pitchFamily="34" charset="0"/>
              </a:rPr>
              <a:t>Entity được tải từ DB và lưu vào cache. Các lần get() tiếp theo </a:t>
            </a:r>
            <a:r>
              <a:rPr lang="en-US" sz="1300" dirty="0" err="1">
                <a:solidFill>
                  <a:srgbClr val="443728"/>
                </a:solidFill>
                <a:latin typeface="Arial" panose="020B0604020202020204" pitchFamily="34" charset="0"/>
                <a:ea typeface="Open Sans" pitchFamily="34" charset="-122"/>
                <a:cs typeface="Arial" panose="020B0604020202020204" pitchFamily="34" charset="0"/>
              </a:rPr>
              <a:t>trả</a:t>
            </a:r>
            <a:r>
              <a:rPr lang="en-US" sz="1300" dirty="0">
                <a:solidFill>
                  <a:srgbClr val="443728"/>
                </a:solidFill>
                <a:latin typeface="Arial" panose="020B0604020202020204" pitchFamily="34" charset="0"/>
                <a:ea typeface="Open Sans" pitchFamily="34" charset="-122"/>
                <a:cs typeface="Arial" panose="020B0604020202020204" pitchFamily="34" charset="0"/>
              </a:rPr>
              <a:t> </a:t>
            </a:r>
          </a:p>
          <a:p>
            <a:pPr marL="0" indent="0" algn="l">
              <a:lnSpc>
                <a:spcPts val="1950"/>
              </a:lnSpc>
              <a:buNone/>
            </a:pPr>
            <a:r>
              <a:rPr lang="en-US" sz="1300" dirty="0" err="1">
                <a:solidFill>
                  <a:srgbClr val="443728"/>
                </a:solidFill>
                <a:latin typeface="Arial" panose="020B0604020202020204" pitchFamily="34" charset="0"/>
                <a:ea typeface="Open Sans" pitchFamily="34" charset="-122"/>
                <a:cs typeface="Arial" panose="020B0604020202020204" pitchFamily="34" charset="0"/>
              </a:rPr>
              <a:t>về</a:t>
            </a:r>
            <a:r>
              <a:rPr lang="en-US" sz="1300" dirty="0">
                <a:solidFill>
                  <a:srgbClr val="443728"/>
                </a:solidFill>
                <a:latin typeface="Arial" panose="020B0604020202020204" pitchFamily="34" charset="0"/>
                <a:ea typeface="Open Sans" pitchFamily="34" charset="-122"/>
                <a:cs typeface="Arial" panose="020B0604020202020204" pitchFamily="34" charset="0"/>
              </a:rPr>
              <a:t> từ cache.</a:t>
            </a:r>
            <a:endParaRPr lang="en-US" sz="1300" dirty="0">
              <a:latin typeface="Arial" panose="020B0604020202020204" pitchFamily="34" charset="0"/>
              <a:cs typeface="Arial" panose="020B0604020202020204" pitchFamily="34" charset="0"/>
            </a:endParaRPr>
          </a:p>
        </p:txBody>
      </p:sp>
      <p:sp>
        <p:nvSpPr>
          <p:cNvPr id="15" name="Shape 14">
            <a:extLst>
              <a:ext uri="{FF2B5EF4-FFF2-40B4-BE49-F238E27FC236}">
                <a16:creationId xmlns:a16="http://schemas.microsoft.com/office/drawing/2014/main" id="{2C98E530-E70C-A6B9-7514-B3374509804D}"/>
              </a:ext>
            </a:extLst>
          </p:cNvPr>
          <p:cNvSpPr/>
          <p:nvPr/>
        </p:nvSpPr>
        <p:spPr>
          <a:xfrm>
            <a:off x="5580638" y="3178975"/>
            <a:ext cx="511612" cy="22860"/>
          </a:xfrm>
          <a:prstGeom prst="roundRect">
            <a:avLst>
              <a:gd name="adj" fmla="val 313372"/>
            </a:avLst>
          </a:prstGeom>
          <a:solidFill>
            <a:srgbClr val="D1C8C6"/>
          </a:solidFill>
          <a:ln/>
        </p:spPr>
        <p:txBody>
          <a:bodyPr/>
          <a:lstStyle/>
          <a:p>
            <a:endParaRPr lang="en-US">
              <a:latin typeface="Arial" panose="020B0604020202020204" pitchFamily="34" charset="0"/>
              <a:cs typeface="Arial" panose="020B0604020202020204" pitchFamily="34" charset="0"/>
            </a:endParaRPr>
          </a:p>
        </p:txBody>
      </p:sp>
      <p:sp>
        <p:nvSpPr>
          <p:cNvPr id="16" name="Shape 15">
            <a:extLst>
              <a:ext uri="{FF2B5EF4-FFF2-40B4-BE49-F238E27FC236}">
                <a16:creationId xmlns:a16="http://schemas.microsoft.com/office/drawing/2014/main" id="{3F239850-FDDD-C146-CCE2-CFD82B04B43D}"/>
              </a:ext>
            </a:extLst>
          </p:cNvPr>
          <p:cNvSpPr/>
          <p:nvPr/>
        </p:nvSpPr>
        <p:spPr>
          <a:xfrm>
            <a:off x="6069390" y="2998595"/>
            <a:ext cx="383738" cy="383738"/>
          </a:xfrm>
          <a:prstGeom prst="roundRect">
            <a:avLst>
              <a:gd name="adj" fmla="val 18668"/>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7" name="Text 16">
            <a:extLst>
              <a:ext uri="{FF2B5EF4-FFF2-40B4-BE49-F238E27FC236}">
                <a16:creationId xmlns:a16="http://schemas.microsoft.com/office/drawing/2014/main" id="{DDC80AC8-7186-0FB1-E5DD-430060286B14}"/>
              </a:ext>
            </a:extLst>
          </p:cNvPr>
          <p:cNvSpPr/>
          <p:nvPr/>
        </p:nvSpPr>
        <p:spPr>
          <a:xfrm>
            <a:off x="6133326" y="3030504"/>
            <a:ext cx="255746" cy="319802"/>
          </a:xfrm>
          <a:prstGeom prst="rect">
            <a:avLst/>
          </a:prstGeom>
          <a:noFill/>
          <a:ln/>
        </p:spPr>
        <p:txBody>
          <a:bodyPr wrap="none" lIns="0" tIns="0" rIns="0" bIns="0" rtlCol="0" anchor="t"/>
          <a:lstStyle/>
          <a:p>
            <a:pPr marL="0" indent="0" algn="ctr">
              <a:lnSpc>
                <a:spcPts val="2000"/>
              </a:lnSpc>
              <a:buNone/>
            </a:pPr>
            <a:r>
              <a:rPr lang="en-US" sz="2000" b="1" dirty="0">
                <a:solidFill>
                  <a:srgbClr val="443728"/>
                </a:solidFill>
                <a:latin typeface="Arial" panose="020B0604020202020204" pitchFamily="34" charset="0"/>
                <a:ea typeface="Crimson Pro Bold" pitchFamily="34" charset="-122"/>
                <a:cs typeface="Arial" panose="020B0604020202020204" pitchFamily="34" charset="0"/>
              </a:rPr>
              <a:t>3</a:t>
            </a:r>
            <a:endParaRPr lang="en-US" sz="2000" dirty="0">
              <a:latin typeface="Arial" panose="020B0604020202020204" pitchFamily="34" charset="0"/>
              <a:cs typeface="Arial" panose="020B0604020202020204" pitchFamily="34" charset="0"/>
            </a:endParaRPr>
          </a:p>
        </p:txBody>
      </p:sp>
      <p:sp>
        <p:nvSpPr>
          <p:cNvPr id="18" name="Text 17">
            <a:extLst>
              <a:ext uri="{FF2B5EF4-FFF2-40B4-BE49-F238E27FC236}">
                <a16:creationId xmlns:a16="http://schemas.microsoft.com/office/drawing/2014/main" id="{FC2ED879-91B8-89B2-F4C9-80B4AAD0DBB5}"/>
              </a:ext>
            </a:extLst>
          </p:cNvPr>
          <p:cNvSpPr/>
          <p:nvPr/>
        </p:nvSpPr>
        <p:spPr>
          <a:xfrm>
            <a:off x="3276600" y="3057174"/>
            <a:ext cx="2131933" cy="266462"/>
          </a:xfrm>
          <a:prstGeom prst="rect">
            <a:avLst/>
          </a:prstGeom>
          <a:noFill/>
          <a:ln/>
        </p:spPr>
        <p:txBody>
          <a:bodyPr wrap="none" lIns="0" tIns="0" rIns="0" bIns="0" rtlCol="0" anchor="t"/>
          <a:lstStyle/>
          <a:p>
            <a:pPr marL="0" indent="0" algn="r">
              <a:lnSpc>
                <a:spcPts val="2050"/>
              </a:lnSpc>
              <a:buNone/>
            </a:pPr>
            <a:r>
              <a:rPr lang="en-US" sz="1650" b="1" dirty="0">
                <a:solidFill>
                  <a:srgbClr val="443728"/>
                </a:solidFill>
                <a:latin typeface="Arial" panose="020B0604020202020204" pitchFamily="34" charset="0"/>
                <a:ea typeface="Crimson Pro Bold" pitchFamily="34" charset="-122"/>
                <a:cs typeface="Arial" panose="020B0604020202020204" pitchFamily="34" charset="0"/>
              </a:rPr>
              <a:t>Thay đổi Entity</a:t>
            </a:r>
            <a:endParaRPr lang="en-US" sz="1650" dirty="0">
              <a:latin typeface="Arial" panose="020B0604020202020204" pitchFamily="34" charset="0"/>
              <a:cs typeface="Arial" panose="020B0604020202020204" pitchFamily="34" charset="0"/>
            </a:endParaRPr>
          </a:p>
        </p:txBody>
      </p:sp>
      <p:sp>
        <p:nvSpPr>
          <p:cNvPr id="19" name="Text 18">
            <a:extLst>
              <a:ext uri="{FF2B5EF4-FFF2-40B4-BE49-F238E27FC236}">
                <a16:creationId xmlns:a16="http://schemas.microsoft.com/office/drawing/2014/main" id="{6F4B2233-A879-CDB0-A356-90F687210E9E}"/>
              </a:ext>
            </a:extLst>
          </p:cNvPr>
          <p:cNvSpPr/>
          <p:nvPr/>
        </p:nvSpPr>
        <p:spPr>
          <a:xfrm>
            <a:off x="-371713" y="3411504"/>
            <a:ext cx="5780246" cy="253722"/>
          </a:xfrm>
          <a:prstGeom prst="rect">
            <a:avLst/>
          </a:prstGeom>
          <a:noFill/>
          <a:ln/>
        </p:spPr>
        <p:txBody>
          <a:bodyPr wrap="none" lIns="0" tIns="0" rIns="0" bIns="0" rtlCol="0" anchor="t"/>
          <a:lstStyle/>
          <a:p>
            <a:pPr marL="0" indent="0" algn="r">
              <a:lnSpc>
                <a:spcPts val="1950"/>
              </a:lnSpc>
              <a:buNone/>
            </a:pPr>
            <a:r>
              <a:rPr lang="en-US" sz="1300" dirty="0">
                <a:solidFill>
                  <a:srgbClr val="443728"/>
                </a:solidFill>
                <a:latin typeface="Arial" panose="020B0604020202020204" pitchFamily="34" charset="0"/>
                <a:ea typeface="Open Sans" pitchFamily="34" charset="-122"/>
                <a:cs typeface="Arial" panose="020B0604020202020204" pitchFamily="34" charset="0"/>
              </a:rPr>
              <a:t>Hibernate đánh dấu entity là </a:t>
            </a:r>
            <a:r>
              <a:rPr lang="en-US" sz="1300" b="1" dirty="0">
                <a:solidFill>
                  <a:srgbClr val="443728"/>
                </a:solidFill>
                <a:latin typeface="Arial" panose="020B0604020202020204" pitchFamily="34" charset="0"/>
                <a:ea typeface="Open Sans" pitchFamily="34" charset="-122"/>
                <a:cs typeface="Arial" panose="020B0604020202020204" pitchFamily="34" charset="0"/>
              </a:rPr>
              <a:t>"dirty"</a:t>
            </a:r>
            <a:r>
              <a:rPr lang="en-US" sz="1300" dirty="0">
                <a:solidFill>
                  <a:srgbClr val="443728"/>
                </a:solidFill>
                <a:latin typeface="Arial" panose="020B0604020202020204" pitchFamily="34" charset="0"/>
                <a:ea typeface="Open Sans" pitchFamily="34" charset="-122"/>
                <a:cs typeface="Arial" panose="020B0604020202020204" pitchFamily="34" charset="0"/>
              </a:rPr>
              <a:t> — cần được đồng bộ với DB.</a:t>
            </a:r>
            <a:endParaRPr lang="en-US" sz="1300" dirty="0">
              <a:latin typeface="Arial" panose="020B0604020202020204" pitchFamily="34" charset="0"/>
              <a:cs typeface="Arial" panose="020B0604020202020204" pitchFamily="34" charset="0"/>
            </a:endParaRPr>
          </a:p>
        </p:txBody>
      </p:sp>
      <p:sp>
        <p:nvSpPr>
          <p:cNvPr id="20" name="Shape 19">
            <a:extLst>
              <a:ext uri="{FF2B5EF4-FFF2-40B4-BE49-F238E27FC236}">
                <a16:creationId xmlns:a16="http://schemas.microsoft.com/office/drawing/2014/main" id="{1A470E03-57B2-0543-03DB-540BAB20EC5F}"/>
              </a:ext>
            </a:extLst>
          </p:cNvPr>
          <p:cNvSpPr/>
          <p:nvPr/>
        </p:nvSpPr>
        <p:spPr>
          <a:xfrm>
            <a:off x="6430268" y="4037058"/>
            <a:ext cx="511612" cy="22860"/>
          </a:xfrm>
          <a:prstGeom prst="roundRect">
            <a:avLst>
              <a:gd name="adj" fmla="val 313372"/>
            </a:avLst>
          </a:prstGeom>
          <a:solidFill>
            <a:srgbClr val="D1C8C6"/>
          </a:solidFill>
          <a:ln/>
        </p:spPr>
        <p:txBody>
          <a:bodyPr/>
          <a:lstStyle/>
          <a:p>
            <a:endParaRPr lang="en-US">
              <a:latin typeface="Arial" panose="020B0604020202020204" pitchFamily="34" charset="0"/>
              <a:cs typeface="Arial" panose="020B0604020202020204" pitchFamily="34" charset="0"/>
            </a:endParaRPr>
          </a:p>
        </p:txBody>
      </p:sp>
      <p:sp>
        <p:nvSpPr>
          <p:cNvPr id="21" name="Shape 20">
            <a:extLst>
              <a:ext uri="{FF2B5EF4-FFF2-40B4-BE49-F238E27FC236}">
                <a16:creationId xmlns:a16="http://schemas.microsoft.com/office/drawing/2014/main" id="{C5FFFB11-E0C0-3ED5-441C-86A056886F1F}"/>
              </a:ext>
            </a:extLst>
          </p:cNvPr>
          <p:cNvSpPr/>
          <p:nvPr/>
        </p:nvSpPr>
        <p:spPr>
          <a:xfrm>
            <a:off x="6069390" y="3856679"/>
            <a:ext cx="383738" cy="383738"/>
          </a:xfrm>
          <a:prstGeom prst="roundRect">
            <a:avLst>
              <a:gd name="adj" fmla="val 18668"/>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22" name="Text 21">
            <a:extLst>
              <a:ext uri="{FF2B5EF4-FFF2-40B4-BE49-F238E27FC236}">
                <a16:creationId xmlns:a16="http://schemas.microsoft.com/office/drawing/2014/main" id="{DEA4CCBD-DDB9-A4BE-C175-96B883A7D7FA}"/>
              </a:ext>
            </a:extLst>
          </p:cNvPr>
          <p:cNvSpPr/>
          <p:nvPr/>
        </p:nvSpPr>
        <p:spPr>
          <a:xfrm>
            <a:off x="6133326" y="3888587"/>
            <a:ext cx="255746" cy="319802"/>
          </a:xfrm>
          <a:prstGeom prst="rect">
            <a:avLst/>
          </a:prstGeom>
          <a:noFill/>
          <a:ln/>
        </p:spPr>
        <p:txBody>
          <a:bodyPr wrap="none" lIns="0" tIns="0" rIns="0" bIns="0" rtlCol="0" anchor="t"/>
          <a:lstStyle/>
          <a:p>
            <a:pPr marL="0" indent="0" algn="ctr">
              <a:lnSpc>
                <a:spcPts val="2000"/>
              </a:lnSpc>
              <a:buNone/>
            </a:pPr>
            <a:r>
              <a:rPr lang="en-US" sz="2000" b="1" dirty="0">
                <a:solidFill>
                  <a:srgbClr val="443728"/>
                </a:solidFill>
                <a:latin typeface="Arial" panose="020B0604020202020204" pitchFamily="34" charset="0"/>
                <a:ea typeface="Crimson Pro Bold" pitchFamily="34" charset="-122"/>
                <a:cs typeface="Arial" panose="020B0604020202020204" pitchFamily="34" charset="0"/>
              </a:rPr>
              <a:t>4</a:t>
            </a:r>
            <a:endParaRPr lang="en-US" sz="2000" dirty="0">
              <a:latin typeface="Arial" panose="020B0604020202020204" pitchFamily="34" charset="0"/>
              <a:cs typeface="Arial" panose="020B0604020202020204" pitchFamily="34" charset="0"/>
            </a:endParaRPr>
          </a:p>
        </p:txBody>
      </p:sp>
      <p:sp>
        <p:nvSpPr>
          <p:cNvPr id="23" name="Text 22">
            <a:extLst>
              <a:ext uri="{FF2B5EF4-FFF2-40B4-BE49-F238E27FC236}">
                <a16:creationId xmlns:a16="http://schemas.microsoft.com/office/drawing/2014/main" id="{A7527BD0-2023-5094-EBC1-4C410B5CE2A4}"/>
              </a:ext>
            </a:extLst>
          </p:cNvPr>
          <p:cNvSpPr/>
          <p:nvPr/>
        </p:nvSpPr>
        <p:spPr>
          <a:xfrm>
            <a:off x="7113985" y="3915257"/>
            <a:ext cx="2131933" cy="266462"/>
          </a:xfrm>
          <a:prstGeom prst="rect">
            <a:avLst/>
          </a:prstGeom>
          <a:noFill/>
          <a:ln/>
        </p:spPr>
        <p:txBody>
          <a:bodyPr wrap="none" lIns="0" tIns="0" rIns="0" bIns="0" rtlCol="0" anchor="t"/>
          <a:lstStyle/>
          <a:p>
            <a:pPr marL="0" indent="0" algn="l">
              <a:lnSpc>
                <a:spcPts val="2050"/>
              </a:lnSpc>
              <a:buNone/>
            </a:pPr>
            <a:r>
              <a:rPr lang="en-US" sz="1650" b="1" dirty="0">
                <a:solidFill>
                  <a:srgbClr val="443728"/>
                </a:solidFill>
                <a:latin typeface="Arial" panose="020B0604020202020204" pitchFamily="34" charset="0"/>
                <a:ea typeface="Crimson Pro Bold" pitchFamily="34" charset="-122"/>
                <a:cs typeface="Arial" panose="020B0604020202020204" pitchFamily="34" charset="0"/>
              </a:rPr>
              <a:t>Flush</a:t>
            </a:r>
            <a:endParaRPr lang="en-US" sz="1650" dirty="0">
              <a:latin typeface="Arial" panose="020B0604020202020204" pitchFamily="34" charset="0"/>
              <a:cs typeface="Arial" panose="020B0604020202020204" pitchFamily="34" charset="0"/>
            </a:endParaRPr>
          </a:p>
        </p:txBody>
      </p:sp>
      <p:sp>
        <p:nvSpPr>
          <p:cNvPr id="24" name="Text 23">
            <a:extLst>
              <a:ext uri="{FF2B5EF4-FFF2-40B4-BE49-F238E27FC236}">
                <a16:creationId xmlns:a16="http://schemas.microsoft.com/office/drawing/2014/main" id="{320564AE-8806-2C3B-2391-AEDDC1195A8C}"/>
              </a:ext>
            </a:extLst>
          </p:cNvPr>
          <p:cNvSpPr/>
          <p:nvPr/>
        </p:nvSpPr>
        <p:spPr>
          <a:xfrm>
            <a:off x="7113985" y="4269587"/>
            <a:ext cx="5780246" cy="507444"/>
          </a:xfrm>
          <a:prstGeom prst="rect">
            <a:avLst/>
          </a:prstGeom>
          <a:noFill/>
          <a:ln/>
        </p:spPr>
        <p:txBody>
          <a:bodyPr wrap="square" lIns="0" tIns="0" rIns="0" bIns="0" rtlCol="0" anchor="t"/>
          <a:lstStyle/>
          <a:p>
            <a:pPr marL="0" indent="0" algn="l">
              <a:lnSpc>
                <a:spcPts val="1950"/>
              </a:lnSpc>
              <a:buNone/>
            </a:pPr>
            <a:r>
              <a:rPr lang="en-US" sz="1300" dirty="0">
                <a:solidFill>
                  <a:srgbClr val="443728"/>
                </a:solidFill>
                <a:latin typeface="Arial" panose="020B0604020202020204" pitchFamily="34" charset="0"/>
                <a:ea typeface="Open Sans" pitchFamily="34" charset="-122"/>
                <a:cs typeface="Arial" panose="020B0604020202020204" pitchFamily="34" charset="0"/>
              </a:rPr>
              <a:t>Hibernate so sánh trạng thái hiện tại với snapshot ban đầu, </a:t>
            </a:r>
            <a:r>
              <a:rPr lang="en-US" sz="1300" dirty="0" err="1">
                <a:solidFill>
                  <a:srgbClr val="443728"/>
                </a:solidFill>
                <a:latin typeface="Arial" panose="020B0604020202020204" pitchFamily="34" charset="0"/>
                <a:ea typeface="Open Sans" pitchFamily="34" charset="-122"/>
                <a:cs typeface="Arial" panose="020B0604020202020204" pitchFamily="34" charset="0"/>
              </a:rPr>
              <a:t>sinh</a:t>
            </a:r>
            <a:r>
              <a:rPr lang="en-US" sz="1300" dirty="0">
                <a:solidFill>
                  <a:srgbClr val="443728"/>
                </a:solidFill>
                <a:latin typeface="Arial" panose="020B0604020202020204" pitchFamily="34" charset="0"/>
                <a:ea typeface="Open Sans" pitchFamily="34" charset="-122"/>
                <a:cs typeface="Arial" panose="020B0604020202020204" pitchFamily="34" charset="0"/>
              </a:rPr>
              <a:t> </a:t>
            </a:r>
          </a:p>
          <a:p>
            <a:pPr marL="0" indent="0" algn="l">
              <a:lnSpc>
                <a:spcPts val="1950"/>
              </a:lnSpc>
              <a:buNone/>
            </a:pPr>
            <a:r>
              <a:rPr lang="en-US" sz="1300" dirty="0" err="1">
                <a:solidFill>
                  <a:srgbClr val="443728"/>
                </a:solidFill>
                <a:latin typeface="Arial" panose="020B0604020202020204" pitchFamily="34" charset="0"/>
                <a:ea typeface="Open Sans" pitchFamily="34" charset="-122"/>
                <a:cs typeface="Arial" panose="020B0604020202020204" pitchFamily="34" charset="0"/>
              </a:rPr>
              <a:t>câu</a:t>
            </a:r>
            <a:r>
              <a:rPr lang="en-US" sz="1300" dirty="0">
                <a:solidFill>
                  <a:srgbClr val="443728"/>
                </a:solidFill>
                <a:latin typeface="Arial" panose="020B0604020202020204" pitchFamily="34" charset="0"/>
                <a:ea typeface="Open Sans" pitchFamily="34" charset="-122"/>
                <a:cs typeface="Arial" panose="020B0604020202020204" pitchFamily="34" charset="0"/>
              </a:rPr>
              <a:t> SQL UPDATE cần thiết.</a:t>
            </a:r>
            <a:endParaRPr lang="en-US" sz="1300" dirty="0">
              <a:latin typeface="Arial" panose="020B0604020202020204" pitchFamily="34" charset="0"/>
              <a:cs typeface="Arial" panose="020B0604020202020204" pitchFamily="34" charset="0"/>
            </a:endParaRPr>
          </a:p>
        </p:txBody>
      </p:sp>
      <p:sp>
        <p:nvSpPr>
          <p:cNvPr id="25" name="Shape 24">
            <a:extLst>
              <a:ext uri="{FF2B5EF4-FFF2-40B4-BE49-F238E27FC236}">
                <a16:creationId xmlns:a16="http://schemas.microsoft.com/office/drawing/2014/main" id="{CDE0250F-300B-3F76-995A-A4E90B5BB9D9}"/>
              </a:ext>
            </a:extLst>
          </p:cNvPr>
          <p:cNvSpPr/>
          <p:nvPr/>
        </p:nvSpPr>
        <p:spPr>
          <a:xfrm>
            <a:off x="5580638" y="4895142"/>
            <a:ext cx="511612" cy="22860"/>
          </a:xfrm>
          <a:prstGeom prst="roundRect">
            <a:avLst>
              <a:gd name="adj" fmla="val 313372"/>
            </a:avLst>
          </a:prstGeom>
          <a:solidFill>
            <a:srgbClr val="D1C8C6"/>
          </a:solidFill>
          <a:ln/>
        </p:spPr>
        <p:txBody>
          <a:bodyPr/>
          <a:lstStyle/>
          <a:p>
            <a:endParaRPr lang="en-US">
              <a:latin typeface="Arial" panose="020B0604020202020204" pitchFamily="34" charset="0"/>
              <a:cs typeface="Arial" panose="020B0604020202020204" pitchFamily="34" charset="0"/>
            </a:endParaRPr>
          </a:p>
        </p:txBody>
      </p:sp>
      <p:sp>
        <p:nvSpPr>
          <p:cNvPr id="26" name="Shape 25">
            <a:extLst>
              <a:ext uri="{FF2B5EF4-FFF2-40B4-BE49-F238E27FC236}">
                <a16:creationId xmlns:a16="http://schemas.microsoft.com/office/drawing/2014/main" id="{22B93ACA-1510-E82E-3B4B-C34A0FD2C86A}"/>
              </a:ext>
            </a:extLst>
          </p:cNvPr>
          <p:cNvSpPr/>
          <p:nvPr/>
        </p:nvSpPr>
        <p:spPr>
          <a:xfrm>
            <a:off x="6069390" y="4714762"/>
            <a:ext cx="383738" cy="383738"/>
          </a:xfrm>
          <a:prstGeom prst="roundRect">
            <a:avLst>
              <a:gd name="adj" fmla="val 18668"/>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27" name="Text 26">
            <a:extLst>
              <a:ext uri="{FF2B5EF4-FFF2-40B4-BE49-F238E27FC236}">
                <a16:creationId xmlns:a16="http://schemas.microsoft.com/office/drawing/2014/main" id="{CD936683-7431-BAAA-A1CA-BEB853F28A24}"/>
              </a:ext>
            </a:extLst>
          </p:cNvPr>
          <p:cNvSpPr/>
          <p:nvPr/>
        </p:nvSpPr>
        <p:spPr>
          <a:xfrm>
            <a:off x="6133326" y="4746671"/>
            <a:ext cx="255746" cy="319802"/>
          </a:xfrm>
          <a:prstGeom prst="rect">
            <a:avLst/>
          </a:prstGeom>
          <a:noFill/>
          <a:ln/>
        </p:spPr>
        <p:txBody>
          <a:bodyPr wrap="none" lIns="0" tIns="0" rIns="0" bIns="0" rtlCol="0" anchor="t"/>
          <a:lstStyle/>
          <a:p>
            <a:pPr marL="0" indent="0" algn="ctr">
              <a:lnSpc>
                <a:spcPts val="2000"/>
              </a:lnSpc>
              <a:buNone/>
            </a:pPr>
            <a:r>
              <a:rPr lang="en-US" sz="2000" b="1" dirty="0">
                <a:solidFill>
                  <a:srgbClr val="443728"/>
                </a:solidFill>
                <a:latin typeface="Arial" panose="020B0604020202020204" pitchFamily="34" charset="0"/>
                <a:ea typeface="Crimson Pro Bold" pitchFamily="34" charset="-122"/>
                <a:cs typeface="Arial" panose="020B0604020202020204" pitchFamily="34" charset="0"/>
              </a:rPr>
              <a:t>5</a:t>
            </a:r>
            <a:endParaRPr lang="en-US" sz="2000" dirty="0">
              <a:latin typeface="Arial" panose="020B0604020202020204" pitchFamily="34" charset="0"/>
              <a:cs typeface="Arial" panose="020B0604020202020204" pitchFamily="34" charset="0"/>
            </a:endParaRPr>
          </a:p>
        </p:txBody>
      </p:sp>
      <p:sp>
        <p:nvSpPr>
          <p:cNvPr id="28" name="Text 27">
            <a:extLst>
              <a:ext uri="{FF2B5EF4-FFF2-40B4-BE49-F238E27FC236}">
                <a16:creationId xmlns:a16="http://schemas.microsoft.com/office/drawing/2014/main" id="{E0CF47E5-F2A0-A26D-2693-E56500D4584A}"/>
              </a:ext>
            </a:extLst>
          </p:cNvPr>
          <p:cNvSpPr/>
          <p:nvPr/>
        </p:nvSpPr>
        <p:spPr>
          <a:xfrm>
            <a:off x="3276600" y="4773341"/>
            <a:ext cx="2131933" cy="266462"/>
          </a:xfrm>
          <a:prstGeom prst="rect">
            <a:avLst/>
          </a:prstGeom>
          <a:noFill/>
          <a:ln/>
        </p:spPr>
        <p:txBody>
          <a:bodyPr wrap="none" lIns="0" tIns="0" rIns="0" bIns="0" rtlCol="0" anchor="t"/>
          <a:lstStyle/>
          <a:p>
            <a:pPr marL="0" indent="0" algn="r">
              <a:lnSpc>
                <a:spcPts val="2050"/>
              </a:lnSpc>
              <a:buNone/>
            </a:pPr>
            <a:r>
              <a:rPr lang="en-US" sz="1650" b="1" dirty="0">
                <a:solidFill>
                  <a:srgbClr val="443728"/>
                </a:solidFill>
                <a:latin typeface="Arial" panose="020B0604020202020204" pitchFamily="34" charset="0"/>
                <a:ea typeface="Crimson Pro Bold" pitchFamily="34" charset="-122"/>
                <a:cs typeface="Arial" panose="020B0604020202020204" pitchFamily="34" charset="0"/>
              </a:rPr>
              <a:t>commit() / close()</a:t>
            </a:r>
            <a:endParaRPr lang="en-US" sz="1650" dirty="0">
              <a:latin typeface="Arial" panose="020B0604020202020204" pitchFamily="34" charset="0"/>
              <a:cs typeface="Arial" panose="020B0604020202020204" pitchFamily="34" charset="0"/>
            </a:endParaRPr>
          </a:p>
        </p:txBody>
      </p:sp>
      <p:sp>
        <p:nvSpPr>
          <p:cNvPr id="29" name="Text 28">
            <a:extLst>
              <a:ext uri="{FF2B5EF4-FFF2-40B4-BE49-F238E27FC236}">
                <a16:creationId xmlns:a16="http://schemas.microsoft.com/office/drawing/2014/main" id="{B0999862-F6CB-E6D3-4E36-6AD8484CA07D}"/>
              </a:ext>
            </a:extLst>
          </p:cNvPr>
          <p:cNvSpPr/>
          <p:nvPr/>
        </p:nvSpPr>
        <p:spPr>
          <a:xfrm>
            <a:off x="-371713" y="5127671"/>
            <a:ext cx="5780246" cy="507444"/>
          </a:xfrm>
          <a:prstGeom prst="rect">
            <a:avLst/>
          </a:prstGeom>
          <a:noFill/>
          <a:ln/>
        </p:spPr>
        <p:txBody>
          <a:bodyPr wrap="square" lIns="0" tIns="0" rIns="0" bIns="0" rtlCol="0" anchor="t"/>
          <a:lstStyle/>
          <a:p>
            <a:pPr marL="0" indent="0" algn="r">
              <a:lnSpc>
                <a:spcPts val="1950"/>
              </a:lnSpc>
              <a:buNone/>
            </a:pPr>
            <a:r>
              <a:rPr lang="en-US" sz="1300" dirty="0">
                <a:solidFill>
                  <a:srgbClr val="443728"/>
                </a:solidFill>
                <a:latin typeface="Arial" panose="020B0604020202020204" pitchFamily="34" charset="0"/>
                <a:ea typeface="Open Sans" pitchFamily="34" charset="-122"/>
                <a:cs typeface="Arial" panose="020B0604020202020204" pitchFamily="34" charset="0"/>
              </a:rPr>
              <a:t>Transaction commit, SQL được thực thi. Session đóng, cache </a:t>
            </a:r>
            <a:r>
              <a:rPr lang="en-US" sz="1300" dirty="0" err="1">
                <a:solidFill>
                  <a:srgbClr val="443728"/>
                </a:solidFill>
                <a:latin typeface="Arial" panose="020B0604020202020204" pitchFamily="34" charset="0"/>
                <a:ea typeface="Open Sans" pitchFamily="34" charset="-122"/>
                <a:cs typeface="Arial" panose="020B0604020202020204" pitchFamily="34" charset="0"/>
              </a:rPr>
              <a:t>bị</a:t>
            </a:r>
            <a:r>
              <a:rPr lang="en-US" sz="1300" dirty="0">
                <a:solidFill>
                  <a:srgbClr val="443728"/>
                </a:solidFill>
                <a:latin typeface="Arial" panose="020B0604020202020204" pitchFamily="34" charset="0"/>
                <a:ea typeface="Open Sans" pitchFamily="34" charset="-122"/>
                <a:cs typeface="Arial" panose="020B0604020202020204" pitchFamily="34" charset="0"/>
              </a:rPr>
              <a:t> </a:t>
            </a:r>
          </a:p>
          <a:p>
            <a:pPr marL="0" indent="0" algn="r">
              <a:lnSpc>
                <a:spcPts val="1950"/>
              </a:lnSpc>
              <a:buNone/>
            </a:pPr>
            <a:r>
              <a:rPr lang="en-US" sz="1300" dirty="0" err="1">
                <a:solidFill>
                  <a:srgbClr val="443728"/>
                </a:solidFill>
                <a:latin typeface="Arial" panose="020B0604020202020204" pitchFamily="34" charset="0"/>
                <a:ea typeface="Open Sans" pitchFamily="34" charset="-122"/>
                <a:cs typeface="Arial" panose="020B0604020202020204" pitchFamily="34" charset="0"/>
              </a:rPr>
              <a:t>hủy</a:t>
            </a:r>
            <a:r>
              <a:rPr lang="en-US" sz="1300" dirty="0">
                <a:solidFill>
                  <a:srgbClr val="443728"/>
                </a:solidFill>
                <a:latin typeface="Arial" panose="020B0604020202020204" pitchFamily="34" charset="0"/>
                <a:ea typeface="Open Sans" pitchFamily="34" charset="-122"/>
                <a:cs typeface="Arial" panose="020B0604020202020204" pitchFamily="34" charset="0"/>
              </a:rPr>
              <a:t> hoàn toàn.</a:t>
            </a:r>
            <a:endParaRPr lang="en-US" sz="13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0670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60793-290C-9887-2601-AB8F79895A60}"/>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C2A9DC5A-FB77-F864-8F4F-BE09213DA0CD}"/>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89FB6E13-5754-C4AE-61AD-4CFC716B2B75}"/>
              </a:ext>
            </a:extLst>
          </p:cNvPr>
          <p:cNvSpPr/>
          <p:nvPr/>
        </p:nvSpPr>
        <p:spPr>
          <a:xfrm>
            <a:off x="838200" y="457200"/>
            <a:ext cx="9067799" cy="581382"/>
          </a:xfrm>
          <a:prstGeom prst="rect">
            <a:avLst/>
          </a:prstGeom>
          <a:noFill/>
          <a:ln/>
        </p:spPr>
        <p:txBody>
          <a:bodyPr wrap="none" lIns="0" tIns="0" rIns="0" bIns="0" rtlCol="0" anchor="t"/>
          <a:lstStyle/>
          <a:p>
            <a:pPr marL="0" indent="0" algn="l">
              <a:lnSpc>
                <a:spcPts val="4550"/>
              </a:lnSpc>
              <a:buNone/>
            </a:pPr>
            <a:r>
              <a:rPr lang="en-US" sz="2800" b="1" dirty="0">
                <a:solidFill>
                  <a:srgbClr val="443728"/>
                </a:solidFill>
                <a:latin typeface="Arial" panose="020B0604020202020204" pitchFamily="34" charset="0"/>
                <a:ea typeface="Crimson Pro Bold" pitchFamily="34" charset="-122"/>
                <a:cs typeface="Arial" panose="020B0604020202020204" pitchFamily="34" charset="0"/>
              </a:rPr>
              <a:t>Transaction Propagation — Lan Truyền Transaction</a:t>
            </a:r>
            <a:endParaRPr lang="en-US" sz="2800" dirty="0">
              <a:latin typeface="Arial" panose="020B0604020202020204" pitchFamily="34" charset="0"/>
              <a:cs typeface="Arial" panose="020B0604020202020204" pitchFamily="34" charset="0"/>
            </a:endParaRPr>
          </a:p>
        </p:txBody>
      </p:sp>
      <p:sp>
        <p:nvSpPr>
          <p:cNvPr id="3" name="Text 3">
            <a:extLst>
              <a:ext uri="{FF2B5EF4-FFF2-40B4-BE49-F238E27FC236}">
                <a16:creationId xmlns:a16="http://schemas.microsoft.com/office/drawing/2014/main" id="{9A548EF6-A579-45B1-7190-3C1A60E68478}"/>
              </a:ext>
            </a:extLst>
          </p:cNvPr>
          <p:cNvSpPr/>
          <p:nvPr/>
        </p:nvSpPr>
        <p:spPr>
          <a:xfrm>
            <a:off x="3048000" y="1566386"/>
            <a:ext cx="2689622" cy="290632"/>
          </a:xfrm>
          <a:prstGeom prst="rect">
            <a:avLst/>
          </a:prstGeom>
          <a:noFill/>
          <a:ln/>
        </p:spPr>
        <p:txBody>
          <a:bodyPr wrap="none" lIns="0" tIns="0" rIns="0" bIns="0" rtlCol="0" anchor="t"/>
          <a:lstStyle/>
          <a:p>
            <a:pPr marL="0" indent="0" algn="l">
              <a:lnSpc>
                <a:spcPts val="2250"/>
              </a:lnSpc>
              <a:buNone/>
            </a:pPr>
            <a:r>
              <a:rPr lang="en-US" sz="1800" b="1" dirty="0">
                <a:solidFill>
                  <a:srgbClr val="443728"/>
                </a:solidFill>
                <a:latin typeface="Arial" panose="020B0604020202020204" pitchFamily="34" charset="0"/>
                <a:ea typeface="Crimson Pro Bold" pitchFamily="34" charset="-122"/>
                <a:cs typeface="Arial" panose="020B0604020202020204" pitchFamily="34" charset="0"/>
              </a:rPr>
              <a:t>Vấn đề khi Service gọi nhau</a:t>
            </a:r>
            <a:endParaRPr lang="en-US" sz="1800" dirty="0">
              <a:latin typeface="Arial" panose="020B0604020202020204" pitchFamily="34" charset="0"/>
              <a:cs typeface="Arial" panose="020B0604020202020204" pitchFamily="34" charset="0"/>
            </a:endParaRPr>
          </a:p>
        </p:txBody>
      </p:sp>
      <p:sp>
        <p:nvSpPr>
          <p:cNvPr id="4" name="Text 4">
            <a:extLst>
              <a:ext uri="{FF2B5EF4-FFF2-40B4-BE49-F238E27FC236}">
                <a16:creationId xmlns:a16="http://schemas.microsoft.com/office/drawing/2014/main" id="{15B04198-5837-E244-2A5F-01CF62AA775C}"/>
              </a:ext>
            </a:extLst>
          </p:cNvPr>
          <p:cNvSpPr/>
          <p:nvPr/>
        </p:nvSpPr>
        <p:spPr>
          <a:xfrm>
            <a:off x="3048000" y="2031444"/>
            <a:ext cx="6344007" cy="865108"/>
          </a:xfrm>
          <a:prstGeom prst="rect">
            <a:avLst/>
          </a:prstGeom>
          <a:noFill/>
          <a:ln/>
        </p:spPr>
        <p:txBody>
          <a:bodyPr wrap="square" lIns="0" tIns="0" rIns="0" bIns="0" rtlCol="0" anchor="t"/>
          <a:lstStyle/>
          <a:p>
            <a:pPr marL="0" indent="0" algn="l">
              <a:lnSpc>
                <a:spcPts val="2250"/>
              </a:lnSpc>
              <a:buNone/>
            </a:pPr>
            <a:r>
              <a:rPr lang="en-US" sz="1450" dirty="0">
                <a:solidFill>
                  <a:srgbClr val="443728"/>
                </a:solidFill>
                <a:latin typeface="Arial" panose="020B0604020202020204" pitchFamily="34" charset="0"/>
                <a:ea typeface="Open Sans" pitchFamily="34" charset="-122"/>
                <a:cs typeface="Arial" panose="020B0604020202020204" pitchFamily="34" charset="0"/>
              </a:rPr>
              <a:t>Trong ứng dụng thực tế, </a:t>
            </a:r>
            <a:r>
              <a:rPr lang="en-US" sz="1450" b="1" dirty="0">
                <a:solidFill>
                  <a:srgbClr val="443728"/>
                </a:solidFill>
                <a:latin typeface="Arial" panose="020B0604020202020204" pitchFamily="34" charset="0"/>
                <a:ea typeface="Open Sans" pitchFamily="34" charset="-122"/>
                <a:cs typeface="Arial" panose="020B0604020202020204" pitchFamily="34" charset="0"/>
              </a:rPr>
              <a:t>OrderService</a:t>
            </a:r>
            <a:r>
              <a:rPr lang="en-US" sz="1450" dirty="0">
                <a:solidFill>
                  <a:srgbClr val="443728"/>
                </a:solidFill>
                <a:latin typeface="Arial" panose="020B0604020202020204" pitchFamily="34" charset="0"/>
                <a:ea typeface="Open Sans" pitchFamily="34" charset="-122"/>
                <a:cs typeface="Arial" panose="020B0604020202020204" pitchFamily="34" charset="0"/>
              </a:rPr>
              <a:t> có thể gọi </a:t>
            </a:r>
            <a:r>
              <a:rPr lang="en-US" sz="1450" b="1" dirty="0">
                <a:solidFill>
                  <a:srgbClr val="443728"/>
                </a:solidFill>
                <a:latin typeface="Arial" panose="020B0604020202020204" pitchFamily="34" charset="0"/>
                <a:ea typeface="Open Sans" pitchFamily="34" charset="-122"/>
                <a:cs typeface="Arial" panose="020B0604020202020204" pitchFamily="34" charset="0"/>
              </a:rPr>
              <a:t>PaymentService</a:t>
            </a:r>
            <a:r>
              <a:rPr lang="en-US" sz="1450" dirty="0">
                <a:solidFill>
                  <a:srgbClr val="443728"/>
                </a:solidFill>
                <a:latin typeface="Arial" panose="020B0604020202020204" pitchFamily="34" charset="0"/>
                <a:ea typeface="Open Sans" pitchFamily="34" charset="-122"/>
                <a:cs typeface="Arial" panose="020B0604020202020204" pitchFamily="34" charset="0"/>
              </a:rPr>
              <a:t>, </a:t>
            </a:r>
            <a:r>
              <a:rPr lang="en-US" sz="1450" b="1" dirty="0">
                <a:solidFill>
                  <a:srgbClr val="443728"/>
                </a:solidFill>
                <a:latin typeface="Arial" panose="020B0604020202020204" pitchFamily="34" charset="0"/>
                <a:ea typeface="Open Sans" pitchFamily="34" charset="-122"/>
                <a:cs typeface="Arial" panose="020B0604020202020204" pitchFamily="34" charset="0"/>
              </a:rPr>
              <a:t>InventoryService</a:t>
            </a:r>
            <a:r>
              <a:rPr lang="en-US" sz="1450" dirty="0">
                <a:solidFill>
                  <a:srgbClr val="443728"/>
                </a:solidFill>
                <a:latin typeface="Arial" panose="020B0604020202020204" pitchFamily="34" charset="0"/>
                <a:ea typeface="Open Sans" pitchFamily="34" charset="-122"/>
                <a:cs typeface="Arial" panose="020B0604020202020204" pitchFamily="34" charset="0"/>
              </a:rPr>
              <a:t>... Câu hỏi đặt ra: chúng có dùng chung một transaction hay mỗi service tạo transaction riêng?</a:t>
            </a:r>
            <a:endParaRPr lang="en-US" sz="1450" dirty="0">
              <a:latin typeface="Arial" panose="020B0604020202020204" pitchFamily="34" charset="0"/>
              <a:cs typeface="Arial" panose="020B0604020202020204" pitchFamily="34" charset="0"/>
            </a:endParaRPr>
          </a:p>
        </p:txBody>
      </p:sp>
      <p:sp>
        <p:nvSpPr>
          <p:cNvPr id="5" name="Text 5">
            <a:extLst>
              <a:ext uri="{FF2B5EF4-FFF2-40B4-BE49-F238E27FC236}">
                <a16:creationId xmlns:a16="http://schemas.microsoft.com/office/drawing/2014/main" id="{17BA11EF-50B7-BD54-23C0-7BABF232E890}"/>
              </a:ext>
            </a:extLst>
          </p:cNvPr>
          <p:cNvSpPr/>
          <p:nvPr/>
        </p:nvSpPr>
        <p:spPr>
          <a:xfrm>
            <a:off x="3048000" y="3053477"/>
            <a:ext cx="6344007" cy="865108"/>
          </a:xfrm>
          <a:prstGeom prst="rect">
            <a:avLst/>
          </a:prstGeom>
          <a:noFill/>
          <a:ln/>
        </p:spPr>
        <p:txBody>
          <a:bodyPr wrap="square" lIns="0" tIns="0" rIns="0" bIns="0" rtlCol="0" anchor="t"/>
          <a:lstStyle/>
          <a:p>
            <a:pPr marL="0" indent="0" algn="l">
              <a:lnSpc>
                <a:spcPts val="2250"/>
              </a:lnSpc>
              <a:buNone/>
            </a:pPr>
            <a:r>
              <a:rPr lang="en-US" sz="1450" b="1" dirty="0">
                <a:solidFill>
                  <a:srgbClr val="443728"/>
                </a:solidFill>
                <a:latin typeface="Arial" panose="020B0604020202020204" pitchFamily="34" charset="0"/>
                <a:ea typeface="Open Sans" pitchFamily="34" charset="-122"/>
                <a:cs typeface="Arial" panose="020B0604020202020204" pitchFamily="34" charset="0"/>
              </a:rPr>
              <a:t>Transaction Propagation</a:t>
            </a:r>
            <a:r>
              <a:rPr lang="en-US" sz="1450" dirty="0">
                <a:solidFill>
                  <a:srgbClr val="443728"/>
                </a:solidFill>
                <a:latin typeface="Arial" panose="020B0604020202020204" pitchFamily="34" charset="0"/>
                <a:ea typeface="Open Sans" pitchFamily="34" charset="-122"/>
                <a:cs typeface="Arial" panose="020B0604020202020204" pitchFamily="34" charset="0"/>
              </a:rPr>
              <a:t> chính là cơ chế quy định cách transaction "lan truyền" từ method này sang method khác khi được gọi trong cùng một luồng xử lý.</a:t>
            </a:r>
            <a:endParaRPr lang="en-US" sz="1450" dirty="0">
              <a:latin typeface="Arial" panose="020B0604020202020204" pitchFamily="34" charset="0"/>
              <a:cs typeface="Arial" panose="020B0604020202020204" pitchFamily="34" charset="0"/>
            </a:endParaRPr>
          </a:p>
        </p:txBody>
      </p:sp>
      <p:sp>
        <p:nvSpPr>
          <p:cNvPr id="6" name="Shape 6">
            <a:extLst>
              <a:ext uri="{FF2B5EF4-FFF2-40B4-BE49-F238E27FC236}">
                <a16:creationId xmlns:a16="http://schemas.microsoft.com/office/drawing/2014/main" id="{66D8EE48-E93B-5E0F-32A4-73EEC8C1CBDC}"/>
              </a:ext>
            </a:extLst>
          </p:cNvPr>
          <p:cNvSpPr/>
          <p:nvPr/>
        </p:nvSpPr>
        <p:spPr>
          <a:xfrm>
            <a:off x="3048000" y="4114800"/>
            <a:ext cx="6344007" cy="1047512"/>
          </a:xfrm>
          <a:prstGeom prst="roundRect">
            <a:avLst>
              <a:gd name="adj" fmla="val 7460"/>
            </a:avLst>
          </a:prstGeom>
          <a:solidFill>
            <a:srgbClr val="E1D4D0"/>
          </a:solidFill>
          <a:ln/>
        </p:spPr>
        <p:txBody>
          <a:bodyPr/>
          <a:lstStyle/>
          <a:p>
            <a:endParaRPr lang="en-US">
              <a:latin typeface="Arial" panose="020B0604020202020204" pitchFamily="34" charset="0"/>
              <a:cs typeface="Arial" panose="020B0604020202020204" pitchFamily="34" charset="0"/>
            </a:endParaRPr>
          </a:p>
        </p:txBody>
      </p:sp>
      <p:pic>
        <p:nvPicPr>
          <p:cNvPr id="8" name="Image 0" descr="preencoded.png">
            <a:extLst>
              <a:ext uri="{FF2B5EF4-FFF2-40B4-BE49-F238E27FC236}">
                <a16:creationId xmlns:a16="http://schemas.microsoft.com/office/drawing/2014/main" id="{26352EE5-6886-BC6B-4010-6E8FF7114F5D}"/>
              </a:ext>
            </a:extLst>
          </p:cNvPr>
          <p:cNvPicPr>
            <a:picLocks noChangeAspect="1"/>
          </p:cNvPicPr>
          <p:nvPr/>
        </p:nvPicPr>
        <p:blipFill>
          <a:blip r:embed="rId2"/>
          <a:stretch>
            <a:fillRect/>
          </a:stretch>
        </p:blipFill>
        <p:spPr>
          <a:xfrm>
            <a:off x="3233975" y="4397811"/>
            <a:ext cx="232529" cy="185976"/>
          </a:xfrm>
          <a:prstGeom prst="rect">
            <a:avLst/>
          </a:prstGeom>
        </p:spPr>
      </p:pic>
      <p:sp>
        <p:nvSpPr>
          <p:cNvPr id="9" name="Text 7">
            <a:extLst>
              <a:ext uri="{FF2B5EF4-FFF2-40B4-BE49-F238E27FC236}">
                <a16:creationId xmlns:a16="http://schemas.microsoft.com/office/drawing/2014/main" id="{9109C589-6732-B6E9-9F33-79CF09B520F7}"/>
              </a:ext>
            </a:extLst>
          </p:cNvPr>
          <p:cNvSpPr/>
          <p:nvPr/>
        </p:nvSpPr>
        <p:spPr>
          <a:xfrm>
            <a:off x="3652480" y="4335661"/>
            <a:ext cx="5553551" cy="576739"/>
          </a:xfrm>
          <a:prstGeom prst="rect">
            <a:avLst/>
          </a:prstGeom>
          <a:noFill/>
          <a:ln/>
        </p:spPr>
        <p:txBody>
          <a:bodyPr wrap="square" lIns="0" tIns="0" rIns="0" bIns="0" rtlCol="0" anchor="t"/>
          <a:lstStyle/>
          <a:p>
            <a:pPr marL="0" indent="0" algn="l">
              <a:lnSpc>
                <a:spcPts val="2250"/>
              </a:lnSpc>
              <a:buNone/>
            </a:pPr>
            <a:r>
              <a:rPr lang="en-US" sz="1450" dirty="0">
                <a:solidFill>
                  <a:srgbClr val="000000"/>
                </a:solidFill>
                <a:latin typeface="Arial" panose="020B0604020202020204" pitchFamily="34" charset="0"/>
                <a:ea typeface="Open Sans" pitchFamily="34" charset="-122"/>
                <a:cs typeface="Arial" panose="020B0604020202020204" pitchFamily="34" charset="0"/>
              </a:rPr>
              <a:t>Propagation chủ yếu được dùng với Spring </a:t>
            </a:r>
            <a:r>
              <a:rPr lang="en-US" sz="1450" dirty="0">
                <a:solidFill>
                  <a:srgbClr val="000000"/>
                </a:solidFill>
                <a:highlight>
                  <a:srgbClr val="F2EFED"/>
                </a:highlight>
                <a:latin typeface="Arial" panose="020B0604020202020204" pitchFamily="34" charset="0"/>
                <a:ea typeface="Consolas" pitchFamily="34" charset="-122"/>
                <a:cs typeface="Arial" panose="020B0604020202020204" pitchFamily="34" charset="0"/>
              </a:rPr>
              <a:t>@Transactional</a:t>
            </a:r>
            <a:r>
              <a:rPr lang="en-US" sz="1450" dirty="0">
                <a:solidFill>
                  <a:srgbClr val="000000"/>
                </a:solidFill>
                <a:latin typeface="Arial" panose="020B0604020202020204" pitchFamily="34" charset="0"/>
                <a:ea typeface="Open Sans" pitchFamily="34" charset="-122"/>
                <a:cs typeface="Arial" panose="020B0604020202020204" pitchFamily="34" charset="0"/>
              </a:rPr>
              <a:t> annotation.</a:t>
            </a:r>
            <a:endParaRPr lang="en-US" sz="14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9516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9F498-7A1E-F2AB-06D6-D2BD4B127DA1}"/>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E29DBE97-083E-309B-C558-CC459E072A8E}"/>
              </a:ext>
            </a:extLst>
          </p:cNvPr>
          <p:cNvSpPr txBox="1">
            <a:spLocks noGrp="1"/>
          </p:cNvSpPr>
          <p:nvPr>
            <p:ph type="ftr" sz="quarter" idx="5"/>
          </p:nvPr>
        </p:nvSpPr>
        <p:spPr>
          <a:xfrm>
            <a:off x="3451542" y="6615296"/>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9393984B-0975-DDBD-87F3-7F350B3BF3AE}"/>
              </a:ext>
            </a:extLst>
          </p:cNvPr>
          <p:cNvSpPr/>
          <p:nvPr/>
        </p:nvSpPr>
        <p:spPr>
          <a:xfrm>
            <a:off x="838200" y="457200"/>
            <a:ext cx="9067799" cy="581382"/>
          </a:xfrm>
          <a:prstGeom prst="rect">
            <a:avLst/>
          </a:prstGeom>
          <a:noFill/>
          <a:ln/>
        </p:spPr>
        <p:txBody>
          <a:bodyPr wrap="none" lIns="0" tIns="0" rIns="0" bIns="0" rtlCol="0" anchor="t"/>
          <a:lstStyle/>
          <a:p>
            <a:pPr marL="0" indent="0" algn="l">
              <a:lnSpc>
                <a:spcPts val="4550"/>
              </a:lnSpc>
              <a:buNone/>
            </a:pPr>
            <a:r>
              <a:rPr lang="en-US" sz="2800" b="1" dirty="0">
                <a:solidFill>
                  <a:srgbClr val="443728"/>
                </a:solidFill>
                <a:latin typeface="Arial" panose="020B0604020202020204" pitchFamily="34" charset="0"/>
                <a:ea typeface="Crimson Pro Bold" pitchFamily="34" charset="-122"/>
                <a:cs typeface="Arial" panose="020B0604020202020204" pitchFamily="34" charset="0"/>
              </a:rPr>
              <a:t>Transaction Propagation — Lan Truyền Transaction</a:t>
            </a:r>
            <a:endParaRPr lang="en-US" sz="2800" dirty="0">
              <a:latin typeface="Arial" panose="020B0604020202020204" pitchFamily="34" charset="0"/>
              <a:cs typeface="Arial" panose="020B0604020202020204" pitchFamily="34" charset="0"/>
            </a:endParaRPr>
          </a:p>
        </p:txBody>
      </p:sp>
      <p:sp>
        <p:nvSpPr>
          <p:cNvPr id="10" name="Shape 8">
            <a:extLst>
              <a:ext uri="{FF2B5EF4-FFF2-40B4-BE49-F238E27FC236}">
                <a16:creationId xmlns:a16="http://schemas.microsoft.com/office/drawing/2014/main" id="{7E88FF0E-94B8-3A43-7344-5C53CE03B865}"/>
              </a:ext>
            </a:extLst>
          </p:cNvPr>
          <p:cNvSpPr/>
          <p:nvPr/>
        </p:nvSpPr>
        <p:spPr>
          <a:xfrm>
            <a:off x="2819400" y="1144296"/>
            <a:ext cx="3084790" cy="2005727"/>
          </a:xfrm>
          <a:prstGeom prst="roundRect">
            <a:avLst>
              <a:gd name="adj" fmla="val 3896"/>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1" name="Text 9">
            <a:extLst>
              <a:ext uri="{FF2B5EF4-FFF2-40B4-BE49-F238E27FC236}">
                <a16:creationId xmlns:a16="http://schemas.microsoft.com/office/drawing/2014/main" id="{7D6E17D9-1F87-41EF-FBA4-DF646B166F59}"/>
              </a:ext>
            </a:extLst>
          </p:cNvPr>
          <p:cNvSpPr/>
          <p:nvPr/>
        </p:nvSpPr>
        <p:spPr>
          <a:xfrm>
            <a:off x="3012996" y="1337891"/>
            <a:ext cx="2325767" cy="290632"/>
          </a:xfrm>
          <a:prstGeom prst="rect">
            <a:avLst/>
          </a:prstGeom>
          <a:noFill/>
          <a:ln/>
        </p:spPr>
        <p:txBody>
          <a:bodyPr wrap="none" lIns="0" tIns="0" rIns="0" bIns="0" rtlCol="0" anchor="t"/>
          <a:lstStyle/>
          <a:p>
            <a:pPr marL="0" indent="0" algn="l">
              <a:lnSpc>
                <a:spcPts val="2250"/>
              </a:lnSpc>
              <a:buNone/>
            </a:pPr>
            <a:r>
              <a:rPr lang="en-US" sz="1800" b="1" dirty="0">
                <a:solidFill>
                  <a:srgbClr val="443728"/>
                </a:solidFill>
                <a:latin typeface="Arial" panose="020B0604020202020204" pitchFamily="34" charset="0"/>
                <a:ea typeface="Crimson Pro Bold" pitchFamily="34" charset="-122"/>
                <a:cs typeface="Arial" panose="020B0604020202020204" pitchFamily="34" charset="0"/>
              </a:rPr>
              <a:t>REQUIRED (Mặc định)</a:t>
            </a:r>
            <a:endParaRPr lang="en-US" sz="1800" dirty="0">
              <a:latin typeface="Arial" panose="020B0604020202020204" pitchFamily="34" charset="0"/>
              <a:cs typeface="Arial" panose="020B0604020202020204" pitchFamily="34" charset="0"/>
            </a:endParaRPr>
          </a:p>
        </p:txBody>
      </p:sp>
      <p:sp>
        <p:nvSpPr>
          <p:cNvPr id="12" name="Text 10">
            <a:extLst>
              <a:ext uri="{FF2B5EF4-FFF2-40B4-BE49-F238E27FC236}">
                <a16:creationId xmlns:a16="http://schemas.microsoft.com/office/drawing/2014/main" id="{1AFE600B-E6A1-5329-2DC9-A1BE79240875}"/>
              </a:ext>
            </a:extLst>
          </p:cNvPr>
          <p:cNvSpPr/>
          <p:nvPr/>
        </p:nvSpPr>
        <p:spPr>
          <a:xfrm>
            <a:off x="3012996" y="1802949"/>
            <a:ext cx="2697599" cy="865108"/>
          </a:xfrm>
          <a:prstGeom prst="rect">
            <a:avLst/>
          </a:prstGeom>
          <a:noFill/>
          <a:ln/>
        </p:spPr>
        <p:txBody>
          <a:bodyPr wrap="square" lIns="0" tIns="0" rIns="0" bIns="0" rtlCol="0" anchor="t"/>
          <a:lstStyle/>
          <a:p>
            <a:pPr marL="0" indent="0" algn="l">
              <a:lnSpc>
                <a:spcPts val="2250"/>
              </a:lnSpc>
              <a:buNone/>
            </a:pPr>
            <a:r>
              <a:rPr lang="en-US" sz="1450" dirty="0">
                <a:solidFill>
                  <a:srgbClr val="443728"/>
                </a:solidFill>
                <a:latin typeface="Arial" panose="020B0604020202020204" pitchFamily="34" charset="0"/>
                <a:ea typeface="Open Sans" pitchFamily="34" charset="-122"/>
                <a:cs typeface="Arial" panose="020B0604020202020204" pitchFamily="34" charset="0"/>
              </a:rPr>
              <a:t>Nếu đã có transaction → </a:t>
            </a:r>
            <a:r>
              <a:rPr lang="en-US" sz="1450" b="1" dirty="0">
                <a:solidFill>
                  <a:srgbClr val="443728"/>
                </a:solidFill>
                <a:latin typeface="Arial" panose="020B0604020202020204" pitchFamily="34" charset="0"/>
                <a:ea typeface="Open Sans" pitchFamily="34" charset="-122"/>
                <a:cs typeface="Arial" panose="020B0604020202020204" pitchFamily="34" charset="0"/>
              </a:rPr>
              <a:t>tham gia</a:t>
            </a:r>
            <a:r>
              <a:rPr lang="en-US" sz="1450" dirty="0">
                <a:solidFill>
                  <a:srgbClr val="443728"/>
                </a:solidFill>
                <a:latin typeface="Arial" panose="020B0604020202020204" pitchFamily="34" charset="0"/>
                <a:ea typeface="Open Sans" pitchFamily="34" charset="-122"/>
                <a:cs typeface="Arial" panose="020B0604020202020204" pitchFamily="34" charset="0"/>
              </a:rPr>
              <a:t> vào. Nếu chưa có → </a:t>
            </a:r>
            <a:r>
              <a:rPr lang="en-US" sz="1450" b="1" dirty="0">
                <a:solidFill>
                  <a:srgbClr val="443728"/>
                </a:solidFill>
                <a:latin typeface="Arial" panose="020B0604020202020204" pitchFamily="34" charset="0"/>
                <a:ea typeface="Open Sans" pitchFamily="34" charset="-122"/>
                <a:cs typeface="Arial" panose="020B0604020202020204" pitchFamily="34" charset="0"/>
              </a:rPr>
              <a:t>tạo mới</a:t>
            </a:r>
            <a:r>
              <a:rPr lang="en-US" sz="1450" dirty="0">
                <a:solidFill>
                  <a:srgbClr val="443728"/>
                </a:solidFill>
                <a:latin typeface="Arial" panose="020B0604020202020204" pitchFamily="34" charset="0"/>
                <a:ea typeface="Open Sans" pitchFamily="34" charset="-122"/>
                <a:cs typeface="Arial" panose="020B0604020202020204" pitchFamily="34" charset="0"/>
              </a:rPr>
              <a:t>. Phù hợp 90% trường hợp.</a:t>
            </a:r>
            <a:endParaRPr lang="en-US" sz="1450" dirty="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DBE28351-505D-5421-7660-66295811AEC9}"/>
              </a:ext>
            </a:extLst>
          </p:cNvPr>
          <p:cNvSpPr/>
          <p:nvPr/>
        </p:nvSpPr>
        <p:spPr>
          <a:xfrm>
            <a:off x="6078617" y="1144296"/>
            <a:ext cx="3084790" cy="2005727"/>
          </a:xfrm>
          <a:prstGeom prst="roundRect">
            <a:avLst>
              <a:gd name="adj" fmla="val 3896"/>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4" name="Text 12">
            <a:extLst>
              <a:ext uri="{FF2B5EF4-FFF2-40B4-BE49-F238E27FC236}">
                <a16:creationId xmlns:a16="http://schemas.microsoft.com/office/drawing/2014/main" id="{24B8854A-CA72-F331-B1AC-962464B2962F}"/>
              </a:ext>
            </a:extLst>
          </p:cNvPr>
          <p:cNvSpPr/>
          <p:nvPr/>
        </p:nvSpPr>
        <p:spPr>
          <a:xfrm>
            <a:off x="6272213" y="1337891"/>
            <a:ext cx="2325767" cy="290632"/>
          </a:xfrm>
          <a:prstGeom prst="rect">
            <a:avLst/>
          </a:prstGeom>
          <a:noFill/>
          <a:ln/>
        </p:spPr>
        <p:txBody>
          <a:bodyPr wrap="none" lIns="0" tIns="0" rIns="0" bIns="0" rtlCol="0" anchor="t"/>
          <a:lstStyle/>
          <a:p>
            <a:pPr marL="0" indent="0" algn="l">
              <a:lnSpc>
                <a:spcPts val="2250"/>
              </a:lnSpc>
              <a:buNone/>
            </a:pPr>
            <a:r>
              <a:rPr lang="en-US" sz="1800" b="1" dirty="0">
                <a:solidFill>
                  <a:srgbClr val="443728"/>
                </a:solidFill>
                <a:latin typeface="Arial" panose="020B0604020202020204" pitchFamily="34" charset="0"/>
                <a:ea typeface="Crimson Pro Bold" pitchFamily="34" charset="-122"/>
                <a:cs typeface="Arial" panose="020B0604020202020204" pitchFamily="34" charset="0"/>
              </a:rPr>
              <a:t>REQUIRES_NEW</a:t>
            </a:r>
            <a:endParaRPr lang="en-US" sz="1800" dirty="0">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634E1475-9FAA-B062-B3AD-A734D8688C97}"/>
              </a:ext>
            </a:extLst>
          </p:cNvPr>
          <p:cNvSpPr/>
          <p:nvPr/>
        </p:nvSpPr>
        <p:spPr>
          <a:xfrm>
            <a:off x="6272213" y="1802949"/>
            <a:ext cx="2697599" cy="1153478"/>
          </a:xfrm>
          <a:prstGeom prst="rect">
            <a:avLst/>
          </a:prstGeom>
          <a:noFill/>
          <a:ln/>
        </p:spPr>
        <p:txBody>
          <a:bodyPr wrap="square" lIns="0" tIns="0" rIns="0" bIns="0" rtlCol="0" anchor="t"/>
          <a:lstStyle/>
          <a:p>
            <a:pPr marL="0" indent="0" algn="l">
              <a:lnSpc>
                <a:spcPts val="2250"/>
              </a:lnSpc>
              <a:buNone/>
            </a:pPr>
            <a:r>
              <a:rPr lang="en-US" sz="1450" dirty="0">
                <a:solidFill>
                  <a:srgbClr val="443728"/>
                </a:solidFill>
                <a:latin typeface="Arial" panose="020B0604020202020204" pitchFamily="34" charset="0"/>
                <a:ea typeface="Open Sans" pitchFamily="34" charset="-122"/>
                <a:cs typeface="Arial" panose="020B0604020202020204" pitchFamily="34" charset="0"/>
              </a:rPr>
              <a:t>Luôn </a:t>
            </a:r>
            <a:r>
              <a:rPr lang="en-US" sz="1450" b="1" dirty="0">
                <a:solidFill>
                  <a:srgbClr val="443728"/>
                </a:solidFill>
                <a:latin typeface="Arial" panose="020B0604020202020204" pitchFamily="34" charset="0"/>
                <a:ea typeface="Open Sans" pitchFamily="34" charset="-122"/>
                <a:cs typeface="Arial" panose="020B0604020202020204" pitchFamily="34" charset="0"/>
              </a:rPr>
              <a:t>tạo transaction mới</a:t>
            </a:r>
            <a:r>
              <a:rPr lang="en-US" sz="1450" dirty="0">
                <a:solidFill>
                  <a:srgbClr val="443728"/>
                </a:solidFill>
                <a:latin typeface="Arial" panose="020B0604020202020204" pitchFamily="34" charset="0"/>
                <a:ea typeface="Open Sans" pitchFamily="34" charset="-122"/>
                <a:cs typeface="Arial" panose="020B0604020202020204" pitchFamily="34" charset="0"/>
              </a:rPr>
              <a:t> độc lập. Transaction cũ bị tạm dừng. Dùng khi cần ghi log độc lập.</a:t>
            </a:r>
            <a:endParaRPr lang="en-US" sz="1450" dirty="0">
              <a:latin typeface="Arial" panose="020B0604020202020204" pitchFamily="34" charset="0"/>
              <a:cs typeface="Arial" panose="020B0604020202020204" pitchFamily="34" charset="0"/>
            </a:endParaRPr>
          </a:p>
        </p:txBody>
      </p:sp>
      <p:sp>
        <p:nvSpPr>
          <p:cNvPr id="16" name="Shape 14">
            <a:extLst>
              <a:ext uri="{FF2B5EF4-FFF2-40B4-BE49-F238E27FC236}">
                <a16:creationId xmlns:a16="http://schemas.microsoft.com/office/drawing/2014/main" id="{8353082C-A989-DADA-E837-D27BCC707D4B}"/>
              </a:ext>
            </a:extLst>
          </p:cNvPr>
          <p:cNvSpPr/>
          <p:nvPr/>
        </p:nvSpPr>
        <p:spPr>
          <a:xfrm>
            <a:off x="2819400" y="3276600"/>
            <a:ext cx="3084790" cy="1717358"/>
          </a:xfrm>
          <a:prstGeom prst="roundRect">
            <a:avLst>
              <a:gd name="adj" fmla="val 4551"/>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7" name="Text 15">
            <a:extLst>
              <a:ext uri="{FF2B5EF4-FFF2-40B4-BE49-F238E27FC236}">
                <a16:creationId xmlns:a16="http://schemas.microsoft.com/office/drawing/2014/main" id="{B6F7E595-7319-7872-FA1C-FEC310069EA0}"/>
              </a:ext>
            </a:extLst>
          </p:cNvPr>
          <p:cNvSpPr/>
          <p:nvPr/>
        </p:nvSpPr>
        <p:spPr>
          <a:xfrm>
            <a:off x="3012996" y="3470196"/>
            <a:ext cx="2325767" cy="290632"/>
          </a:xfrm>
          <a:prstGeom prst="rect">
            <a:avLst/>
          </a:prstGeom>
          <a:noFill/>
          <a:ln/>
        </p:spPr>
        <p:txBody>
          <a:bodyPr wrap="none" lIns="0" tIns="0" rIns="0" bIns="0" rtlCol="0" anchor="t"/>
          <a:lstStyle/>
          <a:p>
            <a:pPr marL="0" indent="0" algn="l">
              <a:lnSpc>
                <a:spcPts val="2250"/>
              </a:lnSpc>
              <a:buNone/>
            </a:pPr>
            <a:r>
              <a:rPr lang="en-US" sz="1800" b="1" dirty="0">
                <a:solidFill>
                  <a:srgbClr val="443728"/>
                </a:solidFill>
                <a:latin typeface="Arial" panose="020B0604020202020204" pitchFamily="34" charset="0"/>
                <a:ea typeface="Crimson Pro Bold" pitchFamily="34" charset="-122"/>
                <a:cs typeface="Arial" panose="020B0604020202020204" pitchFamily="34" charset="0"/>
              </a:rPr>
              <a:t>SUPPORTS</a:t>
            </a:r>
            <a:endParaRPr lang="en-US" sz="1800" dirty="0">
              <a:latin typeface="Arial" panose="020B0604020202020204" pitchFamily="34" charset="0"/>
              <a:cs typeface="Arial" panose="020B0604020202020204" pitchFamily="34" charset="0"/>
            </a:endParaRPr>
          </a:p>
        </p:txBody>
      </p:sp>
      <p:sp>
        <p:nvSpPr>
          <p:cNvPr id="18" name="Text 16">
            <a:extLst>
              <a:ext uri="{FF2B5EF4-FFF2-40B4-BE49-F238E27FC236}">
                <a16:creationId xmlns:a16="http://schemas.microsoft.com/office/drawing/2014/main" id="{C61CA223-16D5-5684-CA49-2715D80FE73A}"/>
              </a:ext>
            </a:extLst>
          </p:cNvPr>
          <p:cNvSpPr/>
          <p:nvPr/>
        </p:nvSpPr>
        <p:spPr>
          <a:xfrm>
            <a:off x="3012996" y="3935254"/>
            <a:ext cx="2697599" cy="865108"/>
          </a:xfrm>
          <a:prstGeom prst="rect">
            <a:avLst/>
          </a:prstGeom>
          <a:noFill/>
          <a:ln/>
        </p:spPr>
        <p:txBody>
          <a:bodyPr wrap="square" lIns="0" tIns="0" rIns="0" bIns="0" rtlCol="0" anchor="t"/>
          <a:lstStyle/>
          <a:p>
            <a:pPr marL="0" indent="0" algn="l">
              <a:lnSpc>
                <a:spcPts val="2250"/>
              </a:lnSpc>
              <a:buNone/>
            </a:pPr>
            <a:r>
              <a:rPr lang="en-US" sz="1450" dirty="0">
                <a:solidFill>
                  <a:srgbClr val="443728"/>
                </a:solidFill>
                <a:latin typeface="Arial" panose="020B0604020202020204" pitchFamily="34" charset="0"/>
                <a:ea typeface="Open Sans" pitchFamily="34" charset="-122"/>
                <a:cs typeface="Arial" panose="020B0604020202020204" pitchFamily="34" charset="0"/>
              </a:rPr>
              <a:t>Có transaction → dùng. Không có → chạy không transaction. Dùng cho thao tác đọc.</a:t>
            </a:r>
            <a:endParaRPr lang="en-US" sz="1450" dirty="0">
              <a:latin typeface="Arial" panose="020B0604020202020204" pitchFamily="34" charset="0"/>
              <a:cs typeface="Arial" panose="020B0604020202020204" pitchFamily="34" charset="0"/>
            </a:endParaRPr>
          </a:p>
        </p:txBody>
      </p:sp>
      <p:sp>
        <p:nvSpPr>
          <p:cNvPr id="19" name="Shape 17">
            <a:extLst>
              <a:ext uri="{FF2B5EF4-FFF2-40B4-BE49-F238E27FC236}">
                <a16:creationId xmlns:a16="http://schemas.microsoft.com/office/drawing/2014/main" id="{2ACA4548-0EC4-062D-E9D0-B10E21B88DA6}"/>
              </a:ext>
            </a:extLst>
          </p:cNvPr>
          <p:cNvSpPr/>
          <p:nvPr/>
        </p:nvSpPr>
        <p:spPr>
          <a:xfrm>
            <a:off x="6078617" y="3276600"/>
            <a:ext cx="3084790" cy="1717358"/>
          </a:xfrm>
          <a:prstGeom prst="roundRect">
            <a:avLst>
              <a:gd name="adj" fmla="val 4551"/>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20" name="Text 18">
            <a:extLst>
              <a:ext uri="{FF2B5EF4-FFF2-40B4-BE49-F238E27FC236}">
                <a16:creationId xmlns:a16="http://schemas.microsoft.com/office/drawing/2014/main" id="{C24029F1-7698-42B7-EABF-C181F377AD51}"/>
              </a:ext>
            </a:extLst>
          </p:cNvPr>
          <p:cNvSpPr/>
          <p:nvPr/>
        </p:nvSpPr>
        <p:spPr>
          <a:xfrm>
            <a:off x="6272213" y="3470196"/>
            <a:ext cx="2325767" cy="290632"/>
          </a:xfrm>
          <a:prstGeom prst="rect">
            <a:avLst/>
          </a:prstGeom>
          <a:noFill/>
          <a:ln/>
        </p:spPr>
        <p:txBody>
          <a:bodyPr wrap="none" lIns="0" tIns="0" rIns="0" bIns="0" rtlCol="0" anchor="t"/>
          <a:lstStyle/>
          <a:p>
            <a:pPr marL="0" indent="0" algn="l">
              <a:lnSpc>
                <a:spcPts val="2250"/>
              </a:lnSpc>
              <a:buNone/>
            </a:pPr>
            <a:r>
              <a:rPr lang="en-US" sz="1800" b="1" dirty="0">
                <a:solidFill>
                  <a:srgbClr val="443728"/>
                </a:solidFill>
                <a:latin typeface="Arial" panose="020B0604020202020204" pitchFamily="34" charset="0"/>
                <a:ea typeface="Crimson Pro Bold" pitchFamily="34" charset="-122"/>
                <a:cs typeface="Arial" panose="020B0604020202020204" pitchFamily="34" charset="0"/>
              </a:rPr>
              <a:t>MANDATORY</a:t>
            </a:r>
            <a:endParaRPr lang="en-US" sz="1800" dirty="0">
              <a:latin typeface="Arial" panose="020B0604020202020204" pitchFamily="34" charset="0"/>
              <a:cs typeface="Arial" panose="020B0604020202020204" pitchFamily="34" charset="0"/>
            </a:endParaRPr>
          </a:p>
        </p:txBody>
      </p:sp>
      <p:sp>
        <p:nvSpPr>
          <p:cNvPr id="21" name="Text 19">
            <a:extLst>
              <a:ext uri="{FF2B5EF4-FFF2-40B4-BE49-F238E27FC236}">
                <a16:creationId xmlns:a16="http://schemas.microsoft.com/office/drawing/2014/main" id="{0C5F3733-9BF5-72A3-D03B-5BCD6A3818A3}"/>
              </a:ext>
            </a:extLst>
          </p:cNvPr>
          <p:cNvSpPr/>
          <p:nvPr/>
        </p:nvSpPr>
        <p:spPr>
          <a:xfrm>
            <a:off x="6272213" y="3935254"/>
            <a:ext cx="2697599" cy="865108"/>
          </a:xfrm>
          <a:prstGeom prst="rect">
            <a:avLst/>
          </a:prstGeom>
          <a:noFill/>
          <a:ln/>
        </p:spPr>
        <p:txBody>
          <a:bodyPr wrap="square" lIns="0" tIns="0" rIns="0" bIns="0" rtlCol="0" anchor="t"/>
          <a:lstStyle/>
          <a:p>
            <a:pPr marL="0" indent="0" algn="l">
              <a:lnSpc>
                <a:spcPts val="2250"/>
              </a:lnSpc>
              <a:buNone/>
            </a:pPr>
            <a:r>
              <a:rPr lang="en-US" sz="1450" dirty="0">
                <a:solidFill>
                  <a:srgbClr val="443728"/>
                </a:solidFill>
                <a:latin typeface="Arial" panose="020B0604020202020204" pitchFamily="34" charset="0"/>
                <a:ea typeface="Open Sans" pitchFamily="34" charset="-122"/>
                <a:cs typeface="Arial" panose="020B0604020202020204" pitchFamily="34" charset="0"/>
              </a:rPr>
              <a:t>Bắt buộc phải có transaction từ trước. Không có → ném exception ngay lập tức.</a:t>
            </a:r>
            <a:endParaRPr lang="en-US" sz="1450" dirty="0">
              <a:latin typeface="Arial" panose="020B0604020202020204" pitchFamily="34" charset="0"/>
              <a:cs typeface="Arial" panose="020B0604020202020204" pitchFamily="34" charset="0"/>
            </a:endParaRPr>
          </a:p>
        </p:txBody>
      </p:sp>
      <p:sp>
        <p:nvSpPr>
          <p:cNvPr id="22" name="Shape 20">
            <a:extLst>
              <a:ext uri="{FF2B5EF4-FFF2-40B4-BE49-F238E27FC236}">
                <a16:creationId xmlns:a16="http://schemas.microsoft.com/office/drawing/2014/main" id="{D9D30354-EE83-62B6-C3A9-6AE0295D6DBF}"/>
              </a:ext>
            </a:extLst>
          </p:cNvPr>
          <p:cNvSpPr/>
          <p:nvPr/>
        </p:nvSpPr>
        <p:spPr>
          <a:xfrm>
            <a:off x="2819400" y="5105400"/>
            <a:ext cx="6344007" cy="1428988"/>
          </a:xfrm>
          <a:prstGeom prst="roundRect">
            <a:avLst>
              <a:gd name="adj" fmla="val 5469"/>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23" name="Text 21">
            <a:extLst>
              <a:ext uri="{FF2B5EF4-FFF2-40B4-BE49-F238E27FC236}">
                <a16:creationId xmlns:a16="http://schemas.microsoft.com/office/drawing/2014/main" id="{BAB93527-A267-070E-A5C4-DC3BEC71FBBE}"/>
              </a:ext>
            </a:extLst>
          </p:cNvPr>
          <p:cNvSpPr/>
          <p:nvPr/>
        </p:nvSpPr>
        <p:spPr>
          <a:xfrm>
            <a:off x="3012996" y="5298996"/>
            <a:ext cx="2325767" cy="290632"/>
          </a:xfrm>
          <a:prstGeom prst="rect">
            <a:avLst/>
          </a:prstGeom>
          <a:noFill/>
          <a:ln/>
        </p:spPr>
        <p:txBody>
          <a:bodyPr wrap="none" lIns="0" tIns="0" rIns="0" bIns="0" rtlCol="0" anchor="t"/>
          <a:lstStyle/>
          <a:p>
            <a:pPr marL="0" indent="0" algn="l">
              <a:lnSpc>
                <a:spcPts val="2250"/>
              </a:lnSpc>
              <a:buNone/>
            </a:pPr>
            <a:r>
              <a:rPr lang="en-US" sz="1800" b="1" dirty="0">
                <a:solidFill>
                  <a:srgbClr val="443728"/>
                </a:solidFill>
                <a:latin typeface="Arial" panose="020B0604020202020204" pitchFamily="34" charset="0"/>
                <a:ea typeface="Crimson Pro Bold" pitchFamily="34" charset="-122"/>
                <a:cs typeface="Arial" panose="020B0604020202020204" pitchFamily="34" charset="0"/>
              </a:rPr>
              <a:t>NEVER</a:t>
            </a:r>
            <a:endParaRPr lang="en-US" sz="1800" dirty="0">
              <a:latin typeface="Arial" panose="020B0604020202020204" pitchFamily="34" charset="0"/>
              <a:cs typeface="Arial" panose="020B0604020202020204" pitchFamily="34" charset="0"/>
            </a:endParaRPr>
          </a:p>
        </p:txBody>
      </p:sp>
      <p:sp>
        <p:nvSpPr>
          <p:cNvPr id="24" name="Text 22">
            <a:extLst>
              <a:ext uri="{FF2B5EF4-FFF2-40B4-BE49-F238E27FC236}">
                <a16:creationId xmlns:a16="http://schemas.microsoft.com/office/drawing/2014/main" id="{25C8B2F6-BB23-6BE8-6E6F-2F16CD8BC85A}"/>
              </a:ext>
            </a:extLst>
          </p:cNvPr>
          <p:cNvSpPr/>
          <p:nvPr/>
        </p:nvSpPr>
        <p:spPr>
          <a:xfrm>
            <a:off x="3012996" y="5764054"/>
            <a:ext cx="5956816" cy="576739"/>
          </a:xfrm>
          <a:prstGeom prst="rect">
            <a:avLst/>
          </a:prstGeom>
          <a:noFill/>
          <a:ln/>
        </p:spPr>
        <p:txBody>
          <a:bodyPr wrap="square" lIns="0" tIns="0" rIns="0" bIns="0" rtlCol="0" anchor="t"/>
          <a:lstStyle/>
          <a:p>
            <a:pPr marL="0" indent="0" algn="l">
              <a:lnSpc>
                <a:spcPts val="2250"/>
              </a:lnSpc>
              <a:buNone/>
            </a:pPr>
            <a:r>
              <a:rPr lang="en-US" sz="1450" dirty="0">
                <a:solidFill>
                  <a:srgbClr val="443728"/>
                </a:solidFill>
                <a:latin typeface="Arial" panose="020B0604020202020204" pitchFamily="34" charset="0"/>
                <a:ea typeface="Open Sans" pitchFamily="34" charset="-122"/>
                <a:cs typeface="Arial" panose="020B0604020202020204" pitchFamily="34" charset="0"/>
              </a:rPr>
              <a:t>Không được phép có transaction. Nếu đang trong transaction → ném exception.</a:t>
            </a:r>
            <a:endParaRPr lang="en-US" sz="14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7730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B4E21-95A2-6310-7C66-EE0FF84D9BAE}"/>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909AE224-259F-DAD5-ACAD-AA5A13CAECC4}"/>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4A968589-8726-2ED4-76FB-D91B90E9BB45}"/>
              </a:ext>
            </a:extLst>
          </p:cNvPr>
          <p:cNvSpPr/>
          <p:nvPr/>
        </p:nvSpPr>
        <p:spPr>
          <a:xfrm>
            <a:off x="838201" y="381000"/>
            <a:ext cx="9067800" cy="620078"/>
          </a:xfrm>
          <a:prstGeom prst="rect">
            <a:avLst/>
          </a:prstGeom>
          <a:noFill/>
          <a:ln/>
        </p:spPr>
        <p:txBody>
          <a:bodyPr wrap="none" lIns="0" tIns="0" rIns="0" bIns="0" rtlCol="0" anchor="t"/>
          <a:lstStyle/>
          <a:p>
            <a:pPr marL="0" indent="0" algn="l">
              <a:lnSpc>
                <a:spcPts val="4850"/>
              </a:lnSpc>
              <a:buNone/>
            </a:pPr>
            <a:r>
              <a:rPr lang="en-US" sz="3200" b="1" dirty="0">
                <a:solidFill>
                  <a:srgbClr val="443728"/>
                </a:solidFill>
                <a:latin typeface="Arial" panose="020B0604020202020204" pitchFamily="34" charset="0"/>
                <a:ea typeface="Crimson Pro Bold" pitchFamily="34" charset="-122"/>
                <a:cs typeface="Arial" panose="020B0604020202020204" pitchFamily="34" charset="0"/>
              </a:rPr>
              <a:t>Isolation Level — Mức Độ Cô Lập Transaction</a:t>
            </a:r>
            <a:endParaRPr lang="en-US" sz="3200" dirty="0">
              <a:latin typeface="Arial" panose="020B0604020202020204" pitchFamily="34" charset="0"/>
              <a:cs typeface="Arial" panose="020B0604020202020204" pitchFamily="34" charset="0"/>
            </a:endParaRPr>
          </a:p>
        </p:txBody>
      </p:sp>
      <p:sp>
        <p:nvSpPr>
          <p:cNvPr id="3" name="Text 3">
            <a:extLst>
              <a:ext uri="{FF2B5EF4-FFF2-40B4-BE49-F238E27FC236}">
                <a16:creationId xmlns:a16="http://schemas.microsoft.com/office/drawing/2014/main" id="{9917CB9B-D8AD-FDBC-1282-4EA4E3268460}"/>
              </a:ext>
            </a:extLst>
          </p:cNvPr>
          <p:cNvSpPr/>
          <p:nvPr/>
        </p:nvSpPr>
        <p:spPr>
          <a:xfrm>
            <a:off x="838201" y="1066800"/>
            <a:ext cx="11117929" cy="637363"/>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Khi nhiều transaction chạy đồng thời, chúng có thể gây ra các vấn đề về tính nhất quán dữ liệu. </a:t>
            </a:r>
            <a:r>
              <a:rPr lang="en-US" sz="1550" b="1" dirty="0">
                <a:solidFill>
                  <a:srgbClr val="443728"/>
                </a:solidFill>
                <a:latin typeface="Arial" panose="020B0604020202020204" pitchFamily="34" charset="0"/>
                <a:ea typeface="Open Sans" pitchFamily="34" charset="-122"/>
                <a:cs typeface="Arial" panose="020B0604020202020204" pitchFamily="34" charset="0"/>
              </a:rPr>
              <a:t>Isolation Level</a:t>
            </a:r>
            <a:r>
              <a:rPr lang="en-US" sz="1550" dirty="0">
                <a:solidFill>
                  <a:srgbClr val="443728"/>
                </a:solidFill>
                <a:latin typeface="Arial" panose="020B0604020202020204" pitchFamily="34" charset="0"/>
                <a:ea typeface="Open Sans" pitchFamily="34" charset="-122"/>
                <a:cs typeface="Arial" panose="020B0604020202020204" pitchFamily="34" charset="0"/>
              </a:rPr>
              <a:t> xác định mức độ bảo vệ giữa các transaction song song.</a:t>
            </a:r>
            <a:endParaRPr lang="en-US" sz="1550" dirty="0">
              <a:latin typeface="Arial" panose="020B0604020202020204" pitchFamily="34" charset="0"/>
              <a:cs typeface="Arial" panose="020B0604020202020204" pitchFamily="34" charset="0"/>
            </a:endParaRPr>
          </a:p>
        </p:txBody>
      </p:sp>
      <p:sp>
        <p:nvSpPr>
          <p:cNvPr id="4" name="Shape 4">
            <a:extLst>
              <a:ext uri="{FF2B5EF4-FFF2-40B4-BE49-F238E27FC236}">
                <a16:creationId xmlns:a16="http://schemas.microsoft.com/office/drawing/2014/main" id="{B5400A61-FF3A-8672-3F58-4E52D67FF30E}"/>
              </a:ext>
            </a:extLst>
          </p:cNvPr>
          <p:cNvSpPr/>
          <p:nvPr/>
        </p:nvSpPr>
        <p:spPr>
          <a:xfrm>
            <a:off x="838202" y="2222778"/>
            <a:ext cx="3593186" cy="2425422"/>
          </a:xfrm>
          <a:prstGeom prst="roundRect">
            <a:avLst>
              <a:gd name="adj" fmla="val 4540"/>
            </a:avLst>
          </a:prstGeom>
          <a:solidFill>
            <a:srgbClr val="FFFCFA"/>
          </a:solidFill>
          <a:ln/>
        </p:spPr>
        <p:txBody>
          <a:bodyPr/>
          <a:lstStyle/>
          <a:p>
            <a:endParaRPr lang="en-US">
              <a:latin typeface="Arial" panose="020B0604020202020204" pitchFamily="34" charset="0"/>
              <a:cs typeface="Arial" panose="020B0604020202020204" pitchFamily="34" charset="0"/>
            </a:endParaRPr>
          </a:p>
        </p:txBody>
      </p:sp>
      <p:sp>
        <p:nvSpPr>
          <p:cNvPr id="5" name="Shape 5">
            <a:extLst>
              <a:ext uri="{FF2B5EF4-FFF2-40B4-BE49-F238E27FC236}">
                <a16:creationId xmlns:a16="http://schemas.microsoft.com/office/drawing/2014/main" id="{3CEBE5C6-937D-BCFD-BFA1-5B562AC30826}"/>
              </a:ext>
            </a:extLst>
          </p:cNvPr>
          <p:cNvSpPr/>
          <p:nvPr/>
        </p:nvSpPr>
        <p:spPr>
          <a:xfrm>
            <a:off x="838202" y="2199917"/>
            <a:ext cx="3593186" cy="91769"/>
          </a:xfrm>
          <a:prstGeom prst="roundRect">
            <a:avLst>
              <a:gd name="adj" fmla="val 91163"/>
            </a:avLst>
          </a:prstGeom>
          <a:solidFill>
            <a:srgbClr val="835E54"/>
          </a:solidFill>
          <a:ln/>
        </p:spPr>
        <p:txBody>
          <a:bodyPr/>
          <a:lstStyle/>
          <a:p>
            <a:endParaRPr lang="en-US">
              <a:latin typeface="Arial" panose="020B0604020202020204" pitchFamily="34" charset="0"/>
              <a:cs typeface="Arial" panose="020B0604020202020204" pitchFamily="34" charset="0"/>
            </a:endParaRPr>
          </a:p>
        </p:txBody>
      </p:sp>
      <p:sp>
        <p:nvSpPr>
          <p:cNvPr id="6" name="Shape 6">
            <a:extLst>
              <a:ext uri="{FF2B5EF4-FFF2-40B4-BE49-F238E27FC236}">
                <a16:creationId xmlns:a16="http://schemas.microsoft.com/office/drawing/2014/main" id="{185A655F-154E-9886-ACBB-1F72933A2DC3}"/>
              </a:ext>
            </a:extLst>
          </p:cNvPr>
          <p:cNvSpPr/>
          <p:nvPr/>
        </p:nvSpPr>
        <p:spPr>
          <a:xfrm>
            <a:off x="2648189" y="1925121"/>
            <a:ext cx="507455" cy="597454"/>
          </a:xfrm>
          <a:prstGeom prst="roundRect">
            <a:avLst>
              <a:gd name="adj" fmla="val 153600"/>
            </a:avLst>
          </a:prstGeom>
          <a:solidFill>
            <a:srgbClr val="835E54"/>
          </a:solidFill>
          <a:ln/>
        </p:spPr>
        <p:txBody>
          <a:bodyPr/>
          <a:lstStyle/>
          <a:p>
            <a:endParaRPr lang="en-US">
              <a:latin typeface="Arial" panose="020B0604020202020204" pitchFamily="34" charset="0"/>
              <a:cs typeface="Arial" panose="020B0604020202020204" pitchFamily="34" charset="0"/>
            </a:endParaRPr>
          </a:p>
        </p:txBody>
      </p:sp>
      <p:pic>
        <p:nvPicPr>
          <p:cNvPr id="8" name="Image 0" descr="preencoded.png">
            <a:extLst>
              <a:ext uri="{FF2B5EF4-FFF2-40B4-BE49-F238E27FC236}">
                <a16:creationId xmlns:a16="http://schemas.microsoft.com/office/drawing/2014/main" id="{D17701C8-ED7C-FBAF-09F0-01294E392D0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826783" y="2103715"/>
            <a:ext cx="238981" cy="238981"/>
          </a:xfrm>
          <a:prstGeom prst="rect">
            <a:avLst/>
          </a:prstGeom>
        </p:spPr>
      </p:pic>
      <p:sp>
        <p:nvSpPr>
          <p:cNvPr id="9" name="Text 7">
            <a:extLst>
              <a:ext uri="{FF2B5EF4-FFF2-40B4-BE49-F238E27FC236}">
                <a16:creationId xmlns:a16="http://schemas.microsoft.com/office/drawing/2014/main" id="{D15288BC-A47B-91BD-D1B3-336BAD663B55}"/>
              </a:ext>
            </a:extLst>
          </p:cNvPr>
          <p:cNvSpPr/>
          <p:nvPr/>
        </p:nvSpPr>
        <p:spPr>
          <a:xfrm>
            <a:off x="1059419" y="2718910"/>
            <a:ext cx="2114767" cy="311273"/>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Arial" panose="020B0604020202020204" pitchFamily="34" charset="0"/>
                <a:ea typeface="Crimson Pro Bold" pitchFamily="34" charset="-122"/>
                <a:cs typeface="Arial" panose="020B0604020202020204" pitchFamily="34" charset="0"/>
              </a:rPr>
              <a:t>Dirty Read</a:t>
            </a:r>
            <a:endParaRPr lang="en-US" sz="1950" dirty="0">
              <a:latin typeface="Arial" panose="020B0604020202020204" pitchFamily="34" charset="0"/>
              <a:cs typeface="Arial" panose="020B0604020202020204" pitchFamily="34" charset="0"/>
            </a:endParaRPr>
          </a:p>
        </p:txBody>
      </p:sp>
      <p:sp>
        <p:nvSpPr>
          <p:cNvPr id="10" name="Text 8">
            <a:extLst>
              <a:ext uri="{FF2B5EF4-FFF2-40B4-BE49-F238E27FC236}">
                <a16:creationId xmlns:a16="http://schemas.microsoft.com/office/drawing/2014/main" id="{B7ADE031-E63E-D254-1998-86D3AA13A0AF}"/>
              </a:ext>
            </a:extLst>
          </p:cNvPr>
          <p:cNvSpPr/>
          <p:nvPr/>
        </p:nvSpPr>
        <p:spPr>
          <a:xfrm>
            <a:off x="1059420" y="3148131"/>
            <a:ext cx="3216046" cy="1274727"/>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Transaction A đọc dữ liệu mà Transaction B đang ghi nhưng </a:t>
            </a:r>
            <a:r>
              <a:rPr lang="en-US" sz="1550" b="1" dirty="0">
                <a:solidFill>
                  <a:srgbClr val="443728"/>
                </a:solidFill>
                <a:latin typeface="Arial" panose="020B0604020202020204" pitchFamily="34" charset="0"/>
                <a:ea typeface="Open Sans" pitchFamily="34" charset="-122"/>
                <a:cs typeface="Arial" panose="020B0604020202020204" pitchFamily="34" charset="0"/>
              </a:rPr>
              <a:t>chưa commit</a:t>
            </a:r>
            <a:r>
              <a:rPr lang="en-US" sz="1550" dirty="0">
                <a:solidFill>
                  <a:srgbClr val="443728"/>
                </a:solidFill>
                <a:latin typeface="Arial" panose="020B0604020202020204" pitchFamily="34" charset="0"/>
                <a:ea typeface="Open Sans" pitchFamily="34" charset="-122"/>
                <a:cs typeface="Arial" panose="020B0604020202020204" pitchFamily="34" charset="0"/>
              </a:rPr>
              <a:t>. Nếu B rollback, A đã đọc dữ liệu sai.</a:t>
            </a:r>
            <a:endParaRPr lang="en-US" sz="1550" dirty="0">
              <a:latin typeface="Arial" panose="020B0604020202020204" pitchFamily="34" charset="0"/>
              <a:cs typeface="Arial" panose="020B0604020202020204" pitchFamily="34" charset="0"/>
            </a:endParaRPr>
          </a:p>
        </p:txBody>
      </p:sp>
      <p:sp>
        <p:nvSpPr>
          <p:cNvPr id="11" name="Shape 9">
            <a:extLst>
              <a:ext uri="{FF2B5EF4-FFF2-40B4-BE49-F238E27FC236}">
                <a16:creationId xmlns:a16="http://schemas.microsoft.com/office/drawing/2014/main" id="{82B71252-FDAF-78D7-4D85-1D82A324DD3C}"/>
              </a:ext>
            </a:extLst>
          </p:cNvPr>
          <p:cNvSpPr/>
          <p:nvPr/>
        </p:nvSpPr>
        <p:spPr>
          <a:xfrm>
            <a:off x="4572000" y="2216289"/>
            <a:ext cx="3593287" cy="2425422"/>
          </a:xfrm>
          <a:prstGeom prst="roundRect">
            <a:avLst>
              <a:gd name="adj" fmla="val 4540"/>
            </a:avLst>
          </a:prstGeom>
          <a:solidFill>
            <a:srgbClr val="FFFCFA"/>
          </a:solidFill>
          <a:ln/>
        </p:spPr>
        <p:txBody>
          <a:bodyPr/>
          <a:lstStyle/>
          <a:p>
            <a:endParaRPr lang="en-US">
              <a:latin typeface="Arial" panose="020B0604020202020204" pitchFamily="34" charset="0"/>
              <a:cs typeface="Arial" panose="020B0604020202020204" pitchFamily="34" charset="0"/>
            </a:endParaRPr>
          </a:p>
        </p:txBody>
      </p:sp>
      <p:sp>
        <p:nvSpPr>
          <p:cNvPr id="12" name="Shape 10">
            <a:extLst>
              <a:ext uri="{FF2B5EF4-FFF2-40B4-BE49-F238E27FC236}">
                <a16:creationId xmlns:a16="http://schemas.microsoft.com/office/drawing/2014/main" id="{A6753767-3FE3-EA4F-826B-C5E8AB9E651B}"/>
              </a:ext>
            </a:extLst>
          </p:cNvPr>
          <p:cNvSpPr/>
          <p:nvPr/>
        </p:nvSpPr>
        <p:spPr>
          <a:xfrm>
            <a:off x="4572000" y="2193428"/>
            <a:ext cx="3593287" cy="91769"/>
          </a:xfrm>
          <a:prstGeom prst="roundRect">
            <a:avLst>
              <a:gd name="adj" fmla="val 91163"/>
            </a:avLst>
          </a:prstGeom>
          <a:solidFill>
            <a:srgbClr val="835E54"/>
          </a:solidFill>
          <a:ln/>
        </p:spPr>
        <p:txBody>
          <a:bodyPr/>
          <a:lstStyle/>
          <a:p>
            <a:endParaRPr lang="en-US">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052C8CCB-798C-6DA4-5402-95F2CD22C98A}"/>
              </a:ext>
            </a:extLst>
          </p:cNvPr>
          <p:cNvSpPr/>
          <p:nvPr/>
        </p:nvSpPr>
        <p:spPr>
          <a:xfrm>
            <a:off x="6381988" y="1918632"/>
            <a:ext cx="507455" cy="597454"/>
          </a:xfrm>
          <a:prstGeom prst="roundRect">
            <a:avLst>
              <a:gd name="adj" fmla="val 153600"/>
            </a:avLst>
          </a:prstGeom>
          <a:solidFill>
            <a:srgbClr val="835E54"/>
          </a:solidFill>
          <a:ln/>
        </p:spPr>
        <p:txBody>
          <a:bodyPr/>
          <a:lstStyle/>
          <a:p>
            <a:endParaRPr lang="en-US">
              <a:latin typeface="Arial" panose="020B0604020202020204" pitchFamily="34" charset="0"/>
              <a:cs typeface="Arial" panose="020B0604020202020204" pitchFamily="34" charset="0"/>
            </a:endParaRPr>
          </a:p>
        </p:txBody>
      </p:sp>
      <p:pic>
        <p:nvPicPr>
          <p:cNvPr id="14" name="Image 1" descr="preencoded.png">
            <a:extLst>
              <a:ext uri="{FF2B5EF4-FFF2-40B4-BE49-F238E27FC236}">
                <a16:creationId xmlns:a16="http://schemas.microsoft.com/office/drawing/2014/main" id="{85BA5BF2-0E9A-F79E-39C7-0CB752DA83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0581" y="2097226"/>
            <a:ext cx="238981" cy="238981"/>
          </a:xfrm>
          <a:prstGeom prst="rect">
            <a:avLst/>
          </a:prstGeom>
        </p:spPr>
      </p:pic>
      <p:sp>
        <p:nvSpPr>
          <p:cNvPr id="15" name="Text 12">
            <a:extLst>
              <a:ext uri="{FF2B5EF4-FFF2-40B4-BE49-F238E27FC236}">
                <a16:creationId xmlns:a16="http://schemas.microsoft.com/office/drawing/2014/main" id="{F842CD50-C1B1-39B1-1563-BA6E0E5D2A14}"/>
              </a:ext>
            </a:extLst>
          </p:cNvPr>
          <p:cNvSpPr/>
          <p:nvPr/>
        </p:nvSpPr>
        <p:spPr>
          <a:xfrm>
            <a:off x="4793218" y="2712421"/>
            <a:ext cx="2114767" cy="311273"/>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Arial" panose="020B0604020202020204" pitchFamily="34" charset="0"/>
                <a:ea typeface="Crimson Pro Bold" pitchFamily="34" charset="-122"/>
                <a:cs typeface="Arial" panose="020B0604020202020204" pitchFamily="34" charset="0"/>
              </a:rPr>
              <a:t>Non-Repeatable Read</a:t>
            </a:r>
            <a:endParaRPr lang="en-US" sz="1950" dirty="0">
              <a:latin typeface="Arial" panose="020B0604020202020204" pitchFamily="34" charset="0"/>
              <a:cs typeface="Arial" panose="020B0604020202020204" pitchFamily="34" charset="0"/>
            </a:endParaRPr>
          </a:p>
        </p:txBody>
      </p:sp>
      <p:sp>
        <p:nvSpPr>
          <p:cNvPr id="16" name="Text 13">
            <a:extLst>
              <a:ext uri="{FF2B5EF4-FFF2-40B4-BE49-F238E27FC236}">
                <a16:creationId xmlns:a16="http://schemas.microsoft.com/office/drawing/2014/main" id="{9366FC67-170F-E600-CACE-DE437B324A8A}"/>
              </a:ext>
            </a:extLst>
          </p:cNvPr>
          <p:cNvSpPr/>
          <p:nvPr/>
        </p:nvSpPr>
        <p:spPr>
          <a:xfrm>
            <a:off x="4793218" y="3141642"/>
            <a:ext cx="3216147" cy="1274727"/>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Transaction A đọc cùng một dòng dữ liệu hai lần nhưng nhận được </a:t>
            </a:r>
            <a:r>
              <a:rPr lang="en-US" sz="1550" b="1" dirty="0">
                <a:solidFill>
                  <a:srgbClr val="443728"/>
                </a:solidFill>
                <a:latin typeface="Arial" panose="020B0604020202020204" pitchFamily="34" charset="0"/>
                <a:ea typeface="Open Sans" pitchFamily="34" charset="-122"/>
                <a:cs typeface="Arial" panose="020B0604020202020204" pitchFamily="34" charset="0"/>
              </a:rPr>
              <a:t>kết quả khác nhau</a:t>
            </a:r>
            <a:r>
              <a:rPr lang="en-US" sz="1550" dirty="0">
                <a:solidFill>
                  <a:srgbClr val="443728"/>
                </a:solidFill>
                <a:latin typeface="Arial" panose="020B0604020202020204" pitchFamily="34" charset="0"/>
                <a:ea typeface="Open Sans" pitchFamily="34" charset="-122"/>
                <a:cs typeface="Arial" panose="020B0604020202020204" pitchFamily="34" charset="0"/>
              </a:rPr>
              <a:t> vì Transaction B đã sửa đổi giữa hai lần đọc.</a:t>
            </a:r>
            <a:endParaRPr lang="en-US" sz="1550" dirty="0">
              <a:latin typeface="Arial" panose="020B0604020202020204" pitchFamily="34" charset="0"/>
              <a:cs typeface="Arial" panose="020B0604020202020204" pitchFamily="34" charset="0"/>
            </a:endParaRPr>
          </a:p>
        </p:txBody>
      </p:sp>
      <p:sp>
        <p:nvSpPr>
          <p:cNvPr id="17" name="Shape 14">
            <a:extLst>
              <a:ext uri="{FF2B5EF4-FFF2-40B4-BE49-F238E27FC236}">
                <a16:creationId xmlns:a16="http://schemas.microsoft.com/office/drawing/2014/main" id="{F772A783-2A96-87FB-A9AD-EAF9BF492F6F}"/>
              </a:ext>
            </a:extLst>
          </p:cNvPr>
          <p:cNvSpPr/>
          <p:nvPr/>
        </p:nvSpPr>
        <p:spPr>
          <a:xfrm>
            <a:off x="8353848" y="2222778"/>
            <a:ext cx="3593186" cy="2425422"/>
          </a:xfrm>
          <a:prstGeom prst="roundRect">
            <a:avLst>
              <a:gd name="adj" fmla="val 4540"/>
            </a:avLst>
          </a:prstGeom>
          <a:solidFill>
            <a:srgbClr val="FFFCFA"/>
          </a:solidFill>
          <a:ln/>
        </p:spPr>
        <p:txBody>
          <a:bodyPr/>
          <a:lstStyle/>
          <a:p>
            <a:endParaRPr lang="en-US">
              <a:latin typeface="Arial" panose="020B0604020202020204" pitchFamily="34" charset="0"/>
              <a:cs typeface="Arial" panose="020B0604020202020204" pitchFamily="34" charset="0"/>
            </a:endParaRPr>
          </a:p>
        </p:txBody>
      </p:sp>
      <p:sp>
        <p:nvSpPr>
          <p:cNvPr id="18" name="Shape 15">
            <a:extLst>
              <a:ext uri="{FF2B5EF4-FFF2-40B4-BE49-F238E27FC236}">
                <a16:creationId xmlns:a16="http://schemas.microsoft.com/office/drawing/2014/main" id="{2530A042-196D-DB30-A106-0D34B5A6A9A8}"/>
              </a:ext>
            </a:extLst>
          </p:cNvPr>
          <p:cNvSpPr/>
          <p:nvPr/>
        </p:nvSpPr>
        <p:spPr>
          <a:xfrm>
            <a:off x="8353848" y="2199917"/>
            <a:ext cx="3593186" cy="91769"/>
          </a:xfrm>
          <a:prstGeom prst="roundRect">
            <a:avLst>
              <a:gd name="adj" fmla="val 91163"/>
            </a:avLst>
          </a:prstGeom>
          <a:solidFill>
            <a:srgbClr val="835E54"/>
          </a:solidFill>
          <a:ln/>
        </p:spPr>
        <p:txBody>
          <a:bodyPr/>
          <a:lstStyle/>
          <a:p>
            <a:endParaRPr lang="en-US">
              <a:latin typeface="Arial" panose="020B0604020202020204" pitchFamily="34" charset="0"/>
              <a:cs typeface="Arial" panose="020B0604020202020204" pitchFamily="34" charset="0"/>
            </a:endParaRPr>
          </a:p>
        </p:txBody>
      </p:sp>
      <p:sp>
        <p:nvSpPr>
          <p:cNvPr id="19" name="Shape 16">
            <a:extLst>
              <a:ext uri="{FF2B5EF4-FFF2-40B4-BE49-F238E27FC236}">
                <a16:creationId xmlns:a16="http://schemas.microsoft.com/office/drawing/2014/main" id="{7A550616-FFF1-978A-F7CE-E03D9B65E86B}"/>
              </a:ext>
            </a:extLst>
          </p:cNvPr>
          <p:cNvSpPr/>
          <p:nvPr/>
        </p:nvSpPr>
        <p:spPr>
          <a:xfrm>
            <a:off x="10163835" y="1925121"/>
            <a:ext cx="507455" cy="597454"/>
          </a:xfrm>
          <a:prstGeom prst="roundRect">
            <a:avLst>
              <a:gd name="adj" fmla="val 153600"/>
            </a:avLst>
          </a:prstGeom>
          <a:solidFill>
            <a:srgbClr val="835E54"/>
          </a:solidFill>
          <a:ln/>
        </p:spPr>
        <p:txBody>
          <a:bodyPr/>
          <a:lstStyle/>
          <a:p>
            <a:endParaRPr lang="en-US">
              <a:latin typeface="Arial" panose="020B0604020202020204" pitchFamily="34" charset="0"/>
              <a:cs typeface="Arial" panose="020B0604020202020204" pitchFamily="34" charset="0"/>
            </a:endParaRPr>
          </a:p>
        </p:txBody>
      </p:sp>
      <p:pic>
        <p:nvPicPr>
          <p:cNvPr id="20" name="Image 2" descr="preencoded.png">
            <a:extLst>
              <a:ext uri="{FF2B5EF4-FFF2-40B4-BE49-F238E27FC236}">
                <a16:creationId xmlns:a16="http://schemas.microsoft.com/office/drawing/2014/main" id="{246F3383-5C43-44FD-0F73-3121C6A6AA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42428" y="2103715"/>
            <a:ext cx="238981" cy="238981"/>
          </a:xfrm>
          <a:prstGeom prst="rect">
            <a:avLst/>
          </a:prstGeom>
        </p:spPr>
      </p:pic>
      <p:sp>
        <p:nvSpPr>
          <p:cNvPr id="21" name="Text 17">
            <a:extLst>
              <a:ext uri="{FF2B5EF4-FFF2-40B4-BE49-F238E27FC236}">
                <a16:creationId xmlns:a16="http://schemas.microsoft.com/office/drawing/2014/main" id="{68C441D8-E8B8-4441-9007-36DDBEA4AF59}"/>
              </a:ext>
            </a:extLst>
          </p:cNvPr>
          <p:cNvSpPr/>
          <p:nvPr/>
        </p:nvSpPr>
        <p:spPr>
          <a:xfrm>
            <a:off x="8575065" y="2718910"/>
            <a:ext cx="2114767" cy="311273"/>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Arial" panose="020B0604020202020204" pitchFamily="34" charset="0"/>
                <a:ea typeface="Crimson Pro Bold" pitchFamily="34" charset="-122"/>
                <a:cs typeface="Arial" panose="020B0604020202020204" pitchFamily="34" charset="0"/>
              </a:rPr>
              <a:t>Phantom Read</a:t>
            </a:r>
            <a:endParaRPr lang="en-US" sz="1950" dirty="0">
              <a:latin typeface="Arial" panose="020B0604020202020204" pitchFamily="34" charset="0"/>
              <a:cs typeface="Arial" panose="020B0604020202020204" pitchFamily="34" charset="0"/>
            </a:endParaRPr>
          </a:p>
        </p:txBody>
      </p:sp>
      <p:sp>
        <p:nvSpPr>
          <p:cNvPr id="22" name="Text 18">
            <a:extLst>
              <a:ext uri="{FF2B5EF4-FFF2-40B4-BE49-F238E27FC236}">
                <a16:creationId xmlns:a16="http://schemas.microsoft.com/office/drawing/2014/main" id="{E829CDBF-B25F-0FA9-4C84-8AFDE233D490}"/>
              </a:ext>
            </a:extLst>
          </p:cNvPr>
          <p:cNvSpPr/>
          <p:nvPr/>
        </p:nvSpPr>
        <p:spPr>
          <a:xfrm>
            <a:off x="8575066" y="3148131"/>
            <a:ext cx="3216046" cy="1274727"/>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Transaction A thực hiện cùng một query hai lần nhưng lần sau thấy </a:t>
            </a:r>
            <a:r>
              <a:rPr lang="en-US" sz="1550" b="1" dirty="0">
                <a:solidFill>
                  <a:srgbClr val="443728"/>
                </a:solidFill>
                <a:latin typeface="Arial" panose="020B0604020202020204" pitchFamily="34" charset="0"/>
                <a:ea typeface="Open Sans" pitchFamily="34" charset="-122"/>
                <a:cs typeface="Arial" panose="020B0604020202020204" pitchFamily="34" charset="0"/>
              </a:rPr>
              <a:t>thêm hoặc mất dòng dữ liệu</a:t>
            </a:r>
            <a:r>
              <a:rPr lang="en-US" sz="1550" dirty="0">
                <a:solidFill>
                  <a:srgbClr val="443728"/>
                </a:solidFill>
                <a:latin typeface="Arial" panose="020B0604020202020204" pitchFamily="34" charset="0"/>
                <a:ea typeface="Open Sans" pitchFamily="34" charset="-122"/>
                <a:cs typeface="Arial" panose="020B0604020202020204" pitchFamily="34" charset="0"/>
              </a:rPr>
              <a:t> do Transaction B đã INSERT hoặc DELETE.</a:t>
            </a:r>
            <a:endParaRPr lang="en-US" sz="15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076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948B1-4A30-3D62-37CD-52F3FCE57078}"/>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072C8D87-5F73-56B2-B879-91FDFD905A61}"/>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90AB61C9-39D5-BBF1-9E11-716A69E1B25B}"/>
              </a:ext>
            </a:extLst>
          </p:cNvPr>
          <p:cNvSpPr/>
          <p:nvPr/>
        </p:nvSpPr>
        <p:spPr>
          <a:xfrm>
            <a:off x="914400" y="381000"/>
            <a:ext cx="6952655" cy="620078"/>
          </a:xfrm>
          <a:prstGeom prst="rect">
            <a:avLst/>
          </a:prstGeom>
          <a:noFill/>
          <a:ln/>
        </p:spPr>
        <p:txBody>
          <a:bodyPr wrap="none" lIns="0" tIns="0" rIns="0" bIns="0" rtlCol="0" anchor="t"/>
          <a:lstStyle/>
          <a:p>
            <a:pPr marL="0" indent="0" algn="l">
              <a:lnSpc>
                <a:spcPts val="4850"/>
              </a:lnSpc>
              <a:buNone/>
            </a:pPr>
            <a:r>
              <a:rPr lang="en-US" sz="3900" b="1" dirty="0">
                <a:solidFill>
                  <a:srgbClr val="443728"/>
                </a:solidFill>
                <a:latin typeface="Arial" panose="020B0604020202020204" pitchFamily="34" charset="0"/>
                <a:ea typeface="Crimson Pro Bold" pitchFamily="34" charset="-122"/>
                <a:cs typeface="Arial" panose="020B0604020202020204" pitchFamily="34" charset="0"/>
              </a:rPr>
              <a:t>4 Mức Isolation &amp; Khi Nào Dùng?</a:t>
            </a:r>
            <a:endParaRPr lang="en-US" sz="3900" dirty="0">
              <a:latin typeface="Arial" panose="020B0604020202020204" pitchFamily="34" charset="0"/>
              <a:cs typeface="Arial" panose="020B0604020202020204" pitchFamily="34" charset="0"/>
            </a:endParaRPr>
          </a:p>
        </p:txBody>
      </p:sp>
      <p:sp>
        <p:nvSpPr>
          <p:cNvPr id="3" name="Shape 3">
            <a:extLst>
              <a:ext uri="{FF2B5EF4-FFF2-40B4-BE49-F238E27FC236}">
                <a16:creationId xmlns:a16="http://schemas.microsoft.com/office/drawing/2014/main" id="{3E962007-0CD6-6F89-3CAC-1A3B332A8E2D}"/>
              </a:ext>
            </a:extLst>
          </p:cNvPr>
          <p:cNvSpPr/>
          <p:nvPr/>
        </p:nvSpPr>
        <p:spPr>
          <a:xfrm>
            <a:off x="914401" y="1298734"/>
            <a:ext cx="10896600" cy="2930723"/>
          </a:xfrm>
          <a:prstGeom prst="roundRect">
            <a:avLst>
              <a:gd name="adj" fmla="val 2844"/>
            </a:avLst>
          </a:prstGeom>
          <a:noFill/>
          <a:ln w="7620">
            <a:solidFill>
              <a:srgbClr val="000000">
                <a:alpha val="8000"/>
              </a:srgbClr>
            </a:solidFill>
            <a:prstDash val="solid"/>
          </a:ln>
        </p:spPr>
        <p:txBody>
          <a:bodyPr/>
          <a:lstStyle/>
          <a:p>
            <a:endParaRPr lang="en-US">
              <a:latin typeface="Arial" panose="020B0604020202020204" pitchFamily="34" charset="0"/>
              <a:cs typeface="Arial" panose="020B0604020202020204" pitchFamily="34" charset="0"/>
            </a:endParaRPr>
          </a:p>
        </p:txBody>
      </p:sp>
      <p:sp>
        <p:nvSpPr>
          <p:cNvPr id="4" name="Text 4">
            <a:extLst>
              <a:ext uri="{FF2B5EF4-FFF2-40B4-BE49-F238E27FC236}">
                <a16:creationId xmlns:a16="http://schemas.microsoft.com/office/drawing/2014/main" id="{7CB04F48-7EE2-B490-3407-27F299682550}"/>
              </a:ext>
            </a:extLst>
          </p:cNvPr>
          <p:cNvSpPr/>
          <p:nvPr/>
        </p:nvSpPr>
        <p:spPr>
          <a:xfrm>
            <a:off x="1120735" y="1433036"/>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Isolation Level</a:t>
            </a:r>
            <a:endParaRPr lang="en-US" sz="1550" dirty="0">
              <a:latin typeface="Arial" panose="020B0604020202020204" pitchFamily="34" charset="0"/>
              <a:cs typeface="Arial" panose="020B0604020202020204" pitchFamily="34" charset="0"/>
            </a:endParaRPr>
          </a:p>
        </p:txBody>
      </p:sp>
      <p:sp>
        <p:nvSpPr>
          <p:cNvPr id="5" name="Text 5">
            <a:extLst>
              <a:ext uri="{FF2B5EF4-FFF2-40B4-BE49-F238E27FC236}">
                <a16:creationId xmlns:a16="http://schemas.microsoft.com/office/drawing/2014/main" id="{CE54B42C-D09B-E92A-65A4-65D4D25CC55F}"/>
              </a:ext>
            </a:extLst>
          </p:cNvPr>
          <p:cNvSpPr/>
          <p:nvPr/>
        </p:nvSpPr>
        <p:spPr>
          <a:xfrm>
            <a:off x="3404592" y="1433036"/>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Dirty Read</a:t>
            </a:r>
            <a:endParaRPr lang="en-US" sz="1550" dirty="0">
              <a:latin typeface="Arial" panose="020B0604020202020204" pitchFamily="34" charset="0"/>
              <a:cs typeface="Arial" panose="020B0604020202020204" pitchFamily="34" charset="0"/>
            </a:endParaRPr>
          </a:p>
        </p:txBody>
      </p:sp>
      <p:sp>
        <p:nvSpPr>
          <p:cNvPr id="6" name="Text 6">
            <a:extLst>
              <a:ext uri="{FF2B5EF4-FFF2-40B4-BE49-F238E27FC236}">
                <a16:creationId xmlns:a16="http://schemas.microsoft.com/office/drawing/2014/main" id="{3A4060B0-C10A-15BF-71E9-1333BB212889}"/>
              </a:ext>
            </a:extLst>
          </p:cNvPr>
          <p:cNvSpPr/>
          <p:nvPr/>
        </p:nvSpPr>
        <p:spPr>
          <a:xfrm>
            <a:off x="5309592" y="1433036"/>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Non-Repeatable Read</a:t>
            </a:r>
            <a:endParaRPr lang="en-US" sz="1550" dirty="0">
              <a:latin typeface="Arial" panose="020B0604020202020204" pitchFamily="34" charset="0"/>
              <a:cs typeface="Arial" panose="020B0604020202020204" pitchFamily="34" charset="0"/>
            </a:endParaRPr>
          </a:p>
        </p:txBody>
      </p:sp>
      <p:sp>
        <p:nvSpPr>
          <p:cNvPr id="8" name="Text 7">
            <a:extLst>
              <a:ext uri="{FF2B5EF4-FFF2-40B4-BE49-F238E27FC236}">
                <a16:creationId xmlns:a16="http://schemas.microsoft.com/office/drawing/2014/main" id="{DAAB6F14-0E53-7D5E-387F-859A8676B499}"/>
              </a:ext>
            </a:extLst>
          </p:cNvPr>
          <p:cNvSpPr/>
          <p:nvPr/>
        </p:nvSpPr>
        <p:spPr>
          <a:xfrm>
            <a:off x="7857292" y="1433036"/>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Phantom Read</a:t>
            </a:r>
            <a:endParaRPr lang="en-US" sz="1550" dirty="0">
              <a:latin typeface="Arial" panose="020B0604020202020204" pitchFamily="34" charset="0"/>
              <a:cs typeface="Arial" panose="020B0604020202020204" pitchFamily="34" charset="0"/>
            </a:endParaRPr>
          </a:p>
        </p:txBody>
      </p:sp>
      <p:sp>
        <p:nvSpPr>
          <p:cNvPr id="9" name="Text 8">
            <a:extLst>
              <a:ext uri="{FF2B5EF4-FFF2-40B4-BE49-F238E27FC236}">
                <a16:creationId xmlns:a16="http://schemas.microsoft.com/office/drawing/2014/main" id="{3F933B68-7BB0-D47D-3C5A-B846E65FD1BD}"/>
              </a:ext>
            </a:extLst>
          </p:cNvPr>
          <p:cNvSpPr/>
          <p:nvPr/>
        </p:nvSpPr>
        <p:spPr>
          <a:xfrm>
            <a:off x="10377845" y="1433036"/>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Hiệu năng</a:t>
            </a:r>
            <a:endParaRPr lang="en-US" sz="1550" dirty="0">
              <a:latin typeface="Arial" panose="020B0604020202020204" pitchFamily="34" charset="0"/>
              <a:cs typeface="Arial" panose="020B0604020202020204" pitchFamily="34" charset="0"/>
            </a:endParaRPr>
          </a:p>
        </p:txBody>
      </p:sp>
      <p:sp>
        <p:nvSpPr>
          <p:cNvPr id="10" name="Text 9">
            <a:extLst>
              <a:ext uri="{FF2B5EF4-FFF2-40B4-BE49-F238E27FC236}">
                <a16:creationId xmlns:a16="http://schemas.microsoft.com/office/drawing/2014/main" id="{5833329F-E14E-C85C-4237-E9BC9CE9B18B}"/>
              </a:ext>
            </a:extLst>
          </p:cNvPr>
          <p:cNvSpPr/>
          <p:nvPr/>
        </p:nvSpPr>
        <p:spPr>
          <a:xfrm>
            <a:off x="1120735" y="2011561"/>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READ UNCOMMITTED</a:t>
            </a:r>
            <a:endParaRPr lang="en-US" sz="1550" dirty="0">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41570E9B-57B1-EAAC-9952-68D768F2EBC8}"/>
              </a:ext>
            </a:extLst>
          </p:cNvPr>
          <p:cNvSpPr/>
          <p:nvPr/>
        </p:nvSpPr>
        <p:spPr>
          <a:xfrm>
            <a:off x="3404592" y="2011561"/>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Có thể xảy ra</a:t>
            </a:r>
            <a:endParaRPr lang="en-US" sz="1550" dirty="0">
              <a:latin typeface="Arial" panose="020B0604020202020204" pitchFamily="34" charset="0"/>
              <a:cs typeface="Arial" panose="020B0604020202020204" pitchFamily="34" charset="0"/>
            </a:endParaRPr>
          </a:p>
        </p:txBody>
      </p:sp>
      <p:sp>
        <p:nvSpPr>
          <p:cNvPr id="12" name="Text 11">
            <a:extLst>
              <a:ext uri="{FF2B5EF4-FFF2-40B4-BE49-F238E27FC236}">
                <a16:creationId xmlns:a16="http://schemas.microsoft.com/office/drawing/2014/main" id="{8FECBACE-38FF-F1D5-2642-16B47A5967F7}"/>
              </a:ext>
            </a:extLst>
          </p:cNvPr>
          <p:cNvSpPr/>
          <p:nvPr/>
        </p:nvSpPr>
        <p:spPr>
          <a:xfrm>
            <a:off x="5309592" y="2011561"/>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Có thể xảy ra</a:t>
            </a:r>
            <a:endParaRPr lang="en-US" sz="1550" dirty="0">
              <a:latin typeface="Arial" panose="020B0604020202020204" pitchFamily="34" charset="0"/>
              <a:cs typeface="Arial" panose="020B0604020202020204" pitchFamily="34" charset="0"/>
            </a:endParaRPr>
          </a:p>
        </p:txBody>
      </p:sp>
      <p:sp>
        <p:nvSpPr>
          <p:cNvPr id="13" name="Text 12">
            <a:extLst>
              <a:ext uri="{FF2B5EF4-FFF2-40B4-BE49-F238E27FC236}">
                <a16:creationId xmlns:a16="http://schemas.microsoft.com/office/drawing/2014/main" id="{C2E34948-101B-8AD7-C301-CA73E413592C}"/>
              </a:ext>
            </a:extLst>
          </p:cNvPr>
          <p:cNvSpPr/>
          <p:nvPr/>
        </p:nvSpPr>
        <p:spPr>
          <a:xfrm>
            <a:off x="7857292" y="2011561"/>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Có thể xảy ra</a:t>
            </a:r>
            <a:endParaRPr lang="en-US" sz="1550" dirty="0">
              <a:latin typeface="Arial" panose="020B0604020202020204" pitchFamily="34" charset="0"/>
              <a:cs typeface="Arial" panose="020B0604020202020204" pitchFamily="34" charset="0"/>
            </a:endParaRPr>
          </a:p>
        </p:txBody>
      </p:sp>
      <p:sp>
        <p:nvSpPr>
          <p:cNvPr id="14" name="Text 13">
            <a:extLst>
              <a:ext uri="{FF2B5EF4-FFF2-40B4-BE49-F238E27FC236}">
                <a16:creationId xmlns:a16="http://schemas.microsoft.com/office/drawing/2014/main" id="{A0101A51-4D7D-A2F2-B8AB-71F5077728B1}"/>
              </a:ext>
            </a:extLst>
          </p:cNvPr>
          <p:cNvSpPr/>
          <p:nvPr/>
        </p:nvSpPr>
        <p:spPr>
          <a:xfrm>
            <a:off x="10377845" y="2011561"/>
            <a:ext cx="220491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Cao nhất</a:t>
            </a:r>
            <a:endParaRPr lang="en-US" sz="1550" dirty="0">
              <a:latin typeface="Arial" panose="020B0604020202020204" pitchFamily="34" charset="0"/>
              <a:cs typeface="Arial" panose="020B0604020202020204" pitchFamily="34" charset="0"/>
            </a:endParaRPr>
          </a:p>
        </p:txBody>
      </p:sp>
      <p:sp>
        <p:nvSpPr>
          <p:cNvPr id="15" name="Text 14">
            <a:extLst>
              <a:ext uri="{FF2B5EF4-FFF2-40B4-BE49-F238E27FC236}">
                <a16:creationId xmlns:a16="http://schemas.microsoft.com/office/drawing/2014/main" id="{4777450A-62B5-7D73-49A0-2E7E07CA7EF4}"/>
              </a:ext>
            </a:extLst>
          </p:cNvPr>
          <p:cNvSpPr/>
          <p:nvPr/>
        </p:nvSpPr>
        <p:spPr>
          <a:xfrm>
            <a:off x="1120735" y="2597706"/>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READ COMMITTED</a:t>
            </a:r>
            <a:endParaRPr lang="en-US" sz="1550" dirty="0">
              <a:latin typeface="Arial" panose="020B0604020202020204" pitchFamily="34" charset="0"/>
              <a:cs typeface="Arial" panose="020B0604020202020204" pitchFamily="34" charset="0"/>
            </a:endParaRPr>
          </a:p>
        </p:txBody>
      </p:sp>
      <p:sp>
        <p:nvSpPr>
          <p:cNvPr id="16" name="Text 15">
            <a:extLst>
              <a:ext uri="{FF2B5EF4-FFF2-40B4-BE49-F238E27FC236}">
                <a16:creationId xmlns:a16="http://schemas.microsoft.com/office/drawing/2014/main" id="{4B065AA2-A818-9B25-A24D-5D8EC3AA9EFD}"/>
              </a:ext>
            </a:extLst>
          </p:cNvPr>
          <p:cNvSpPr/>
          <p:nvPr/>
        </p:nvSpPr>
        <p:spPr>
          <a:xfrm>
            <a:off x="3404592" y="2597706"/>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Ngăn chặn</a:t>
            </a:r>
            <a:endParaRPr lang="en-US" sz="1550" dirty="0">
              <a:latin typeface="Arial" panose="020B0604020202020204" pitchFamily="34" charset="0"/>
              <a:cs typeface="Arial" panose="020B0604020202020204" pitchFamily="34" charset="0"/>
            </a:endParaRPr>
          </a:p>
        </p:txBody>
      </p:sp>
      <p:sp>
        <p:nvSpPr>
          <p:cNvPr id="17" name="Text 16">
            <a:extLst>
              <a:ext uri="{FF2B5EF4-FFF2-40B4-BE49-F238E27FC236}">
                <a16:creationId xmlns:a16="http://schemas.microsoft.com/office/drawing/2014/main" id="{34D9EECE-E508-7FB7-BF63-54CDFC48372F}"/>
              </a:ext>
            </a:extLst>
          </p:cNvPr>
          <p:cNvSpPr/>
          <p:nvPr/>
        </p:nvSpPr>
        <p:spPr>
          <a:xfrm>
            <a:off x="5309592" y="2597706"/>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Có thể xảy ra</a:t>
            </a:r>
            <a:endParaRPr lang="en-US" sz="1550" dirty="0">
              <a:latin typeface="Arial" panose="020B0604020202020204" pitchFamily="34" charset="0"/>
              <a:cs typeface="Arial" panose="020B0604020202020204" pitchFamily="34" charset="0"/>
            </a:endParaRPr>
          </a:p>
        </p:txBody>
      </p:sp>
      <p:sp>
        <p:nvSpPr>
          <p:cNvPr id="18" name="Text 17">
            <a:extLst>
              <a:ext uri="{FF2B5EF4-FFF2-40B4-BE49-F238E27FC236}">
                <a16:creationId xmlns:a16="http://schemas.microsoft.com/office/drawing/2014/main" id="{8A4AF25A-DCF8-B88F-7283-AE7A869B5357}"/>
              </a:ext>
            </a:extLst>
          </p:cNvPr>
          <p:cNvSpPr/>
          <p:nvPr/>
        </p:nvSpPr>
        <p:spPr>
          <a:xfrm>
            <a:off x="7857292" y="2597706"/>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Có thể xảy ra</a:t>
            </a:r>
            <a:endParaRPr lang="en-US" sz="1550" dirty="0">
              <a:latin typeface="Arial" panose="020B0604020202020204" pitchFamily="34" charset="0"/>
              <a:cs typeface="Arial" panose="020B0604020202020204" pitchFamily="34" charset="0"/>
            </a:endParaRPr>
          </a:p>
        </p:txBody>
      </p:sp>
      <p:sp>
        <p:nvSpPr>
          <p:cNvPr id="19" name="Text 18">
            <a:extLst>
              <a:ext uri="{FF2B5EF4-FFF2-40B4-BE49-F238E27FC236}">
                <a16:creationId xmlns:a16="http://schemas.microsoft.com/office/drawing/2014/main" id="{D6E19BF9-CC79-FD69-0F88-DD76FD456EC4}"/>
              </a:ext>
            </a:extLst>
          </p:cNvPr>
          <p:cNvSpPr/>
          <p:nvPr/>
        </p:nvSpPr>
        <p:spPr>
          <a:xfrm>
            <a:off x="10377845" y="2597706"/>
            <a:ext cx="220491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Cao</a:t>
            </a:r>
            <a:endParaRPr lang="en-US" sz="1550" dirty="0">
              <a:latin typeface="Arial" panose="020B0604020202020204" pitchFamily="34" charset="0"/>
              <a:cs typeface="Arial" panose="020B0604020202020204" pitchFamily="34" charset="0"/>
            </a:endParaRPr>
          </a:p>
        </p:txBody>
      </p:sp>
      <p:sp>
        <p:nvSpPr>
          <p:cNvPr id="20" name="Text 19">
            <a:extLst>
              <a:ext uri="{FF2B5EF4-FFF2-40B4-BE49-F238E27FC236}">
                <a16:creationId xmlns:a16="http://schemas.microsoft.com/office/drawing/2014/main" id="{78CE3324-8EF8-25DF-8E98-B160B29DD31C}"/>
              </a:ext>
            </a:extLst>
          </p:cNvPr>
          <p:cNvSpPr/>
          <p:nvPr/>
        </p:nvSpPr>
        <p:spPr>
          <a:xfrm>
            <a:off x="1120735" y="3183850"/>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REPEATABLE READ</a:t>
            </a:r>
            <a:endParaRPr lang="en-US" sz="1550" dirty="0">
              <a:latin typeface="Arial" panose="020B0604020202020204" pitchFamily="34" charset="0"/>
              <a:cs typeface="Arial" panose="020B0604020202020204" pitchFamily="34" charset="0"/>
            </a:endParaRPr>
          </a:p>
        </p:txBody>
      </p:sp>
      <p:sp>
        <p:nvSpPr>
          <p:cNvPr id="21" name="Text 20">
            <a:extLst>
              <a:ext uri="{FF2B5EF4-FFF2-40B4-BE49-F238E27FC236}">
                <a16:creationId xmlns:a16="http://schemas.microsoft.com/office/drawing/2014/main" id="{E17716AA-7D8D-B9E8-0137-E02C15606278}"/>
              </a:ext>
            </a:extLst>
          </p:cNvPr>
          <p:cNvSpPr/>
          <p:nvPr/>
        </p:nvSpPr>
        <p:spPr>
          <a:xfrm>
            <a:off x="3404592" y="3183850"/>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Ngăn chặn</a:t>
            </a:r>
            <a:endParaRPr lang="en-US" sz="1550" dirty="0">
              <a:latin typeface="Arial" panose="020B0604020202020204" pitchFamily="34" charset="0"/>
              <a:cs typeface="Arial" panose="020B0604020202020204" pitchFamily="34" charset="0"/>
            </a:endParaRPr>
          </a:p>
        </p:txBody>
      </p:sp>
      <p:sp>
        <p:nvSpPr>
          <p:cNvPr id="22" name="Text 21">
            <a:extLst>
              <a:ext uri="{FF2B5EF4-FFF2-40B4-BE49-F238E27FC236}">
                <a16:creationId xmlns:a16="http://schemas.microsoft.com/office/drawing/2014/main" id="{D7156861-5F38-0B2E-BCE7-EC3EEBBAB066}"/>
              </a:ext>
            </a:extLst>
          </p:cNvPr>
          <p:cNvSpPr/>
          <p:nvPr/>
        </p:nvSpPr>
        <p:spPr>
          <a:xfrm>
            <a:off x="5309592" y="3183850"/>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Ngăn chặn</a:t>
            </a:r>
            <a:endParaRPr lang="en-US" sz="1550" dirty="0">
              <a:latin typeface="Arial" panose="020B0604020202020204" pitchFamily="34" charset="0"/>
              <a:cs typeface="Arial" panose="020B0604020202020204" pitchFamily="34" charset="0"/>
            </a:endParaRPr>
          </a:p>
        </p:txBody>
      </p:sp>
      <p:sp>
        <p:nvSpPr>
          <p:cNvPr id="23" name="Text 22">
            <a:extLst>
              <a:ext uri="{FF2B5EF4-FFF2-40B4-BE49-F238E27FC236}">
                <a16:creationId xmlns:a16="http://schemas.microsoft.com/office/drawing/2014/main" id="{27DDE018-EEEE-9963-6623-EFF6EAC0F2BF}"/>
              </a:ext>
            </a:extLst>
          </p:cNvPr>
          <p:cNvSpPr/>
          <p:nvPr/>
        </p:nvSpPr>
        <p:spPr>
          <a:xfrm>
            <a:off x="7857292" y="3183850"/>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Có thể xảy ra</a:t>
            </a:r>
            <a:endParaRPr lang="en-US" sz="1550" dirty="0">
              <a:latin typeface="Arial" panose="020B0604020202020204" pitchFamily="34" charset="0"/>
              <a:cs typeface="Arial" panose="020B0604020202020204" pitchFamily="34" charset="0"/>
            </a:endParaRPr>
          </a:p>
        </p:txBody>
      </p:sp>
      <p:sp>
        <p:nvSpPr>
          <p:cNvPr id="24" name="Text 23">
            <a:extLst>
              <a:ext uri="{FF2B5EF4-FFF2-40B4-BE49-F238E27FC236}">
                <a16:creationId xmlns:a16="http://schemas.microsoft.com/office/drawing/2014/main" id="{63347132-DC64-3960-EC43-36A72D18DCE2}"/>
              </a:ext>
            </a:extLst>
          </p:cNvPr>
          <p:cNvSpPr/>
          <p:nvPr/>
        </p:nvSpPr>
        <p:spPr>
          <a:xfrm>
            <a:off x="10377845" y="3183850"/>
            <a:ext cx="220491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Trung bình</a:t>
            </a:r>
            <a:endParaRPr lang="en-US" sz="1550" dirty="0">
              <a:latin typeface="Arial" panose="020B0604020202020204" pitchFamily="34" charset="0"/>
              <a:cs typeface="Arial" panose="020B0604020202020204" pitchFamily="34" charset="0"/>
            </a:endParaRPr>
          </a:p>
        </p:txBody>
      </p:sp>
      <p:sp>
        <p:nvSpPr>
          <p:cNvPr id="25" name="Text 24">
            <a:extLst>
              <a:ext uri="{FF2B5EF4-FFF2-40B4-BE49-F238E27FC236}">
                <a16:creationId xmlns:a16="http://schemas.microsoft.com/office/drawing/2014/main" id="{A01AE3CD-6C5A-03C5-EAC1-C1ADA7B9C163}"/>
              </a:ext>
            </a:extLst>
          </p:cNvPr>
          <p:cNvSpPr/>
          <p:nvPr/>
        </p:nvSpPr>
        <p:spPr>
          <a:xfrm>
            <a:off x="1120735" y="3769995"/>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SERIALIZABLE</a:t>
            </a:r>
            <a:endParaRPr lang="en-US" sz="1550" dirty="0">
              <a:latin typeface="Arial" panose="020B0604020202020204" pitchFamily="34" charset="0"/>
              <a:cs typeface="Arial" panose="020B0604020202020204" pitchFamily="34" charset="0"/>
            </a:endParaRPr>
          </a:p>
        </p:txBody>
      </p:sp>
      <p:sp>
        <p:nvSpPr>
          <p:cNvPr id="26" name="Text 25">
            <a:extLst>
              <a:ext uri="{FF2B5EF4-FFF2-40B4-BE49-F238E27FC236}">
                <a16:creationId xmlns:a16="http://schemas.microsoft.com/office/drawing/2014/main" id="{7E0F59C0-0AAE-3075-122E-9EFF1D4E0862}"/>
              </a:ext>
            </a:extLst>
          </p:cNvPr>
          <p:cNvSpPr/>
          <p:nvPr/>
        </p:nvSpPr>
        <p:spPr>
          <a:xfrm>
            <a:off x="3404592" y="3769995"/>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Ngăn chặn</a:t>
            </a:r>
            <a:endParaRPr lang="en-US" sz="1550" dirty="0">
              <a:latin typeface="Arial" panose="020B0604020202020204" pitchFamily="34" charset="0"/>
              <a:cs typeface="Arial" panose="020B0604020202020204" pitchFamily="34" charset="0"/>
            </a:endParaRPr>
          </a:p>
        </p:txBody>
      </p:sp>
      <p:sp>
        <p:nvSpPr>
          <p:cNvPr id="27" name="Text 26">
            <a:extLst>
              <a:ext uri="{FF2B5EF4-FFF2-40B4-BE49-F238E27FC236}">
                <a16:creationId xmlns:a16="http://schemas.microsoft.com/office/drawing/2014/main" id="{464C45D1-79C2-B138-34FB-EBDF2789B446}"/>
              </a:ext>
            </a:extLst>
          </p:cNvPr>
          <p:cNvSpPr/>
          <p:nvPr/>
        </p:nvSpPr>
        <p:spPr>
          <a:xfrm>
            <a:off x="5309592" y="3769995"/>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Ngăn chặn</a:t>
            </a:r>
            <a:endParaRPr lang="en-US" sz="1550" dirty="0">
              <a:latin typeface="Arial" panose="020B0604020202020204" pitchFamily="34" charset="0"/>
              <a:cs typeface="Arial" panose="020B0604020202020204" pitchFamily="34" charset="0"/>
            </a:endParaRPr>
          </a:p>
        </p:txBody>
      </p:sp>
      <p:sp>
        <p:nvSpPr>
          <p:cNvPr id="28" name="Text 27">
            <a:extLst>
              <a:ext uri="{FF2B5EF4-FFF2-40B4-BE49-F238E27FC236}">
                <a16:creationId xmlns:a16="http://schemas.microsoft.com/office/drawing/2014/main" id="{07003BFE-AE0C-B788-8B3B-162CD8A10F21}"/>
              </a:ext>
            </a:extLst>
          </p:cNvPr>
          <p:cNvSpPr/>
          <p:nvPr/>
        </p:nvSpPr>
        <p:spPr>
          <a:xfrm>
            <a:off x="7857292" y="3769995"/>
            <a:ext cx="220110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Ngăn chặn</a:t>
            </a:r>
            <a:endParaRPr lang="en-US" sz="1550" dirty="0">
              <a:latin typeface="Arial" panose="020B0604020202020204" pitchFamily="34" charset="0"/>
              <a:cs typeface="Arial" panose="020B0604020202020204" pitchFamily="34" charset="0"/>
            </a:endParaRPr>
          </a:p>
        </p:txBody>
      </p:sp>
      <p:sp>
        <p:nvSpPr>
          <p:cNvPr id="29" name="Text 28">
            <a:extLst>
              <a:ext uri="{FF2B5EF4-FFF2-40B4-BE49-F238E27FC236}">
                <a16:creationId xmlns:a16="http://schemas.microsoft.com/office/drawing/2014/main" id="{3552BB93-3562-7258-E0B5-E66F55AF3CCE}"/>
              </a:ext>
            </a:extLst>
          </p:cNvPr>
          <p:cNvSpPr/>
          <p:nvPr/>
        </p:nvSpPr>
        <p:spPr>
          <a:xfrm>
            <a:off x="10377845" y="3769995"/>
            <a:ext cx="2204918" cy="32516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Arial" panose="020B0604020202020204" pitchFamily="34" charset="0"/>
                <a:ea typeface="Open Sans" pitchFamily="34" charset="-122"/>
                <a:cs typeface="Arial" panose="020B0604020202020204" pitchFamily="34" charset="0"/>
              </a:rPr>
              <a:t>🐢</a:t>
            </a:r>
            <a:r>
              <a:rPr lang="en-US" sz="1550" dirty="0">
                <a:solidFill>
                  <a:srgbClr val="443728"/>
                </a:solidFill>
                <a:latin typeface="Arial" panose="020B0604020202020204" pitchFamily="34" charset="0"/>
                <a:ea typeface="Open Sans" pitchFamily="34" charset="-122"/>
                <a:cs typeface="Arial" panose="020B0604020202020204" pitchFamily="34" charset="0"/>
              </a:rPr>
              <a:t> Thấp nhất</a:t>
            </a:r>
            <a:endParaRPr lang="en-US" sz="1550" dirty="0">
              <a:latin typeface="Arial" panose="020B0604020202020204" pitchFamily="34" charset="0"/>
              <a:cs typeface="Arial" panose="020B0604020202020204" pitchFamily="34" charset="0"/>
            </a:endParaRPr>
          </a:p>
        </p:txBody>
      </p:sp>
      <p:sp>
        <p:nvSpPr>
          <p:cNvPr id="30" name="Shape 29">
            <a:extLst>
              <a:ext uri="{FF2B5EF4-FFF2-40B4-BE49-F238E27FC236}">
                <a16:creationId xmlns:a16="http://schemas.microsoft.com/office/drawing/2014/main" id="{977BA88D-3108-E837-3381-D9FAC5C4F822}"/>
              </a:ext>
            </a:extLst>
          </p:cNvPr>
          <p:cNvSpPr/>
          <p:nvPr/>
        </p:nvSpPr>
        <p:spPr>
          <a:xfrm>
            <a:off x="925286" y="4419600"/>
            <a:ext cx="5429726" cy="1616446"/>
          </a:xfrm>
          <a:prstGeom prst="roundRect">
            <a:avLst>
              <a:gd name="adj" fmla="val 5639"/>
            </a:avLst>
          </a:prstGeom>
          <a:solidFill>
            <a:srgbClr val="B6D6FC"/>
          </a:solidFill>
          <a:ln/>
        </p:spPr>
        <p:txBody>
          <a:bodyPr/>
          <a:lstStyle/>
          <a:p>
            <a:endParaRPr lang="en-US">
              <a:latin typeface="Arial" panose="020B0604020202020204" pitchFamily="34" charset="0"/>
              <a:cs typeface="Arial" panose="020B0604020202020204" pitchFamily="34" charset="0"/>
            </a:endParaRPr>
          </a:p>
        </p:txBody>
      </p:sp>
      <p:pic>
        <p:nvPicPr>
          <p:cNvPr id="31" name="Image 0" descr="preencoded.png">
            <a:extLst>
              <a:ext uri="{FF2B5EF4-FFF2-40B4-BE49-F238E27FC236}">
                <a16:creationId xmlns:a16="http://schemas.microsoft.com/office/drawing/2014/main" id="{14D31339-4E2B-E7DF-C275-7BD8BAD26CBF}"/>
              </a:ext>
            </a:extLst>
          </p:cNvPr>
          <p:cNvPicPr>
            <a:picLocks noChangeAspect="1"/>
          </p:cNvPicPr>
          <p:nvPr/>
        </p:nvPicPr>
        <p:blipFill>
          <a:blip r:embed="rId2"/>
          <a:stretch>
            <a:fillRect/>
          </a:stretch>
        </p:blipFill>
        <p:spPr>
          <a:xfrm>
            <a:off x="1123644" y="4722495"/>
            <a:ext cx="271186" cy="216897"/>
          </a:xfrm>
          <a:prstGeom prst="rect">
            <a:avLst/>
          </a:prstGeom>
        </p:spPr>
      </p:pic>
      <p:sp>
        <p:nvSpPr>
          <p:cNvPr id="32" name="Text 30">
            <a:extLst>
              <a:ext uri="{FF2B5EF4-FFF2-40B4-BE49-F238E27FC236}">
                <a16:creationId xmlns:a16="http://schemas.microsoft.com/office/drawing/2014/main" id="{C1787635-D47D-E427-F65C-4608925DAF2C}"/>
              </a:ext>
            </a:extLst>
          </p:cNvPr>
          <p:cNvSpPr/>
          <p:nvPr/>
        </p:nvSpPr>
        <p:spPr>
          <a:xfrm>
            <a:off x="1570010" y="4667489"/>
            <a:ext cx="4700718" cy="1041655"/>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Arial" panose="020B0604020202020204" pitchFamily="34" charset="0"/>
                <a:ea typeface="Open Sans" pitchFamily="34" charset="-122"/>
                <a:cs typeface="Arial" panose="020B0604020202020204" pitchFamily="34" charset="0"/>
              </a:rPr>
              <a:t>Mặc định nên dùng:</a:t>
            </a:r>
            <a:r>
              <a:rPr lang="en-US" sz="1550" dirty="0">
                <a:solidFill>
                  <a:srgbClr val="000000"/>
                </a:solidFill>
                <a:latin typeface="Arial" panose="020B0604020202020204" pitchFamily="34" charset="0"/>
                <a:ea typeface="Open Sans" pitchFamily="34" charset="-122"/>
                <a:cs typeface="Arial" panose="020B0604020202020204" pitchFamily="34" charset="0"/>
              </a:rPr>
              <a:t> READ COMMITTED — cân bằng tốt giữa bảo mật dữ liệu và hiệu năng. Đây là mặc định của PostgreSQL và Oracle.</a:t>
            </a:r>
            <a:endParaRPr lang="en-US" sz="1550" dirty="0">
              <a:latin typeface="Arial" panose="020B0604020202020204" pitchFamily="34" charset="0"/>
              <a:cs typeface="Arial" panose="020B0604020202020204" pitchFamily="34" charset="0"/>
            </a:endParaRPr>
          </a:p>
        </p:txBody>
      </p:sp>
      <p:sp>
        <p:nvSpPr>
          <p:cNvPr id="33" name="Shape 31">
            <a:extLst>
              <a:ext uri="{FF2B5EF4-FFF2-40B4-BE49-F238E27FC236}">
                <a16:creationId xmlns:a16="http://schemas.microsoft.com/office/drawing/2014/main" id="{5DC7A159-B4D5-1670-4C6D-25615E40E5B1}"/>
              </a:ext>
            </a:extLst>
          </p:cNvPr>
          <p:cNvSpPr/>
          <p:nvPr/>
        </p:nvSpPr>
        <p:spPr>
          <a:xfrm>
            <a:off x="6477000" y="4419600"/>
            <a:ext cx="5429726" cy="1616446"/>
          </a:xfrm>
          <a:prstGeom prst="roundRect">
            <a:avLst>
              <a:gd name="adj" fmla="val 5639"/>
            </a:avLst>
          </a:prstGeom>
          <a:solidFill>
            <a:srgbClr val="FCF2B5"/>
          </a:solidFill>
          <a:ln/>
        </p:spPr>
        <p:txBody>
          <a:bodyPr/>
          <a:lstStyle/>
          <a:p>
            <a:endParaRPr lang="en-US">
              <a:latin typeface="Arial" panose="020B0604020202020204" pitchFamily="34" charset="0"/>
              <a:cs typeface="Arial" panose="020B0604020202020204" pitchFamily="34" charset="0"/>
            </a:endParaRPr>
          </a:p>
        </p:txBody>
      </p:sp>
      <p:pic>
        <p:nvPicPr>
          <p:cNvPr id="34" name="Image 1" descr="preencoded.png">
            <a:extLst>
              <a:ext uri="{FF2B5EF4-FFF2-40B4-BE49-F238E27FC236}">
                <a16:creationId xmlns:a16="http://schemas.microsoft.com/office/drawing/2014/main" id="{1007BD7F-290D-34CB-DC43-EEFB12289B70}"/>
              </a:ext>
            </a:extLst>
          </p:cNvPr>
          <p:cNvPicPr>
            <a:picLocks noChangeAspect="1"/>
          </p:cNvPicPr>
          <p:nvPr/>
        </p:nvPicPr>
        <p:blipFill>
          <a:blip r:embed="rId3"/>
          <a:stretch>
            <a:fillRect/>
          </a:stretch>
        </p:blipFill>
        <p:spPr>
          <a:xfrm>
            <a:off x="6675358" y="4722495"/>
            <a:ext cx="271186" cy="216897"/>
          </a:xfrm>
          <a:prstGeom prst="rect">
            <a:avLst/>
          </a:prstGeom>
        </p:spPr>
      </p:pic>
      <p:sp>
        <p:nvSpPr>
          <p:cNvPr id="35" name="Text 32">
            <a:extLst>
              <a:ext uri="{FF2B5EF4-FFF2-40B4-BE49-F238E27FC236}">
                <a16:creationId xmlns:a16="http://schemas.microsoft.com/office/drawing/2014/main" id="{5D51FE57-53D9-7A5B-0F5E-4D292C9A077D}"/>
              </a:ext>
            </a:extLst>
          </p:cNvPr>
          <p:cNvSpPr/>
          <p:nvPr/>
        </p:nvSpPr>
        <p:spPr>
          <a:xfrm>
            <a:off x="7121725" y="4667489"/>
            <a:ext cx="4700718" cy="1041655"/>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Arial" panose="020B0604020202020204" pitchFamily="34" charset="0"/>
                <a:ea typeface="Open Sans" pitchFamily="34" charset="-122"/>
                <a:cs typeface="Arial" panose="020B0604020202020204" pitchFamily="34" charset="0"/>
              </a:rPr>
              <a:t>Chú ý:</a:t>
            </a:r>
            <a:r>
              <a:rPr lang="en-US" sz="1550" dirty="0">
                <a:solidFill>
                  <a:srgbClr val="000000"/>
                </a:solidFill>
                <a:latin typeface="Arial" panose="020B0604020202020204" pitchFamily="34" charset="0"/>
                <a:ea typeface="Open Sans" pitchFamily="34" charset="-122"/>
                <a:cs typeface="Arial" panose="020B0604020202020204" pitchFamily="34" charset="0"/>
              </a:rPr>
              <a:t> SERIALIZABLE bảo vệ hoàn toàn nhưng gây ra nhiều lock, làm giảm throughput đáng kể. Chỉ dùng khi tính nhất quán là tối quan trọng (giao dịch tài chính nghiêm ngặt).</a:t>
            </a:r>
            <a:endParaRPr lang="en-US" sz="15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1029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6CFCB-58D6-8A58-6D66-FB8A9110996D}"/>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35F07914-CF8E-2F70-7D6B-5F0D1527FD83}"/>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6BAE6655-4E6B-6CDF-ACFB-6601050DFA52}"/>
              </a:ext>
            </a:extLst>
          </p:cNvPr>
          <p:cNvSpPr/>
          <p:nvPr/>
        </p:nvSpPr>
        <p:spPr>
          <a:xfrm>
            <a:off x="838200" y="573061"/>
            <a:ext cx="8330089" cy="571738"/>
          </a:xfrm>
          <a:prstGeom prst="rect">
            <a:avLst/>
          </a:prstGeom>
          <a:noFill/>
          <a:ln/>
        </p:spPr>
        <p:txBody>
          <a:bodyPr wrap="none" lIns="0" tIns="0" rIns="0" bIns="0" rtlCol="0" anchor="t"/>
          <a:lstStyle/>
          <a:p>
            <a:pPr marL="0" indent="0" algn="l">
              <a:lnSpc>
                <a:spcPts val="4500"/>
              </a:lnSpc>
              <a:buNone/>
            </a:pPr>
            <a:r>
              <a:rPr lang="en-US" sz="3200" b="1" dirty="0">
                <a:solidFill>
                  <a:srgbClr val="443728"/>
                </a:solidFill>
                <a:latin typeface="Arial" panose="020B0604020202020204" pitchFamily="34" charset="0"/>
                <a:ea typeface="Crimson Pro Bold" pitchFamily="34" charset="-122"/>
                <a:cs typeface="Arial" panose="020B0604020202020204" pitchFamily="34" charset="0"/>
              </a:rPr>
              <a:t>Exception Trong Hibernate</a:t>
            </a:r>
            <a:endParaRPr lang="en-US" sz="3200" dirty="0">
              <a:latin typeface="Arial" panose="020B0604020202020204" pitchFamily="34" charset="0"/>
              <a:cs typeface="Arial" panose="020B0604020202020204" pitchFamily="34" charset="0"/>
            </a:endParaRPr>
          </a:p>
        </p:txBody>
      </p:sp>
      <p:sp>
        <p:nvSpPr>
          <p:cNvPr id="3" name="Text 3">
            <a:extLst>
              <a:ext uri="{FF2B5EF4-FFF2-40B4-BE49-F238E27FC236}">
                <a16:creationId xmlns:a16="http://schemas.microsoft.com/office/drawing/2014/main" id="{A9D92FCA-AA71-47D1-A017-961C19943360}"/>
              </a:ext>
            </a:extLst>
          </p:cNvPr>
          <p:cNvSpPr/>
          <p:nvPr/>
        </p:nvSpPr>
        <p:spPr>
          <a:xfrm>
            <a:off x="937260" y="1544341"/>
            <a:ext cx="1973475" cy="261983"/>
          </a:xfrm>
          <a:prstGeom prst="rect">
            <a:avLst/>
          </a:prstGeom>
          <a:noFill/>
          <a:ln/>
        </p:spPr>
        <p:txBody>
          <a:bodyPr wrap="none" lIns="0" tIns="0" rIns="0" bIns="0" rtlCol="0" anchor="t"/>
          <a:lstStyle/>
          <a:p>
            <a:pPr marL="0" indent="0" algn="l">
              <a:lnSpc>
                <a:spcPts val="2250"/>
              </a:lnSpc>
              <a:buNone/>
            </a:pPr>
            <a:r>
              <a:rPr lang="en-US" sz="1800" b="1" dirty="0">
                <a:solidFill>
                  <a:srgbClr val="443728"/>
                </a:solidFill>
                <a:latin typeface="Arial" panose="020B0604020202020204" pitchFamily="34" charset="0"/>
                <a:ea typeface="Crimson Pro Bold" pitchFamily="34" charset="-122"/>
                <a:cs typeface="Arial" panose="020B0604020202020204" pitchFamily="34" charset="0"/>
              </a:rPr>
              <a:t>Các lỗi phổ biến nhất</a:t>
            </a:r>
            <a:endParaRPr lang="en-US" sz="1800" dirty="0">
              <a:latin typeface="Arial" panose="020B0604020202020204" pitchFamily="34" charset="0"/>
              <a:cs typeface="Arial" panose="020B0604020202020204" pitchFamily="34" charset="0"/>
            </a:endParaRPr>
          </a:p>
        </p:txBody>
      </p:sp>
      <p:sp>
        <p:nvSpPr>
          <p:cNvPr id="4" name="Shape 4">
            <a:extLst>
              <a:ext uri="{FF2B5EF4-FFF2-40B4-BE49-F238E27FC236}">
                <a16:creationId xmlns:a16="http://schemas.microsoft.com/office/drawing/2014/main" id="{E9141D2F-C79C-45D6-9D0B-80E1C3F36E93}"/>
              </a:ext>
            </a:extLst>
          </p:cNvPr>
          <p:cNvSpPr/>
          <p:nvPr/>
        </p:nvSpPr>
        <p:spPr>
          <a:xfrm>
            <a:off x="937261" y="2115359"/>
            <a:ext cx="5488210" cy="1309263"/>
          </a:xfrm>
          <a:prstGeom prst="roundRect">
            <a:avLst>
              <a:gd name="adj" fmla="val 7681"/>
            </a:avLst>
          </a:prstGeom>
          <a:solidFill>
            <a:srgbClr val="FFFCFA"/>
          </a:solidFill>
          <a:ln w="2286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5" name="Shape 5">
            <a:extLst>
              <a:ext uri="{FF2B5EF4-FFF2-40B4-BE49-F238E27FC236}">
                <a16:creationId xmlns:a16="http://schemas.microsoft.com/office/drawing/2014/main" id="{8336EADE-ADBE-5E3A-753C-D8035B8E5315}"/>
              </a:ext>
            </a:extLst>
          </p:cNvPr>
          <p:cNvSpPr/>
          <p:nvPr/>
        </p:nvSpPr>
        <p:spPr>
          <a:xfrm>
            <a:off x="914400" y="2115359"/>
            <a:ext cx="78902" cy="1309263"/>
          </a:xfrm>
          <a:prstGeom prst="roundRect">
            <a:avLst>
              <a:gd name="adj" fmla="val 84041"/>
            </a:avLst>
          </a:prstGeom>
          <a:solidFill>
            <a:srgbClr val="835E54"/>
          </a:solidFill>
          <a:ln/>
        </p:spPr>
        <p:txBody>
          <a:bodyPr/>
          <a:lstStyle/>
          <a:p>
            <a:endParaRPr lang="en-US">
              <a:latin typeface="Arial" panose="020B0604020202020204" pitchFamily="34" charset="0"/>
              <a:cs typeface="Arial" panose="020B0604020202020204" pitchFamily="34" charset="0"/>
            </a:endParaRPr>
          </a:p>
        </p:txBody>
      </p:sp>
      <p:sp>
        <p:nvSpPr>
          <p:cNvPr id="6" name="Text 6">
            <a:extLst>
              <a:ext uri="{FF2B5EF4-FFF2-40B4-BE49-F238E27FC236}">
                <a16:creationId xmlns:a16="http://schemas.microsoft.com/office/drawing/2014/main" id="{BFC15FC8-9D55-0B05-92E8-28A9F4B37B76}"/>
              </a:ext>
            </a:extLst>
          </p:cNvPr>
          <p:cNvSpPr/>
          <p:nvPr/>
        </p:nvSpPr>
        <p:spPr>
          <a:xfrm>
            <a:off x="1211580" y="2225617"/>
            <a:ext cx="2329972" cy="261983"/>
          </a:xfrm>
          <a:prstGeom prst="rect">
            <a:avLst/>
          </a:prstGeom>
          <a:noFill/>
          <a:ln/>
        </p:spPr>
        <p:txBody>
          <a:bodyPr wrap="none" lIns="0" tIns="0" rIns="0" bIns="0" rtlCol="0" anchor="t"/>
          <a:lstStyle/>
          <a:p>
            <a:pPr marL="0" indent="0" algn="l">
              <a:lnSpc>
                <a:spcPts val="2250"/>
              </a:lnSpc>
              <a:buNone/>
            </a:pPr>
            <a:r>
              <a:rPr lang="en-US" sz="1800" b="1" dirty="0">
                <a:solidFill>
                  <a:srgbClr val="443728"/>
                </a:solidFill>
                <a:latin typeface="Arial" panose="020B0604020202020204" pitchFamily="34" charset="0"/>
                <a:ea typeface="Crimson Pro Bold" pitchFamily="34" charset="-122"/>
                <a:cs typeface="Arial" panose="020B0604020202020204" pitchFamily="34" charset="0"/>
              </a:rPr>
              <a:t>LazyInitializationException</a:t>
            </a:r>
            <a:endParaRPr lang="en-US" sz="1800" dirty="0">
              <a:latin typeface="Arial" panose="020B0604020202020204" pitchFamily="34" charset="0"/>
              <a:cs typeface="Arial" panose="020B0604020202020204" pitchFamily="34" charset="0"/>
            </a:endParaRPr>
          </a:p>
        </p:txBody>
      </p:sp>
      <p:sp>
        <p:nvSpPr>
          <p:cNvPr id="8" name="Text 7">
            <a:extLst>
              <a:ext uri="{FF2B5EF4-FFF2-40B4-BE49-F238E27FC236}">
                <a16:creationId xmlns:a16="http://schemas.microsoft.com/office/drawing/2014/main" id="{78575DA3-F117-54CA-ECDD-465B816E9C30}"/>
              </a:ext>
            </a:extLst>
          </p:cNvPr>
          <p:cNvSpPr/>
          <p:nvPr/>
        </p:nvSpPr>
        <p:spPr>
          <a:xfrm>
            <a:off x="1211581" y="2569582"/>
            <a:ext cx="5073974" cy="515674"/>
          </a:xfrm>
          <a:prstGeom prst="rect">
            <a:avLst/>
          </a:prstGeom>
          <a:noFill/>
          <a:ln/>
        </p:spPr>
        <p:txBody>
          <a:bodyPr wrap="square" lIns="0" tIns="0" rIns="0" bIns="0" rtlCol="0" anchor="t"/>
          <a:lstStyle/>
          <a:p>
            <a:pPr marL="0" indent="0" algn="l">
              <a:lnSpc>
                <a:spcPts val="2200"/>
              </a:lnSpc>
              <a:buNone/>
            </a:pPr>
            <a:r>
              <a:rPr lang="en-US" sz="1400" dirty="0">
                <a:solidFill>
                  <a:srgbClr val="443728"/>
                </a:solidFill>
                <a:latin typeface="Arial" panose="020B0604020202020204" pitchFamily="34" charset="0"/>
                <a:ea typeface="Open Sans" pitchFamily="34" charset="-122"/>
                <a:cs typeface="Arial" panose="020B0604020202020204" pitchFamily="34" charset="0"/>
              </a:rPr>
              <a:t>Xảy ra khi truy cập </a:t>
            </a:r>
            <a:r>
              <a:rPr lang="en-US" sz="1400" b="1" dirty="0">
                <a:solidFill>
                  <a:srgbClr val="443728"/>
                </a:solidFill>
                <a:latin typeface="Arial" panose="020B0604020202020204" pitchFamily="34" charset="0"/>
                <a:ea typeface="Open Sans" pitchFamily="34" charset="-122"/>
                <a:cs typeface="Arial" panose="020B0604020202020204" pitchFamily="34" charset="0"/>
              </a:rPr>
              <a:t>lazy-loaded collection ngoài phạm vi Session</a:t>
            </a:r>
            <a:r>
              <a:rPr lang="en-US" sz="1400" dirty="0">
                <a:solidFill>
                  <a:srgbClr val="443728"/>
                </a:solidFill>
                <a:latin typeface="Arial" panose="020B0604020202020204" pitchFamily="34" charset="0"/>
                <a:ea typeface="Open Sans" pitchFamily="34" charset="-122"/>
                <a:cs typeface="Arial" panose="020B0604020202020204" pitchFamily="34" charset="0"/>
              </a:rPr>
              <a:t>. Session đã đóng nhưng code vẫn cố load dữ liệu liên quan.</a:t>
            </a:r>
            <a:endParaRPr lang="en-US" sz="1400" dirty="0">
              <a:latin typeface="Arial" panose="020B0604020202020204" pitchFamily="34" charset="0"/>
              <a:cs typeface="Arial" panose="020B0604020202020204" pitchFamily="34" charset="0"/>
            </a:endParaRPr>
          </a:p>
        </p:txBody>
      </p:sp>
      <p:sp>
        <p:nvSpPr>
          <p:cNvPr id="9" name="Shape 8">
            <a:extLst>
              <a:ext uri="{FF2B5EF4-FFF2-40B4-BE49-F238E27FC236}">
                <a16:creationId xmlns:a16="http://schemas.microsoft.com/office/drawing/2014/main" id="{A2DD422A-BCAC-CCBD-E1F0-0B1C66A74F7A}"/>
              </a:ext>
            </a:extLst>
          </p:cNvPr>
          <p:cNvSpPr/>
          <p:nvPr/>
        </p:nvSpPr>
        <p:spPr>
          <a:xfrm>
            <a:off x="6576060" y="2115359"/>
            <a:ext cx="5488210" cy="1309263"/>
          </a:xfrm>
          <a:prstGeom prst="roundRect">
            <a:avLst>
              <a:gd name="adj" fmla="val 7681"/>
            </a:avLst>
          </a:prstGeom>
          <a:solidFill>
            <a:srgbClr val="FFFCFA"/>
          </a:solidFill>
          <a:ln w="2286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0" name="Shape 9">
            <a:extLst>
              <a:ext uri="{FF2B5EF4-FFF2-40B4-BE49-F238E27FC236}">
                <a16:creationId xmlns:a16="http://schemas.microsoft.com/office/drawing/2014/main" id="{01D12DD7-90CC-4913-4266-08FE425B2013}"/>
              </a:ext>
            </a:extLst>
          </p:cNvPr>
          <p:cNvSpPr/>
          <p:nvPr/>
        </p:nvSpPr>
        <p:spPr>
          <a:xfrm>
            <a:off x="6553199" y="2115359"/>
            <a:ext cx="78902" cy="1309263"/>
          </a:xfrm>
          <a:prstGeom prst="roundRect">
            <a:avLst>
              <a:gd name="adj" fmla="val 84041"/>
            </a:avLst>
          </a:prstGeom>
          <a:solidFill>
            <a:srgbClr val="835E54"/>
          </a:solidFill>
          <a:ln/>
        </p:spPr>
        <p:txBody>
          <a:bodyPr/>
          <a:lstStyle/>
          <a:p>
            <a:endParaRPr lang="en-US">
              <a:latin typeface="Arial" panose="020B0604020202020204" pitchFamily="34" charset="0"/>
              <a:cs typeface="Arial" panose="020B0604020202020204" pitchFamily="34" charset="0"/>
            </a:endParaRPr>
          </a:p>
        </p:txBody>
      </p:sp>
      <p:sp>
        <p:nvSpPr>
          <p:cNvPr id="11" name="Text 10">
            <a:extLst>
              <a:ext uri="{FF2B5EF4-FFF2-40B4-BE49-F238E27FC236}">
                <a16:creationId xmlns:a16="http://schemas.microsoft.com/office/drawing/2014/main" id="{9464114B-19ED-6DD2-9206-7BACA74F8258}"/>
              </a:ext>
            </a:extLst>
          </p:cNvPr>
          <p:cNvSpPr/>
          <p:nvPr/>
        </p:nvSpPr>
        <p:spPr>
          <a:xfrm>
            <a:off x="6850380" y="2225617"/>
            <a:ext cx="2506166" cy="261983"/>
          </a:xfrm>
          <a:prstGeom prst="rect">
            <a:avLst/>
          </a:prstGeom>
          <a:noFill/>
          <a:ln/>
        </p:spPr>
        <p:txBody>
          <a:bodyPr wrap="none" lIns="0" tIns="0" rIns="0" bIns="0" rtlCol="0" anchor="t"/>
          <a:lstStyle/>
          <a:p>
            <a:pPr marL="0" indent="0" algn="l">
              <a:lnSpc>
                <a:spcPts val="2250"/>
              </a:lnSpc>
              <a:buNone/>
            </a:pPr>
            <a:r>
              <a:rPr lang="en-US" sz="1800" b="1" dirty="0">
                <a:solidFill>
                  <a:srgbClr val="443728"/>
                </a:solidFill>
                <a:latin typeface="Arial" panose="020B0604020202020204" pitchFamily="34" charset="0"/>
                <a:ea typeface="Crimson Pro Bold" pitchFamily="34" charset="-122"/>
                <a:cs typeface="Arial" panose="020B0604020202020204" pitchFamily="34" charset="0"/>
              </a:rPr>
              <a:t>ConstraintViolationException</a:t>
            </a:r>
            <a:endParaRPr lang="en-US" sz="1800" dirty="0">
              <a:latin typeface="Arial" panose="020B0604020202020204" pitchFamily="34" charset="0"/>
              <a:cs typeface="Arial" panose="020B0604020202020204" pitchFamily="34" charset="0"/>
            </a:endParaRPr>
          </a:p>
        </p:txBody>
      </p:sp>
      <p:sp>
        <p:nvSpPr>
          <p:cNvPr id="12" name="Text 11">
            <a:extLst>
              <a:ext uri="{FF2B5EF4-FFF2-40B4-BE49-F238E27FC236}">
                <a16:creationId xmlns:a16="http://schemas.microsoft.com/office/drawing/2014/main" id="{09C236FE-E71C-FDCB-14FE-98EBCA4DD714}"/>
              </a:ext>
            </a:extLst>
          </p:cNvPr>
          <p:cNvSpPr/>
          <p:nvPr/>
        </p:nvSpPr>
        <p:spPr>
          <a:xfrm>
            <a:off x="6850380" y="2569583"/>
            <a:ext cx="5073974" cy="515674"/>
          </a:xfrm>
          <a:prstGeom prst="rect">
            <a:avLst/>
          </a:prstGeom>
          <a:noFill/>
          <a:ln/>
        </p:spPr>
        <p:txBody>
          <a:bodyPr wrap="square" lIns="0" tIns="0" rIns="0" bIns="0" rtlCol="0" anchor="t"/>
          <a:lstStyle/>
          <a:p>
            <a:pPr marL="0" indent="0" algn="l">
              <a:lnSpc>
                <a:spcPts val="2200"/>
              </a:lnSpc>
              <a:buNone/>
            </a:pPr>
            <a:r>
              <a:rPr lang="en-US" sz="1400" dirty="0">
                <a:solidFill>
                  <a:srgbClr val="443728"/>
                </a:solidFill>
                <a:latin typeface="Arial" panose="020B0604020202020204" pitchFamily="34" charset="0"/>
                <a:ea typeface="Open Sans" pitchFamily="34" charset="-122"/>
                <a:cs typeface="Arial" panose="020B0604020202020204" pitchFamily="34" charset="0"/>
              </a:rPr>
              <a:t>Vi phạm ràng buộc database: </a:t>
            </a:r>
            <a:r>
              <a:rPr lang="en-US" sz="1400" b="1" dirty="0">
                <a:solidFill>
                  <a:srgbClr val="443728"/>
                </a:solidFill>
                <a:latin typeface="Arial" panose="020B0604020202020204" pitchFamily="34" charset="0"/>
                <a:ea typeface="Open Sans" pitchFamily="34" charset="-122"/>
                <a:cs typeface="Arial" panose="020B0604020202020204" pitchFamily="34" charset="0"/>
              </a:rPr>
              <a:t>unique key, foreign key, not null</a:t>
            </a:r>
            <a:r>
              <a:rPr lang="en-US" sz="1400" dirty="0">
                <a:solidFill>
                  <a:srgbClr val="443728"/>
                </a:solidFill>
                <a:latin typeface="Arial" panose="020B0604020202020204" pitchFamily="34" charset="0"/>
                <a:ea typeface="Open Sans" pitchFamily="34" charset="-122"/>
                <a:cs typeface="Arial" panose="020B0604020202020204" pitchFamily="34" charset="0"/>
              </a:rPr>
              <a:t>. Thường do dữ liệu không hợp lệ hoặc trùng lặp.</a:t>
            </a:r>
            <a:endParaRPr lang="en-US" sz="1400" dirty="0">
              <a:latin typeface="Arial" panose="020B0604020202020204" pitchFamily="34" charset="0"/>
              <a:cs typeface="Arial" panose="020B0604020202020204" pitchFamily="34" charset="0"/>
            </a:endParaRPr>
          </a:p>
        </p:txBody>
      </p:sp>
      <p:sp>
        <p:nvSpPr>
          <p:cNvPr id="13" name="Shape 12">
            <a:extLst>
              <a:ext uri="{FF2B5EF4-FFF2-40B4-BE49-F238E27FC236}">
                <a16:creationId xmlns:a16="http://schemas.microsoft.com/office/drawing/2014/main" id="{046B74D6-A00B-0468-123E-17D5BDB6219C}"/>
              </a:ext>
            </a:extLst>
          </p:cNvPr>
          <p:cNvSpPr/>
          <p:nvPr/>
        </p:nvSpPr>
        <p:spPr>
          <a:xfrm>
            <a:off x="969918" y="3567537"/>
            <a:ext cx="5488210" cy="1309263"/>
          </a:xfrm>
          <a:prstGeom prst="roundRect">
            <a:avLst>
              <a:gd name="adj" fmla="val 7681"/>
            </a:avLst>
          </a:prstGeom>
          <a:solidFill>
            <a:srgbClr val="FFFCFA"/>
          </a:solidFill>
          <a:ln w="2286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4" name="Shape 13">
            <a:extLst>
              <a:ext uri="{FF2B5EF4-FFF2-40B4-BE49-F238E27FC236}">
                <a16:creationId xmlns:a16="http://schemas.microsoft.com/office/drawing/2014/main" id="{3644F0CA-438C-B332-55E1-26E263F78E18}"/>
              </a:ext>
            </a:extLst>
          </p:cNvPr>
          <p:cNvSpPr/>
          <p:nvPr/>
        </p:nvSpPr>
        <p:spPr>
          <a:xfrm>
            <a:off x="947057" y="3567537"/>
            <a:ext cx="78902" cy="1309263"/>
          </a:xfrm>
          <a:prstGeom prst="roundRect">
            <a:avLst>
              <a:gd name="adj" fmla="val 84041"/>
            </a:avLst>
          </a:prstGeom>
          <a:solidFill>
            <a:srgbClr val="835E54"/>
          </a:solidFill>
          <a:ln/>
        </p:spPr>
        <p:txBody>
          <a:bodyPr/>
          <a:lstStyle/>
          <a:p>
            <a:endParaRPr lang="en-US">
              <a:latin typeface="Arial" panose="020B0604020202020204" pitchFamily="34" charset="0"/>
              <a:cs typeface="Arial" panose="020B0604020202020204" pitchFamily="34" charset="0"/>
            </a:endParaRPr>
          </a:p>
        </p:txBody>
      </p:sp>
      <p:sp>
        <p:nvSpPr>
          <p:cNvPr id="15" name="Text 14">
            <a:extLst>
              <a:ext uri="{FF2B5EF4-FFF2-40B4-BE49-F238E27FC236}">
                <a16:creationId xmlns:a16="http://schemas.microsoft.com/office/drawing/2014/main" id="{0CB6FF94-FE0D-971D-DE4B-33BA8FF38112}"/>
              </a:ext>
            </a:extLst>
          </p:cNvPr>
          <p:cNvSpPr/>
          <p:nvPr/>
        </p:nvSpPr>
        <p:spPr>
          <a:xfrm>
            <a:off x="1244237" y="3677795"/>
            <a:ext cx="1973475" cy="261983"/>
          </a:xfrm>
          <a:prstGeom prst="rect">
            <a:avLst/>
          </a:prstGeom>
          <a:noFill/>
          <a:ln/>
        </p:spPr>
        <p:txBody>
          <a:bodyPr wrap="none" lIns="0" tIns="0" rIns="0" bIns="0" rtlCol="0" anchor="t"/>
          <a:lstStyle/>
          <a:p>
            <a:pPr marL="0" indent="0" algn="l">
              <a:lnSpc>
                <a:spcPts val="2250"/>
              </a:lnSpc>
              <a:buNone/>
            </a:pPr>
            <a:r>
              <a:rPr lang="en-US" sz="1800" b="1" dirty="0">
                <a:solidFill>
                  <a:srgbClr val="443728"/>
                </a:solidFill>
                <a:latin typeface="Arial" panose="020B0604020202020204" pitchFamily="34" charset="0"/>
                <a:ea typeface="Crimson Pro Bold" pitchFamily="34" charset="-122"/>
                <a:cs typeface="Arial" panose="020B0604020202020204" pitchFamily="34" charset="0"/>
              </a:rPr>
              <a:t>JDBCException</a:t>
            </a:r>
            <a:endParaRPr lang="en-US" sz="1800" dirty="0">
              <a:latin typeface="Arial" panose="020B0604020202020204" pitchFamily="34" charset="0"/>
              <a:cs typeface="Arial" panose="020B0604020202020204" pitchFamily="34" charset="0"/>
            </a:endParaRPr>
          </a:p>
        </p:txBody>
      </p:sp>
      <p:sp>
        <p:nvSpPr>
          <p:cNvPr id="16" name="Text 15">
            <a:extLst>
              <a:ext uri="{FF2B5EF4-FFF2-40B4-BE49-F238E27FC236}">
                <a16:creationId xmlns:a16="http://schemas.microsoft.com/office/drawing/2014/main" id="{1817AA95-1D51-C952-5F45-64DA576C092D}"/>
              </a:ext>
            </a:extLst>
          </p:cNvPr>
          <p:cNvSpPr/>
          <p:nvPr/>
        </p:nvSpPr>
        <p:spPr>
          <a:xfrm>
            <a:off x="1244238" y="4021761"/>
            <a:ext cx="5073974" cy="515674"/>
          </a:xfrm>
          <a:prstGeom prst="rect">
            <a:avLst/>
          </a:prstGeom>
          <a:noFill/>
          <a:ln/>
        </p:spPr>
        <p:txBody>
          <a:bodyPr wrap="square" lIns="0" tIns="0" rIns="0" bIns="0" rtlCol="0" anchor="t"/>
          <a:lstStyle/>
          <a:p>
            <a:pPr marL="0" indent="0" algn="l">
              <a:lnSpc>
                <a:spcPts val="2200"/>
              </a:lnSpc>
              <a:buNone/>
            </a:pPr>
            <a:r>
              <a:rPr lang="en-US" sz="1400" dirty="0">
                <a:solidFill>
                  <a:srgbClr val="443728"/>
                </a:solidFill>
                <a:latin typeface="Arial" panose="020B0604020202020204" pitchFamily="34" charset="0"/>
                <a:ea typeface="Open Sans" pitchFamily="34" charset="-122"/>
                <a:cs typeface="Arial" panose="020B0604020202020204" pitchFamily="34" charset="0"/>
              </a:rPr>
              <a:t>Lớp cha của các lỗi JDBC. Bao gồm connection timeout, SQL syntax error, deadlock...</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1982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06AB3-672C-0E23-2F53-34C9BD9E5CB1}"/>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A64B8590-F1EA-D220-8DA3-CEE7D6DAB900}"/>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6F30A6E7-CF31-E72B-29EF-497FF8388BCF}"/>
              </a:ext>
            </a:extLst>
          </p:cNvPr>
          <p:cNvSpPr/>
          <p:nvPr/>
        </p:nvSpPr>
        <p:spPr>
          <a:xfrm>
            <a:off x="914400" y="413935"/>
            <a:ext cx="3916442" cy="571738"/>
          </a:xfrm>
          <a:prstGeom prst="rect">
            <a:avLst/>
          </a:prstGeom>
          <a:noFill/>
          <a:ln/>
        </p:spPr>
        <p:txBody>
          <a:bodyPr wrap="none" lIns="0" tIns="0" rIns="0" bIns="0" rtlCol="0" anchor="t"/>
          <a:lstStyle/>
          <a:p>
            <a:pPr marL="0" indent="0" algn="l">
              <a:lnSpc>
                <a:spcPts val="4500"/>
              </a:lnSpc>
              <a:buNone/>
            </a:pPr>
            <a:r>
              <a:rPr lang="en-US" sz="3600" b="1" dirty="0">
                <a:solidFill>
                  <a:srgbClr val="443728"/>
                </a:solidFill>
                <a:latin typeface="Arial" panose="020B0604020202020204" pitchFamily="34" charset="0"/>
                <a:ea typeface="Crimson Pro Bold" pitchFamily="34" charset="-122"/>
                <a:cs typeface="Arial" panose="020B0604020202020204" pitchFamily="34" charset="0"/>
              </a:rPr>
              <a:t>Lazy Loading</a:t>
            </a:r>
            <a:endParaRPr lang="en-US" sz="3600" dirty="0">
              <a:latin typeface="Arial" panose="020B0604020202020204" pitchFamily="34" charset="0"/>
              <a:cs typeface="Arial" panose="020B0604020202020204" pitchFamily="34" charset="0"/>
            </a:endParaRPr>
          </a:p>
        </p:txBody>
      </p:sp>
      <p:sp>
        <p:nvSpPr>
          <p:cNvPr id="3" name="Text 16">
            <a:extLst>
              <a:ext uri="{FF2B5EF4-FFF2-40B4-BE49-F238E27FC236}">
                <a16:creationId xmlns:a16="http://schemas.microsoft.com/office/drawing/2014/main" id="{5675F37A-6384-77B6-BE31-F1A5D806113C}"/>
              </a:ext>
            </a:extLst>
          </p:cNvPr>
          <p:cNvSpPr/>
          <p:nvPr/>
        </p:nvSpPr>
        <p:spPr>
          <a:xfrm>
            <a:off x="914400" y="1112906"/>
            <a:ext cx="2886313" cy="285869"/>
          </a:xfrm>
          <a:prstGeom prst="rect">
            <a:avLst/>
          </a:prstGeom>
          <a:noFill/>
          <a:ln/>
        </p:spPr>
        <p:txBody>
          <a:bodyPr wrap="none" lIns="0" tIns="0" rIns="0" bIns="0" rtlCol="0" anchor="t"/>
          <a:lstStyle/>
          <a:p>
            <a:pPr marL="0" indent="0" algn="l">
              <a:lnSpc>
                <a:spcPts val="2250"/>
              </a:lnSpc>
              <a:buNone/>
            </a:pPr>
            <a:r>
              <a:rPr lang="en-US" sz="1800" b="1" dirty="0">
                <a:solidFill>
                  <a:srgbClr val="443728"/>
                </a:solidFill>
                <a:latin typeface="Arial" panose="020B0604020202020204" pitchFamily="34" charset="0"/>
                <a:ea typeface="Crimson Pro Bold" pitchFamily="34" charset="-122"/>
                <a:cs typeface="Arial" panose="020B0604020202020204" pitchFamily="34" charset="0"/>
              </a:rPr>
              <a:t>Lazy Loading — Load Khi Cần</a:t>
            </a:r>
            <a:endParaRPr lang="en-US" sz="1800" dirty="0">
              <a:latin typeface="Arial" panose="020B0604020202020204" pitchFamily="34" charset="0"/>
              <a:cs typeface="Arial" panose="020B0604020202020204" pitchFamily="34" charset="0"/>
            </a:endParaRPr>
          </a:p>
        </p:txBody>
      </p:sp>
      <p:sp>
        <p:nvSpPr>
          <p:cNvPr id="4" name="Text 17">
            <a:extLst>
              <a:ext uri="{FF2B5EF4-FFF2-40B4-BE49-F238E27FC236}">
                <a16:creationId xmlns:a16="http://schemas.microsoft.com/office/drawing/2014/main" id="{8A1E89A9-E1DB-E25D-C87B-51EA25C6C8B4}"/>
              </a:ext>
            </a:extLst>
          </p:cNvPr>
          <p:cNvSpPr/>
          <p:nvPr/>
        </p:nvSpPr>
        <p:spPr>
          <a:xfrm>
            <a:off x="914400" y="1638062"/>
            <a:ext cx="10972800" cy="571738"/>
          </a:xfrm>
          <a:prstGeom prst="rect">
            <a:avLst/>
          </a:prstGeom>
          <a:noFill/>
          <a:ln/>
        </p:spPr>
        <p:txBody>
          <a:bodyPr wrap="square" lIns="0" tIns="0" rIns="0" bIns="0" rtlCol="0" anchor="t"/>
          <a:lstStyle/>
          <a:p>
            <a:pPr marL="0" indent="0" algn="l">
              <a:lnSpc>
                <a:spcPts val="2200"/>
              </a:lnSpc>
              <a:buNone/>
            </a:pPr>
            <a:r>
              <a:rPr lang="en-US" sz="1400" b="1" dirty="0">
                <a:solidFill>
                  <a:srgbClr val="443728"/>
                </a:solidFill>
                <a:latin typeface="Arial" panose="020B0604020202020204" pitchFamily="34" charset="0"/>
                <a:ea typeface="Open Sans" pitchFamily="34" charset="-122"/>
                <a:cs typeface="Arial" panose="020B0604020202020204" pitchFamily="34" charset="0"/>
              </a:rPr>
              <a:t>Lazy Loading</a:t>
            </a:r>
            <a:r>
              <a:rPr lang="en-US" sz="1400" dirty="0">
                <a:solidFill>
                  <a:srgbClr val="443728"/>
                </a:solidFill>
                <a:latin typeface="Arial" panose="020B0604020202020204" pitchFamily="34" charset="0"/>
                <a:ea typeface="Open Sans" pitchFamily="34" charset="-122"/>
                <a:cs typeface="Arial" panose="020B0604020202020204" pitchFamily="34" charset="0"/>
              </a:rPr>
              <a:t> là chiến lược chỉ tải dữ liệu liên quan khi thực sự cần đến, thay vì tải toàn bộ ngay từ đầu. Hibernate dùng </a:t>
            </a:r>
            <a:r>
              <a:rPr lang="en-US" sz="1400" b="1" dirty="0">
                <a:solidFill>
                  <a:srgbClr val="443728"/>
                </a:solidFill>
                <a:latin typeface="Arial" panose="020B0604020202020204" pitchFamily="34" charset="0"/>
                <a:ea typeface="Open Sans" pitchFamily="34" charset="-122"/>
                <a:cs typeface="Arial" panose="020B0604020202020204" pitchFamily="34" charset="0"/>
              </a:rPr>
              <a:t>proxy object</a:t>
            </a:r>
            <a:r>
              <a:rPr lang="en-US" sz="1400" dirty="0">
                <a:solidFill>
                  <a:srgbClr val="443728"/>
                </a:solidFill>
                <a:latin typeface="Arial" panose="020B0604020202020204" pitchFamily="34" charset="0"/>
                <a:ea typeface="Open Sans" pitchFamily="34" charset="-122"/>
                <a:cs typeface="Arial" panose="020B0604020202020204" pitchFamily="34" charset="0"/>
              </a:rPr>
              <a:t> làm placeholder.</a:t>
            </a:r>
            <a:endParaRPr lang="en-US" sz="1400" dirty="0">
              <a:latin typeface="Arial" panose="020B0604020202020204" pitchFamily="34" charset="0"/>
              <a:cs typeface="Arial" panose="020B0604020202020204" pitchFamily="34" charset="0"/>
            </a:endParaRPr>
          </a:p>
        </p:txBody>
      </p:sp>
      <p:sp>
        <p:nvSpPr>
          <p:cNvPr id="5" name="Shape 18">
            <a:extLst>
              <a:ext uri="{FF2B5EF4-FFF2-40B4-BE49-F238E27FC236}">
                <a16:creationId xmlns:a16="http://schemas.microsoft.com/office/drawing/2014/main" id="{856B7EFA-AAE3-A4FC-C48B-6D5A6CA5ED45}"/>
              </a:ext>
            </a:extLst>
          </p:cNvPr>
          <p:cNvSpPr/>
          <p:nvPr/>
        </p:nvSpPr>
        <p:spPr>
          <a:xfrm>
            <a:off x="3581400" y="2252253"/>
            <a:ext cx="6360319" cy="4023241"/>
          </a:xfrm>
          <a:prstGeom prst="roundRect">
            <a:avLst>
              <a:gd name="adj" fmla="val 1910"/>
            </a:avLst>
          </a:prstGeom>
          <a:solidFill>
            <a:srgbClr val="F2EFED"/>
          </a:solidFill>
          <a:ln/>
        </p:spPr>
        <p:txBody>
          <a:bodyPr/>
          <a:lstStyle/>
          <a:p>
            <a:endParaRPr lang="en-US">
              <a:latin typeface="Arial" panose="020B0604020202020204" pitchFamily="34" charset="0"/>
              <a:cs typeface="Arial" panose="020B0604020202020204" pitchFamily="34" charset="0"/>
            </a:endParaRPr>
          </a:p>
        </p:txBody>
      </p:sp>
      <p:sp>
        <p:nvSpPr>
          <p:cNvPr id="6" name="Shape 19">
            <a:extLst>
              <a:ext uri="{FF2B5EF4-FFF2-40B4-BE49-F238E27FC236}">
                <a16:creationId xmlns:a16="http://schemas.microsoft.com/office/drawing/2014/main" id="{B047BF35-2C91-85DB-619F-069AD5BDD5BA}"/>
              </a:ext>
            </a:extLst>
          </p:cNvPr>
          <p:cNvSpPr/>
          <p:nvPr/>
        </p:nvSpPr>
        <p:spPr>
          <a:xfrm>
            <a:off x="3572351" y="2252253"/>
            <a:ext cx="6378416" cy="4023241"/>
          </a:xfrm>
          <a:prstGeom prst="roundRect">
            <a:avLst>
              <a:gd name="adj" fmla="val 682"/>
            </a:avLst>
          </a:prstGeom>
          <a:solidFill>
            <a:srgbClr val="F2EFED"/>
          </a:solidFill>
          <a:ln/>
        </p:spPr>
        <p:txBody>
          <a:bodyPr/>
          <a:lstStyle/>
          <a:p>
            <a:endParaRPr lang="en-US">
              <a:latin typeface="Arial" panose="020B0604020202020204" pitchFamily="34" charset="0"/>
              <a:cs typeface="Arial" panose="020B0604020202020204" pitchFamily="34" charset="0"/>
            </a:endParaRPr>
          </a:p>
        </p:txBody>
      </p:sp>
      <p:sp>
        <p:nvSpPr>
          <p:cNvPr id="8" name="Text 20">
            <a:extLst>
              <a:ext uri="{FF2B5EF4-FFF2-40B4-BE49-F238E27FC236}">
                <a16:creationId xmlns:a16="http://schemas.microsoft.com/office/drawing/2014/main" id="{C578CDF2-D84E-CDAD-E0F1-AED4BFE7857A}"/>
              </a:ext>
            </a:extLst>
          </p:cNvPr>
          <p:cNvSpPr/>
          <p:nvPr/>
        </p:nvSpPr>
        <p:spPr>
          <a:xfrm>
            <a:off x="3800951" y="2435133"/>
            <a:ext cx="5921216" cy="3657481"/>
          </a:xfrm>
          <a:prstGeom prst="rect">
            <a:avLst/>
          </a:prstGeom>
          <a:noFill/>
          <a:ln/>
        </p:spPr>
        <p:txBody>
          <a:bodyPr wrap="square" lIns="0" tIns="0" rIns="0" bIns="0" rtlCol="0" anchor="t"/>
          <a:lstStyle/>
          <a:p>
            <a:pPr marL="0" indent="0" algn="l">
              <a:lnSpc>
                <a:spcPts val="2200"/>
              </a:lnSpc>
              <a:buNone/>
            </a:pPr>
            <a:r>
              <a:rPr lang="en-US" sz="1400" dirty="0">
                <a:solidFill>
                  <a:srgbClr val="6A737D"/>
                </a:solidFill>
                <a:highlight>
                  <a:srgbClr val="F2EFED"/>
                </a:highlight>
                <a:latin typeface="Arial" panose="020B0604020202020204" pitchFamily="34" charset="0"/>
                <a:ea typeface="Consolas" pitchFamily="34" charset="-122"/>
                <a:cs typeface="Arial" panose="020B0604020202020204" pitchFamily="34" charset="0"/>
              </a:rPr>
              <a:t>// Lazy (mặc định cho collection)</a:t>
            </a:r>
            <a:endParaRPr lang="en-US" sz="1400" dirty="0">
              <a:latin typeface="Arial" panose="020B0604020202020204" pitchFamily="34" charset="0"/>
              <a:cs typeface="Arial" panose="020B0604020202020204" pitchFamily="34" charset="0"/>
            </a:endParaRPr>
          </a:p>
          <a:p>
            <a:pPr marL="0" indent="0" algn="l">
              <a:lnSpc>
                <a:spcPts val="2200"/>
              </a:lnSpc>
              <a:buNone/>
            </a:pPr>
            <a:r>
              <a:rPr lang="en-US" sz="1400" dirty="0">
                <a:solidFill>
                  <a:srgbClr val="6A737D"/>
                </a:solidFill>
                <a:highlight>
                  <a:srgbClr val="F2EFED"/>
                </a:highlight>
                <a:latin typeface="Arial" panose="020B0604020202020204" pitchFamily="34" charset="0"/>
                <a:ea typeface="Consolas" pitchFamily="34" charset="-122"/>
                <a:cs typeface="Arial" panose="020B0604020202020204" pitchFamily="34" charset="0"/>
              </a:rPr>
              <a:t>@OneToMany(fetch = FetchType.LAZY)</a:t>
            </a:r>
            <a:endParaRPr lang="en-US" sz="1400" dirty="0">
              <a:latin typeface="Arial" panose="020B0604020202020204" pitchFamily="34" charset="0"/>
              <a:cs typeface="Arial" panose="020B0604020202020204" pitchFamily="34" charset="0"/>
            </a:endParaRPr>
          </a:p>
          <a:p>
            <a:pPr marL="0" indent="0" algn="l">
              <a:lnSpc>
                <a:spcPts val="2200"/>
              </a:lnSpc>
              <a:buNone/>
            </a:pPr>
            <a:r>
              <a:rPr lang="en-US" sz="1400" dirty="0">
                <a:solidFill>
                  <a:srgbClr val="6A737D"/>
                </a:solidFill>
                <a:highlight>
                  <a:srgbClr val="F2EFED"/>
                </a:highlight>
                <a:latin typeface="Arial" panose="020B0604020202020204" pitchFamily="34" charset="0"/>
                <a:ea typeface="Consolas" pitchFamily="34" charset="-122"/>
                <a:cs typeface="Arial" panose="020B0604020202020204" pitchFamily="34" charset="0"/>
              </a:rPr>
              <a:t>private List&lt;Order&gt; orders;</a:t>
            </a:r>
            <a:endParaRPr lang="en-US" sz="1400" dirty="0">
              <a:latin typeface="Arial" panose="020B0604020202020204" pitchFamily="34" charset="0"/>
              <a:cs typeface="Arial" panose="020B0604020202020204" pitchFamily="34" charset="0"/>
            </a:endParaRPr>
          </a:p>
          <a:p>
            <a:pPr marL="0" indent="0" algn="l">
              <a:lnSpc>
                <a:spcPts val="2200"/>
              </a:lnSpc>
              <a:buNone/>
            </a:pPr>
            <a:endParaRPr lang="en-US" sz="1400" dirty="0">
              <a:latin typeface="Arial" panose="020B0604020202020204" pitchFamily="34" charset="0"/>
              <a:cs typeface="Arial" panose="020B0604020202020204" pitchFamily="34" charset="0"/>
            </a:endParaRPr>
          </a:p>
          <a:p>
            <a:pPr marL="0" indent="0" algn="l">
              <a:lnSpc>
                <a:spcPts val="2200"/>
              </a:lnSpc>
              <a:buNone/>
            </a:pPr>
            <a:r>
              <a:rPr lang="en-US" sz="1400" dirty="0">
                <a:solidFill>
                  <a:srgbClr val="6A737D"/>
                </a:solidFill>
                <a:highlight>
                  <a:srgbClr val="F2EFED"/>
                </a:highlight>
                <a:latin typeface="Arial" panose="020B0604020202020204" pitchFamily="34" charset="0"/>
                <a:ea typeface="Consolas" pitchFamily="34" charset="-122"/>
                <a:cs typeface="Arial" panose="020B0604020202020204" pitchFamily="34" charset="0"/>
              </a:rPr>
              <a:t>// Eager - tải ngay lập tức</a:t>
            </a:r>
            <a:endParaRPr lang="en-US" sz="1400" dirty="0">
              <a:latin typeface="Arial" panose="020B0604020202020204" pitchFamily="34" charset="0"/>
              <a:cs typeface="Arial" panose="020B0604020202020204" pitchFamily="34" charset="0"/>
            </a:endParaRPr>
          </a:p>
          <a:p>
            <a:pPr marL="0" indent="0" algn="l">
              <a:lnSpc>
                <a:spcPts val="2200"/>
              </a:lnSpc>
              <a:buNone/>
            </a:pPr>
            <a:r>
              <a:rPr lang="en-US" sz="1400" dirty="0">
                <a:solidFill>
                  <a:srgbClr val="6A737D"/>
                </a:solidFill>
                <a:highlight>
                  <a:srgbClr val="F2EFED"/>
                </a:highlight>
                <a:latin typeface="Arial" panose="020B0604020202020204" pitchFamily="34" charset="0"/>
                <a:ea typeface="Consolas" pitchFamily="34" charset="-122"/>
                <a:cs typeface="Arial" panose="020B0604020202020204" pitchFamily="34" charset="0"/>
              </a:rPr>
              <a:t>@OneToMany(fetch = FetchType.EAGER)</a:t>
            </a:r>
            <a:endParaRPr lang="en-US" sz="1400" dirty="0">
              <a:latin typeface="Arial" panose="020B0604020202020204" pitchFamily="34" charset="0"/>
              <a:cs typeface="Arial" panose="020B0604020202020204" pitchFamily="34" charset="0"/>
            </a:endParaRPr>
          </a:p>
          <a:p>
            <a:pPr marL="0" indent="0" algn="l">
              <a:lnSpc>
                <a:spcPts val="2200"/>
              </a:lnSpc>
              <a:buNone/>
            </a:pPr>
            <a:r>
              <a:rPr lang="en-US" sz="1400" dirty="0">
                <a:solidFill>
                  <a:srgbClr val="6A737D"/>
                </a:solidFill>
                <a:highlight>
                  <a:srgbClr val="F2EFED"/>
                </a:highlight>
                <a:latin typeface="Arial" panose="020B0604020202020204" pitchFamily="34" charset="0"/>
                <a:ea typeface="Consolas" pitchFamily="34" charset="-122"/>
                <a:cs typeface="Arial" panose="020B0604020202020204" pitchFamily="34" charset="0"/>
              </a:rPr>
              <a:t>private List&lt;Order&gt; orders;</a:t>
            </a:r>
            <a:endParaRPr lang="en-US" sz="1400" dirty="0">
              <a:latin typeface="Arial" panose="020B0604020202020204" pitchFamily="34" charset="0"/>
              <a:cs typeface="Arial" panose="020B0604020202020204" pitchFamily="34" charset="0"/>
            </a:endParaRPr>
          </a:p>
          <a:p>
            <a:pPr marL="0" indent="0" algn="l">
              <a:lnSpc>
                <a:spcPts val="2200"/>
              </a:lnSpc>
              <a:buNone/>
            </a:pPr>
            <a:endParaRPr lang="en-US" sz="1400" dirty="0">
              <a:latin typeface="Arial" panose="020B0604020202020204" pitchFamily="34" charset="0"/>
              <a:cs typeface="Arial" panose="020B0604020202020204" pitchFamily="34" charset="0"/>
            </a:endParaRPr>
          </a:p>
          <a:p>
            <a:pPr marL="0" indent="0" algn="l">
              <a:lnSpc>
                <a:spcPts val="2200"/>
              </a:lnSpc>
              <a:buNone/>
            </a:pPr>
            <a:r>
              <a:rPr lang="en-US" sz="1400" dirty="0">
                <a:solidFill>
                  <a:srgbClr val="6A737D"/>
                </a:solidFill>
                <a:highlight>
                  <a:srgbClr val="F2EFED"/>
                </a:highlight>
                <a:latin typeface="Arial" panose="020B0604020202020204" pitchFamily="34" charset="0"/>
                <a:ea typeface="Consolas" pitchFamily="34" charset="-122"/>
                <a:cs typeface="Arial" panose="020B0604020202020204" pitchFamily="34" charset="0"/>
              </a:rPr>
              <a:t>// Fix LazyInitException: Fetch Join</a:t>
            </a:r>
            <a:endParaRPr lang="en-US" sz="1400" dirty="0">
              <a:latin typeface="Arial" panose="020B0604020202020204" pitchFamily="34" charset="0"/>
              <a:cs typeface="Arial" panose="020B0604020202020204" pitchFamily="34" charset="0"/>
            </a:endParaRPr>
          </a:p>
          <a:p>
            <a:pPr marL="0" indent="0" algn="l">
              <a:lnSpc>
                <a:spcPts val="2200"/>
              </a:lnSpc>
              <a:buNone/>
            </a:pPr>
            <a:r>
              <a:rPr lang="en-US" sz="1400" dirty="0">
                <a:solidFill>
                  <a:srgbClr val="6A737D"/>
                </a:solidFill>
                <a:highlight>
                  <a:srgbClr val="F2EFED"/>
                </a:highlight>
                <a:latin typeface="Arial" panose="020B0604020202020204" pitchFamily="34" charset="0"/>
                <a:ea typeface="Consolas" pitchFamily="34" charset="-122"/>
                <a:cs typeface="Arial" panose="020B0604020202020204" pitchFamily="34" charset="0"/>
              </a:rPr>
              <a:t>@Query("SELECT c FROM Customer c </a:t>
            </a:r>
            <a:endParaRPr lang="en-US" sz="1400" dirty="0">
              <a:latin typeface="Arial" panose="020B0604020202020204" pitchFamily="34" charset="0"/>
              <a:cs typeface="Arial" panose="020B0604020202020204" pitchFamily="34" charset="0"/>
            </a:endParaRPr>
          </a:p>
          <a:p>
            <a:pPr marL="0" indent="0" algn="l">
              <a:lnSpc>
                <a:spcPts val="2200"/>
              </a:lnSpc>
              <a:buNone/>
            </a:pPr>
            <a:r>
              <a:rPr lang="en-US" sz="1400" dirty="0">
                <a:solidFill>
                  <a:srgbClr val="6A737D"/>
                </a:solidFill>
                <a:highlight>
                  <a:srgbClr val="F2EFED"/>
                </a:highlight>
                <a:latin typeface="Arial" panose="020B0604020202020204" pitchFamily="34" charset="0"/>
                <a:ea typeface="Consolas" pitchFamily="34" charset="-122"/>
                <a:cs typeface="Arial" panose="020B0604020202020204" pitchFamily="34" charset="0"/>
              </a:rPr>
              <a:t> JOIN FETCH c.orders </a:t>
            </a:r>
            <a:endParaRPr lang="en-US" sz="1400" dirty="0">
              <a:latin typeface="Arial" panose="020B0604020202020204" pitchFamily="34" charset="0"/>
              <a:cs typeface="Arial" panose="020B0604020202020204" pitchFamily="34" charset="0"/>
            </a:endParaRPr>
          </a:p>
          <a:p>
            <a:pPr marL="0" indent="0" algn="l">
              <a:lnSpc>
                <a:spcPts val="2200"/>
              </a:lnSpc>
              <a:buNone/>
            </a:pPr>
            <a:r>
              <a:rPr lang="en-US" sz="1400" dirty="0">
                <a:solidFill>
                  <a:srgbClr val="6A737D"/>
                </a:solidFill>
                <a:highlight>
                  <a:srgbClr val="F2EFED"/>
                </a:highlight>
                <a:latin typeface="Arial" panose="020B0604020202020204" pitchFamily="34" charset="0"/>
                <a:ea typeface="Consolas" pitchFamily="34" charset="-122"/>
                <a:cs typeface="Arial" panose="020B0604020202020204" pitchFamily="34" charset="0"/>
              </a:rPr>
              <a:t> WHERE c.id = :id")</a:t>
            </a:r>
            <a:endParaRPr lang="en-US" sz="1400" dirty="0">
              <a:latin typeface="Arial" panose="020B0604020202020204" pitchFamily="34" charset="0"/>
              <a:cs typeface="Arial" panose="020B0604020202020204" pitchFamily="34" charset="0"/>
            </a:endParaRPr>
          </a:p>
          <a:p>
            <a:pPr marL="0" indent="0" algn="l">
              <a:lnSpc>
                <a:spcPts val="2200"/>
              </a:lnSpc>
              <a:buNone/>
            </a:pPr>
            <a:r>
              <a:rPr lang="en-US" sz="1400" dirty="0">
                <a:solidFill>
                  <a:srgbClr val="6A737D"/>
                </a:solidFill>
                <a:highlight>
                  <a:srgbClr val="F2EFED"/>
                </a:highlight>
                <a:latin typeface="Arial" panose="020B0604020202020204" pitchFamily="34" charset="0"/>
                <a:ea typeface="Consolas" pitchFamily="34" charset="-122"/>
                <a:cs typeface="Arial" panose="020B0604020202020204" pitchFamily="34" charset="0"/>
              </a:rPr>
              <a:t>Customer findWithOrders(Long id);</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1898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2B62D-9C6C-E580-0CC0-A7AD237BD966}"/>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78BB2B3A-1B7C-D146-5E7B-4E670946E5CB}"/>
              </a:ext>
            </a:extLst>
          </p:cNvPr>
          <p:cNvSpPr txBox="1">
            <a:spLocks noGrp="1"/>
          </p:cNvSpPr>
          <p:nvPr>
            <p:ph type="ftr" sz="quarter" idx="5"/>
          </p:nvPr>
        </p:nvSpPr>
        <p:spPr>
          <a:xfrm>
            <a:off x="2060194" y="6429984"/>
            <a:ext cx="5288915" cy="204351"/>
          </a:xfrm>
          <a:prstGeom prst="rect">
            <a:avLst/>
          </a:prstGeom>
        </p:spPr>
        <p:txBody>
          <a:bodyPr vert="horz" wrap="square" lIns="0" tIns="0" rIns="0" bIns="0" rtlCol="0">
            <a:spAutoFit/>
          </a:bodyPr>
          <a:lstStyle/>
          <a:p>
            <a:pPr marL="12700">
              <a:lnSpc>
                <a:spcPts val="1650"/>
              </a:lnSpc>
            </a:pPr>
            <a:r>
              <a:rPr dirty="0"/>
              <a:t>©</a:t>
            </a:r>
            <a:r>
              <a:rPr spc="-10" dirty="0"/>
              <a:t> </a:t>
            </a:r>
            <a:r>
              <a:rPr dirty="0"/>
              <a:t>202</a:t>
            </a:r>
            <a:r>
              <a:rPr lang="en-US" dirty="0"/>
              <a:t>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2" name="Text 2">
            <a:extLst>
              <a:ext uri="{FF2B5EF4-FFF2-40B4-BE49-F238E27FC236}">
                <a16:creationId xmlns:a16="http://schemas.microsoft.com/office/drawing/2014/main" id="{D84638FC-FC81-CB13-57FB-F362D03FA04B}"/>
              </a:ext>
            </a:extLst>
          </p:cNvPr>
          <p:cNvSpPr/>
          <p:nvPr/>
        </p:nvSpPr>
        <p:spPr>
          <a:xfrm>
            <a:off x="838200" y="457200"/>
            <a:ext cx="6645354" cy="620078"/>
          </a:xfrm>
          <a:prstGeom prst="rect">
            <a:avLst/>
          </a:prstGeom>
          <a:noFill/>
          <a:ln/>
        </p:spPr>
        <p:txBody>
          <a:bodyPr wrap="none" lIns="0" tIns="0" rIns="0" bIns="0" rtlCol="0" anchor="t"/>
          <a:lstStyle/>
          <a:p>
            <a:pPr marL="0" indent="0" algn="l">
              <a:lnSpc>
                <a:spcPts val="4850"/>
              </a:lnSpc>
              <a:buNone/>
            </a:pPr>
            <a:r>
              <a:rPr lang="en-US" sz="3900" b="1" dirty="0" err="1">
                <a:solidFill>
                  <a:srgbClr val="443728"/>
                </a:solidFill>
                <a:latin typeface="Arial" panose="020B0604020202020204" pitchFamily="34" charset="0"/>
                <a:ea typeface="Crimson Pro Bold" pitchFamily="34" charset="-122"/>
                <a:cs typeface="Arial" panose="020B0604020202020204" pitchFamily="34" charset="0"/>
              </a:rPr>
              <a:t>Tổng</a:t>
            </a:r>
            <a:r>
              <a:rPr lang="en-US" sz="3900" b="1" dirty="0">
                <a:solidFill>
                  <a:srgbClr val="443728"/>
                </a:solidFill>
                <a:latin typeface="Arial" panose="020B0604020202020204" pitchFamily="34" charset="0"/>
                <a:ea typeface="Crimson Pro Bold" pitchFamily="34" charset="-122"/>
                <a:cs typeface="Arial" panose="020B0604020202020204" pitchFamily="34" charset="0"/>
              </a:rPr>
              <a:t> Hợp Các Nguyên Tắc Vàng</a:t>
            </a:r>
            <a:endParaRPr lang="en-US" sz="3900" dirty="0">
              <a:latin typeface="Arial" panose="020B0604020202020204" pitchFamily="34" charset="0"/>
              <a:cs typeface="Arial" panose="020B0604020202020204" pitchFamily="34" charset="0"/>
            </a:endParaRPr>
          </a:p>
        </p:txBody>
      </p:sp>
      <p:sp>
        <p:nvSpPr>
          <p:cNvPr id="4" name="Text 3">
            <a:extLst>
              <a:ext uri="{FF2B5EF4-FFF2-40B4-BE49-F238E27FC236}">
                <a16:creationId xmlns:a16="http://schemas.microsoft.com/office/drawing/2014/main" id="{7FF94381-8EFA-FA76-AD63-85F04FDEE9AF}"/>
              </a:ext>
            </a:extLst>
          </p:cNvPr>
          <p:cNvSpPr/>
          <p:nvPr/>
        </p:nvSpPr>
        <p:spPr>
          <a:xfrm>
            <a:off x="1066800" y="1423384"/>
            <a:ext cx="3873532"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Arial" panose="020B0604020202020204" pitchFamily="34" charset="0"/>
                <a:ea typeface="Crimson Pro Bold" pitchFamily="34" charset="-122"/>
                <a:cs typeface="Arial" panose="020B0604020202020204" pitchFamily="34" charset="0"/>
              </a:rPr>
              <a:t>Giữ Transaction Ngắn</a:t>
            </a:r>
            <a:endParaRPr lang="en-US" sz="1950" dirty="0">
              <a:latin typeface="Arial" panose="020B0604020202020204" pitchFamily="34" charset="0"/>
              <a:cs typeface="Arial" panose="020B0604020202020204" pitchFamily="34" charset="0"/>
            </a:endParaRPr>
          </a:p>
        </p:txBody>
      </p:sp>
      <p:sp>
        <p:nvSpPr>
          <p:cNvPr id="5" name="Text 4">
            <a:extLst>
              <a:ext uri="{FF2B5EF4-FFF2-40B4-BE49-F238E27FC236}">
                <a16:creationId xmlns:a16="http://schemas.microsoft.com/office/drawing/2014/main" id="{E6E5629D-0E2B-4ABE-D64D-C3AE96A65A62}"/>
              </a:ext>
            </a:extLst>
          </p:cNvPr>
          <p:cNvSpPr/>
          <p:nvPr/>
        </p:nvSpPr>
        <p:spPr>
          <a:xfrm>
            <a:off x="1066800" y="1852605"/>
            <a:ext cx="4800600" cy="190523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Transaction dài chiếm lock lâu, gây bottleneck. Chỉ bọc transaction quanh các thao tác </a:t>
            </a:r>
            <a:r>
              <a:rPr lang="en-US" sz="1550" b="1" dirty="0">
                <a:solidFill>
                  <a:srgbClr val="443728"/>
                </a:solidFill>
                <a:latin typeface="Arial" panose="020B0604020202020204" pitchFamily="34" charset="0"/>
                <a:ea typeface="Open Sans" pitchFamily="34" charset="-122"/>
                <a:cs typeface="Arial" panose="020B0604020202020204" pitchFamily="34" charset="0"/>
              </a:rPr>
              <a:t>thực sự cần thiết</a:t>
            </a:r>
            <a:r>
              <a:rPr lang="en-US" sz="1550" dirty="0">
                <a:solidFill>
                  <a:srgbClr val="443728"/>
                </a:solidFill>
                <a:latin typeface="Arial" panose="020B0604020202020204" pitchFamily="34" charset="0"/>
                <a:ea typeface="Open Sans" pitchFamily="34" charset="-122"/>
                <a:cs typeface="Arial" panose="020B0604020202020204" pitchFamily="34" charset="0"/>
              </a:rPr>
              <a:t>, đừng bao gồm logic tính toán hay gọi API bên ngoài.</a:t>
            </a:r>
            <a:endParaRPr lang="en-US" sz="1550" dirty="0">
              <a:latin typeface="Arial" panose="020B0604020202020204" pitchFamily="34" charset="0"/>
              <a:cs typeface="Arial" panose="020B0604020202020204" pitchFamily="34" charset="0"/>
            </a:endParaRPr>
          </a:p>
        </p:txBody>
      </p:sp>
      <p:sp>
        <p:nvSpPr>
          <p:cNvPr id="8" name="Text 5">
            <a:extLst>
              <a:ext uri="{FF2B5EF4-FFF2-40B4-BE49-F238E27FC236}">
                <a16:creationId xmlns:a16="http://schemas.microsoft.com/office/drawing/2014/main" id="{66D462F1-AB91-0096-4B44-ED7A769C0112}"/>
              </a:ext>
            </a:extLst>
          </p:cNvPr>
          <p:cNvSpPr/>
          <p:nvPr/>
        </p:nvSpPr>
        <p:spPr>
          <a:xfrm>
            <a:off x="6705600" y="1456041"/>
            <a:ext cx="4952928" cy="620316"/>
          </a:xfrm>
          <a:prstGeom prst="rect">
            <a:avLst/>
          </a:prstGeom>
          <a:noFill/>
          <a:ln/>
        </p:spPr>
        <p:txBody>
          <a:bodyPr wrap="square" lIns="0" tIns="0" rIns="0" bIns="0" rtlCol="0" anchor="t"/>
          <a:lstStyle/>
          <a:p>
            <a:pPr marL="0" indent="0" algn="l">
              <a:lnSpc>
                <a:spcPts val="2400"/>
              </a:lnSpc>
              <a:buNone/>
            </a:pPr>
            <a:r>
              <a:rPr lang="en-US" sz="1950" b="1" dirty="0">
                <a:solidFill>
                  <a:srgbClr val="443728"/>
                </a:solidFill>
                <a:latin typeface="Arial" panose="020B0604020202020204" pitchFamily="34" charset="0"/>
                <a:ea typeface="Crimson Pro Bold" pitchFamily="34" charset="-122"/>
                <a:cs typeface="Arial" panose="020B0604020202020204" pitchFamily="34" charset="0"/>
              </a:rPr>
              <a:t>Dùng @Transactional Đúng Cách</a:t>
            </a:r>
            <a:endParaRPr lang="en-US" sz="1950" dirty="0">
              <a:latin typeface="Arial" panose="020B0604020202020204" pitchFamily="34" charset="0"/>
              <a:cs typeface="Arial" panose="020B0604020202020204" pitchFamily="34" charset="0"/>
            </a:endParaRPr>
          </a:p>
        </p:txBody>
      </p:sp>
      <p:sp>
        <p:nvSpPr>
          <p:cNvPr id="9" name="Text 6">
            <a:extLst>
              <a:ext uri="{FF2B5EF4-FFF2-40B4-BE49-F238E27FC236}">
                <a16:creationId xmlns:a16="http://schemas.microsoft.com/office/drawing/2014/main" id="{CFD3468E-5265-2CFC-A79C-2196E8BDBAD1}"/>
              </a:ext>
            </a:extLst>
          </p:cNvPr>
          <p:cNvSpPr/>
          <p:nvPr/>
        </p:nvSpPr>
        <p:spPr>
          <a:xfrm>
            <a:off x="6705600" y="1852605"/>
            <a:ext cx="4952928" cy="158769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Luôn dùng </a:t>
            </a:r>
            <a:r>
              <a:rPr lang="en-US" sz="1550" dirty="0">
                <a:solidFill>
                  <a:srgbClr val="443728"/>
                </a:solidFill>
                <a:highlight>
                  <a:srgbClr val="F2EFED"/>
                </a:highlight>
                <a:latin typeface="Arial" panose="020B0604020202020204" pitchFamily="34" charset="0"/>
                <a:ea typeface="Consolas" pitchFamily="34" charset="-122"/>
                <a:cs typeface="Arial" panose="020B0604020202020204" pitchFamily="34" charset="0"/>
              </a:rPr>
              <a:t>@Transactional</a:t>
            </a:r>
            <a:r>
              <a:rPr lang="en-US" sz="1550" dirty="0">
                <a:solidFill>
                  <a:srgbClr val="443728"/>
                </a:solidFill>
                <a:latin typeface="Arial" panose="020B0604020202020204" pitchFamily="34" charset="0"/>
                <a:ea typeface="Open Sans" pitchFamily="34" charset="-122"/>
                <a:cs typeface="Arial" panose="020B0604020202020204" pitchFamily="34" charset="0"/>
              </a:rPr>
              <a:t> cho mọi method có thao tác ghi. Với thao tác chỉ đọc, dùng </a:t>
            </a:r>
            <a:r>
              <a:rPr lang="en-US" sz="1550" dirty="0">
                <a:solidFill>
                  <a:srgbClr val="443728"/>
                </a:solidFill>
                <a:highlight>
                  <a:srgbClr val="F2EFED"/>
                </a:highlight>
                <a:latin typeface="Arial" panose="020B0604020202020204" pitchFamily="34" charset="0"/>
                <a:ea typeface="Consolas" pitchFamily="34" charset="-122"/>
                <a:cs typeface="Arial" panose="020B0604020202020204" pitchFamily="34" charset="0"/>
              </a:rPr>
              <a:t>@Transactional(readOnly = true)</a:t>
            </a:r>
            <a:r>
              <a:rPr lang="en-US" sz="1550" dirty="0">
                <a:solidFill>
                  <a:srgbClr val="443728"/>
                </a:solidFill>
                <a:latin typeface="Arial" panose="020B0604020202020204" pitchFamily="34" charset="0"/>
                <a:ea typeface="Open Sans" pitchFamily="34" charset="-122"/>
                <a:cs typeface="Arial" panose="020B0604020202020204" pitchFamily="34" charset="0"/>
              </a:rPr>
              <a:t> để tối ưu hiệu năng.</a:t>
            </a:r>
            <a:endParaRPr lang="en-US" sz="1550" dirty="0">
              <a:latin typeface="Arial" panose="020B0604020202020204" pitchFamily="34" charset="0"/>
              <a:cs typeface="Arial" panose="020B0604020202020204" pitchFamily="34" charset="0"/>
            </a:endParaRPr>
          </a:p>
        </p:txBody>
      </p:sp>
      <p:sp>
        <p:nvSpPr>
          <p:cNvPr id="10" name="Text 7">
            <a:extLst>
              <a:ext uri="{FF2B5EF4-FFF2-40B4-BE49-F238E27FC236}">
                <a16:creationId xmlns:a16="http://schemas.microsoft.com/office/drawing/2014/main" id="{8D342A25-C4A5-F204-87E0-C9A57D8D4930}"/>
              </a:ext>
            </a:extLst>
          </p:cNvPr>
          <p:cNvSpPr/>
          <p:nvPr/>
        </p:nvSpPr>
        <p:spPr>
          <a:xfrm>
            <a:off x="1066800" y="3768923"/>
            <a:ext cx="4800600" cy="620316"/>
          </a:xfrm>
          <a:prstGeom prst="rect">
            <a:avLst/>
          </a:prstGeom>
          <a:noFill/>
          <a:ln/>
        </p:spPr>
        <p:txBody>
          <a:bodyPr wrap="square" lIns="0" tIns="0" rIns="0" bIns="0" rtlCol="0" anchor="t"/>
          <a:lstStyle/>
          <a:p>
            <a:pPr marL="0" indent="0" algn="l">
              <a:lnSpc>
                <a:spcPts val="2400"/>
              </a:lnSpc>
              <a:buNone/>
            </a:pPr>
            <a:r>
              <a:rPr lang="en-US" sz="1950" b="1" dirty="0">
                <a:solidFill>
                  <a:srgbClr val="443728"/>
                </a:solidFill>
                <a:latin typeface="Arial" panose="020B0604020202020204" pitchFamily="34" charset="0"/>
                <a:ea typeface="Crimson Pro Bold" pitchFamily="34" charset="-122"/>
                <a:cs typeface="Arial" panose="020B0604020202020204" pitchFamily="34" charset="0"/>
              </a:rPr>
              <a:t>Fetch Join thay vì Lazy ngoài Session</a:t>
            </a:r>
            <a:endParaRPr lang="en-US" sz="1950" dirty="0">
              <a:latin typeface="Arial" panose="020B0604020202020204" pitchFamily="34" charset="0"/>
              <a:cs typeface="Arial" panose="020B0604020202020204" pitchFamily="34" charset="0"/>
            </a:endParaRPr>
          </a:p>
        </p:txBody>
      </p:sp>
      <p:sp>
        <p:nvSpPr>
          <p:cNvPr id="11" name="Text 8">
            <a:extLst>
              <a:ext uri="{FF2B5EF4-FFF2-40B4-BE49-F238E27FC236}">
                <a16:creationId xmlns:a16="http://schemas.microsoft.com/office/drawing/2014/main" id="{35AEDC58-C010-4094-9C7F-EACF0305C4AC}"/>
              </a:ext>
            </a:extLst>
          </p:cNvPr>
          <p:cNvSpPr/>
          <p:nvPr/>
        </p:nvSpPr>
        <p:spPr>
          <a:xfrm>
            <a:off x="1066800" y="4280590"/>
            <a:ext cx="4800600" cy="158769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Để tránh </a:t>
            </a:r>
            <a:r>
              <a:rPr lang="en-US" sz="1550" dirty="0">
                <a:solidFill>
                  <a:srgbClr val="443728"/>
                </a:solidFill>
                <a:highlight>
                  <a:srgbClr val="F2EFED"/>
                </a:highlight>
                <a:latin typeface="Arial" panose="020B0604020202020204" pitchFamily="34" charset="0"/>
                <a:ea typeface="Consolas" pitchFamily="34" charset="-122"/>
                <a:cs typeface="Arial" panose="020B0604020202020204" pitchFamily="34" charset="0"/>
              </a:rPr>
              <a:t>LazyInitializationException</a:t>
            </a:r>
            <a:r>
              <a:rPr lang="en-US" sz="1550" dirty="0">
                <a:solidFill>
                  <a:srgbClr val="443728"/>
                </a:solidFill>
                <a:latin typeface="Arial" panose="020B0604020202020204" pitchFamily="34" charset="0"/>
                <a:ea typeface="Open Sans" pitchFamily="34" charset="-122"/>
                <a:cs typeface="Arial" panose="020B0604020202020204" pitchFamily="34" charset="0"/>
              </a:rPr>
              <a:t>, dùng </a:t>
            </a:r>
            <a:r>
              <a:rPr lang="en-US" sz="1550" b="1" dirty="0">
                <a:solidFill>
                  <a:srgbClr val="443728"/>
                </a:solidFill>
                <a:latin typeface="Arial" panose="020B0604020202020204" pitchFamily="34" charset="0"/>
                <a:ea typeface="Open Sans" pitchFamily="34" charset="-122"/>
                <a:cs typeface="Arial" panose="020B0604020202020204" pitchFamily="34" charset="0"/>
              </a:rPr>
              <a:t>Fetch Join</a:t>
            </a:r>
            <a:r>
              <a:rPr lang="en-US" sz="1550" dirty="0">
                <a:solidFill>
                  <a:srgbClr val="443728"/>
                </a:solidFill>
                <a:latin typeface="Arial" panose="020B0604020202020204" pitchFamily="34" charset="0"/>
                <a:ea typeface="Open Sans" pitchFamily="34" charset="-122"/>
                <a:cs typeface="Arial" panose="020B0604020202020204" pitchFamily="34" charset="0"/>
              </a:rPr>
              <a:t> trong JPQL hoặc </a:t>
            </a:r>
            <a:r>
              <a:rPr lang="en-US" sz="1550" b="1" dirty="0">
                <a:solidFill>
                  <a:srgbClr val="443728"/>
                </a:solidFill>
                <a:latin typeface="Arial" panose="020B0604020202020204" pitchFamily="34" charset="0"/>
                <a:ea typeface="Open Sans" pitchFamily="34" charset="-122"/>
                <a:cs typeface="Arial" panose="020B0604020202020204" pitchFamily="34" charset="0"/>
              </a:rPr>
              <a:t>DTO projection</a:t>
            </a:r>
            <a:r>
              <a:rPr lang="en-US" sz="1550" dirty="0">
                <a:solidFill>
                  <a:srgbClr val="443728"/>
                </a:solidFill>
                <a:latin typeface="Arial" panose="020B0604020202020204" pitchFamily="34" charset="0"/>
                <a:ea typeface="Open Sans" pitchFamily="34" charset="-122"/>
                <a:cs typeface="Arial" panose="020B0604020202020204" pitchFamily="34" charset="0"/>
              </a:rPr>
              <a:t> để lấy đúng dữ liệu cần thiết trong một query.</a:t>
            </a:r>
            <a:endParaRPr lang="en-US" sz="1550" dirty="0">
              <a:latin typeface="Arial" panose="020B0604020202020204" pitchFamily="34" charset="0"/>
              <a:cs typeface="Arial" panose="020B0604020202020204" pitchFamily="34" charset="0"/>
            </a:endParaRPr>
          </a:p>
        </p:txBody>
      </p:sp>
      <p:sp>
        <p:nvSpPr>
          <p:cNvPr id="12" name="Text 9">
            <a:extLst>
              <a:ext uri="{FF2B5EF4-FFF2-40B4-BE49-F238E27FC236}">
                <a16:creationId xmlns:a16="http://schemas.microsoft.com/office/drawing/2014/main" id="{0FD23DDA-E6AF-6E36-6552-4C4584A1D3F5}"/>
              </a:ext>
            </a:extLst>
          </p:cNvPr>
          <p:cNvSpPr/>
          <p:nvPr/>
        </p:nvSpPr>
        <p:spPr>
          <a:xfrm>
            <a:off x="6705480" y="3787934"/>
            <a:ext cx="3996443" cy="310158"/>
          </a:xfrm>
          <a:prstGeom prst="rect">
            <a:avLst/>
          </a:prstGeom>
          <a:noFill/>
          <a:ln/>
        </p:spPr>
        <p:txBody>
          <a:bodyPr wrap="none" lIns="0" tIns="0" rIns="0" bIns="0" rtlCol="0" anchor="t"/>
          <a:lstStyle/>
          <a:p>
            <a:pPr marL="0" indent="0" algn="l">
              <a:lnSpc>
                <a:spcPts val="2400"/>
              </a:lnSpc>
              <a:buNone/>
            </a:pPr>
            <a:r>
              <a:rPr lang="en-US" sz="1950" b="1" dirty="0">
                <a:solidFill>
                  <a:srgbClr val="443728"/>
                </a:solidFill>
                <a:latin typeface="Arial" panose="020B0604020202020204" pitchFamily="34" charset="0"/>
                <a:ea typeface="Crimson Pro Bold" pitchFamily="34" charset="-122"/>
                <a:cs typeface="Arial" panose="020B0604020202020204" pitchFamily="34" charset="0"/>
              </a:rPr>
              <a:t>Log Exception Đầy Đủ</a:t>
            </a:r>
            <a:endParaRPr lang="en-US" sz="1950" dirty="0">
              <a:latin typeface="Arial" panose="020B0604020202020204" pitchFamily="34" charset="0"/>
              <a:cs typeface="Arial" panose="020B0604020202020204" pitchFamily="34" charset="0"/>
            </a:endParaRPr>
          </a:p>
        </p:txBody>
      </p:sp>
      <p:sp>
        <p:nvSpPr>
          <p:cNvPr id="13" name="Text 10">
            <a:extLst>
              <a:ext uri="{FF2B5EF4-FFF2-40B4-BE49-F238E27FC236}">
                <a16:creationId xmlns:a16="http://schemas.microsoft.com/office/drawing/2014/main" id="{6D7315DE-78B1-24AE-107E-D7527099601B}"/>
              </a:ext>
            </a:extLst>
          </p:cNvPr>
          <p:cNvSpPr/>
          <p:nvPr/>
        </p:nvSpPr>
        <p:spPr>
          <a:xfrm>
            <a:off x="6705480" y="4271834"/>
            <a:ext cx="4953120" cy="1587698"/>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Luôn log </a:t>
            </a:r>
            <a:r>
              <a:rPr lang="en-US" sz="1550" b="1" dirty="0">
                <a:solidFill>
                  <a:srgbClr val="443728"/>
                </a:solidFill>
                <a:latin typeface="Arial" panose="020B0604020202020204" pitchFamily="34" charset="0"/>
                <a:ea typeface="Open Sans" pitchFamily="34" charset="-122"/>
                <a:cs typeface="Arial" panose="020B0604020202020204" pitchFamily="34" charset="0"/>
              </a:rPr>
              <a:t>stack trace đầy đủ</a:t>
            </a:r>
            <a:r>
              <a:rPr lang="en-US" sz="1550" dirty="0">
                <a:solidFill>
                  <a:srgbClr val="443728"/>
                </a:solidFill>
                <a:latin typeface="Arial" panose="020B0604020202020204" pitchFamily="34" charset="0"/>
                <a:ea typeface="Open Sans" pitchFamily="34" charset="-122"/>
                <a:cs typeface="Arial" panose="020B0604020202020204" pitchFamily="34" charset="0"/>
              </a:rPr>
              <a:t> khi catch exception Hibernate. Đừng swallow exception im lặng — điều này khiến việc debug trở nên cực kỳ khó khăn.</a:t>
            </a:r>
            <a:endParaRPr lang="en-US" sz="15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637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12" y="188467"/>
            <a:ext cx="954405" cy="4191635"/>
          </a:xfrm>
          <a:prstGeom prst="rect">
            <a:avLst/>
          </a:prstGeom>
        </p:spPr>
        <p:txBody>
          <a:bodyPr vert="vert" wrap="square" lIns="0" tIns="0" rIns="0" bIns="0" rtlCol="0">
            <a:spAutoFit/>
          </a:bodyPr>
          <a:lstStyle/>
          <a:p>
            <a:pPr marL="12700">
              <a:lnSpc>
                <a:spcPts val="7109"/>
              </a:lnSpc>
            </a:pPr>
            <a:r>
              <a:rPr sz="6000" b="1" spc="885" dirty="0">
                <a:solidFill>
                  <a:srgbClr val="C00000"/>
                </a:solidFill>
                <a:latin typeface="Calibri"/>
                <a:cs typeface="Calibri"/>
              </a:rPr>
              <a:t>TỔNG</a:t>
            </a:r>
            <a:r>
              <a:rPr sz="6000" b="1" spc="455" dirty="0">
                <a:solidFill>
                  <a:srgbClr val="C00000"/>
                </a:solidFill>
                <a:latin typeface="Calibri"/>
                <a:cs typeface="Calibri"/>
              </a:rPr>
              <a:t> </a:t>
            </a:r>
            <a:r>
              <a:rPr sz="6000" b="1" spc="1075" dirty="0">
                <a:solidFill>
                  <a:srgbClr val="C00000"/>
                </a:solidFill>
                <a:latin typeface="Calibri"/>
                <a:cs typeface="Calibri"/>
              </a:rPr>
              <a:t>KẾT</a:t>
            </a:r>
            <a:endParaRPr sz="6000">
              <a:latin typeface="Calibri"/>
              <a:cs typeface="Calibri"/>
            </a:endParaRPr>
          </a:p>
        </p:txBody>
      </p:sp>
      <p:pic>
        <p:nvPicPr>
          <p:cNvPr id="3" name="object 3"/>
          <p:cNvPicPr/>
          <p:nvPr/>
        </p:nvPicPr>
        <p:blipFill>
          <a:blip r:embed="rId2" cstate="print"/>
          <a:stretch>
            <a:fillRect/>
          </a:stretch>
        </p:blipFill>
        <p:spPr>
          <a:xfrm>
            <a:off x="0" y="5111496"/>
            <a:ext cx="1652015" cy="1746504"/>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650"/>
              </a:lnSpc>
            </a:pPr>
            <a:r>
              <a:rPr dirty="0"/>
              <a:t>©</a:t>
            </a:r>
            <a:r>
              <a:rPr spc="-10" dirty="0"/>
              <a:t> </a:t>
            </a:r>
            <a:r>
              <a:rPr dirty="0"/>
              <a:t>2022</a:t>
            </a:r>
            <a:r>
              <a:rPr spc="-35" dirty="0"/>
              <a:t> </a:t>
            </a:r>
            <a:r>
              <a:rPr dirty="0"/>
              <a:t>By</a:t>
            </a:r>
            <a:r>
              <a:rPr spc="-15" dirty="0"/>
              <a:t> </a:t>
            </a:r>
            <a:r>
              <a:rPr dirty="0"/>
              <a:t>Rikkei</a:t>
            </a:r>
            <a:r>
              <a:rPr spc="-25" dirty="0"/>
              <a:t> </a:t>
            </a:r>
            <a:r>
              <a:rPr dirty="0"/>
              <a:t>Academy</a:t>
            </a:r>
            <a:r>
              <a:rPr spc="-25" dirty="0"/>
              <a:t> </a:t>
            </a:r>
            <a:r>
              <a:rPr dirty="0"/>
              <a:t>-</a:t>
            </a:r>
            <a:r>
              <a:rPr spc="-15" dirty="0"/>
              <a:t> </a:t>
            </a:r>
            <a:r>
              <a:rPr dirty="0"/>
              <a:t>Rikkei</a:t>
            </a:r>
            <a:r>
              <a:rPr spc="-25" dirty="0"/>
              <a:t> </a:t>
            </a:r>
            <a:r>
              <a:rPr dirty="0"/>
              <a:t>Education</a:t>
            </a:r>
            <a:r>
              <a:rPr spc="-50" dirty="0"/>
              <a:t> </a:t>
            </a:r>
            <a:r>
              <a:rPr dirty="0"/>
              <a:t>-</a:t>
            </a:r>
            <a:r>
              <a:rPr spc="-10" dirty="0"/>
              <a:t> </a:t>
            </a:r>
            <a:r>
              <a:rPr dirty="0"/>
              <a:t>All</a:t>
            </a:r>
            <a:r>
              <a:rPr spc="-10" dirty="0"/>
              <a:t> </a:t>
            </a:r>
            <a:r>
              <a:rPr dirty="0"/>
              <a:t>rights</a:t>
            </a:r>
            <a:r>
              <a:rPr spc="-40" dirty="0"/>
              <a:t> </a:t>
            </a:r>
            <a:r>
              <a:rPr spc="-10" dirty="0"/>
              <a:t>reserved.</a:t>
            </a:r>
          </a:p>
        </p:txBody>
      </p:sp>
      <p:sp>
        <p:nvSpPr>
          <p:cNvPr id="4" name="Shape 3">
            <a:extLst>
              <a:ext uri="{FF2B5EF4-FFF2-40B4-BE49-F238E27FC236}">
                <a16:creationId xmlns:a16="http://schemas.microsoft.com/office/drawing/2014/main" id="{B0B097AB-7365-E0E6-B959-463D5BB5B028}"/>
              </a:ext>
            </a:extLst>
          </p:cNvPr>
          <p:cNvSpPr/>
          <p:nvPr/>
        </p:nvSpPr>
        <p:spPr>
          <a:xfrm>
            <a:off x="1235133" y="1316786"/>
            <a:ext cx="3400990" cy="1988637"/>
          </a:xfrm>
          <a:prstGeom prst="roundRect">
            <a:avLst>
              <a:gd name="adj" fmla="val 4647"/>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6" name="Text 4">
            <a:extLst>
              <a:ext uri="{FF2B5EF4-FFF2-40B4-BE49-F238E27FC236}">
                <a16:creationId xmlns:a16="http://schemas.microsoft.com/office/drawing/2014/main" id="{BE42777F-FAC5-FE0E-DABB-78F21C5001AD}"/>
              </a:ext>
            </a:extLst>
          </p:cNvPr>
          <p:cNvSpPr/>
          <p:nvPr/>
        </p:nvSpPr>
        <p:spPr>
          <a:xfrm>
            <a:off x="1441111" y="1522764"/>
            <a:ext cx="2001650" cy="343847"/>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Arial" panose="020B0604020202020204" pitchFamily="34" charset="0"/>
                <a:ea typeface="Crimson Pro Bold" pitchFamily="34" charset="-122"/>
                <a:cs typeface="Arial" panose="020B0604020202020204" pitchFamily="34" charset="0"/>
              </a:rPr>
              <a:t>🔒</a:t>
            </a:r>
            <a:r>
              <a:rPr lang="en-US" sz="1950" b="1" dirty="0">
                <a:solidFill>
                  <a:srgbClr val="443728"/>
                </a:solidFill>
                <a:latin typeface="Arial" panose="020B0604020202020204" pitchFamily="34" charset="0"/>
                <a:ea typeface="Crimson Pro Bold" pitchFamily="34" charset="-122"/>
                <a:cs typeface="Arial" panose="020B0604020202020204" pitchFamily="34" charset="0"/>
              </a:rPr>
              <a:t> Transaction</a:t>
            </a:r>
            <a:endParaRPr lang="en-US" sz="1950" dirty="0">
              <a:latin typeface="Arial" panose="020B0604020202020204" pitchFamily="34" charset="0"/>
              <a:cs typeface="Arial" panose="020B0604020202020204" pitchFamily="34" charset="0"/>
            </a:endParaRPr>
          </a:p>
        </p:txBody>
      </p:sp>
      <p:sp>
        <p:nvSpPr>
          <p:cNvPr id="7" name="Text 5">
            <a:extLst>
              <a:ext uri="{FF2B5EF4-FFF2-40B4-BE49-F238E27FC236}">
                <a16:creationId xmlns:a16="http://schemas.microsoft.com/office/drawing/2014/main" id="{0FD1CA31-5C49-9636-D0A1-EDCB952361EC}"/>
              </a:ext>
            </a:extLst>
          </p:cNvPr>
          <p:cNvSpPr/>
          <p:nvPr/>
        </p:nvSpPr>
        <p:spPr>
          <a:xfrm>
            <a:off x="1441111" y="1951985"/>
            <a:ext cx="3068614" cy="1056092"/>
          </a:xfrm>
          <a:prstGeom prst="rect">
            <a:avLst/>
          </a:prstGeom>
          <a:noFill/>
          <a:ln/>
        </p:spPr>
        <p:txBody>
          <a:bodyPr wrap="squar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Đảm bảo dữ liệu</a:t>
            </a:r>
            <a:r>
              <a:rPr lang="en-US" sz="1550" dirty="0">
                <a:solidFill>
                  <a:srgbClr val="443728"/>
                </a:solidFill>
                <a:latin typeface="Arial" panose="020B0604020202020204" pitchFamily="34" charset="0"/>
                <a:ea typeface="Open Sans" pitchFamily="34" charset="-122"/>
                <a:cs typeface="Arial" panose="020B0604020202020204" pitchFamily="34" charset="0"/>
              </a:rPr>
              <a:t> luôn nhất quán với nguyên tắc ACID. All or Nothing — không có trạng thái dữ liệu "nửa vời".</a:t>
            </a:r>
            <a:endParaRPr lang="en-US" sz="1550" dirty="0">
              <a:latin typeface="Arial" panose="020B0604020202020204" pitchFamily="34" charset="0"/>
              <a:cs typeface="Arial" panose="020B0604020202020204" pitchFamily="34" charset="0"/>
            </a:endParaRPr>
          </a:p>
        </p:txBody>
      </p:sp>
      <p:sp>
        <p:nvSpPr>
          <p:cNvPr id="8" name="Shape 6">
            <a:extLst>
              <a:ext uri="{FF2B5EF4-FFF2-40B4-BE49-F238E27FC236}">
                <a16:creationId xmlns:a16="http://schemas.microsoft.com/office/drawing/2014/main" id="{83A6396C-F1E3-3998-F4B6-46E951AD1C93}"/>
              </a:ext>
            </a:extLst>
          </p:cNvPr>
          <p:cNvSpPr/>
          <p:nvPr/>
        </p:nvSpPr>
        <p:spPr>
          <a:xfrm>
            <a:off x="4831215" y="1316786"/>
            <a:ext cx="3401086" cy="1988637"/>
          </a:xfrm>
          <a:prstGeom prst="roundRect">
            <a:avLst>
              <a:gd name="adj" fmla="val 4647"/>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9" name="Text 7">
            <a:extLst>
              <a:ext uri="{FF2B5EF4-FFF2-40B4-BE49-F238E27FC236}">
                <a16:creationId xmlns:a16="http://schemas.microsoft.com/office/drawing/2014/main" id="{F656632D-8A0C-88FE-CF02-B9895685A778}"/>
              </a:ext>
            </a:extLst>
          </p:cNvPr>
          <p:cNvSpPr/>
          <p:nvPr/>
        </p:nvSpPr>
        <p:spPr>
          <a:xfrm>
            <a:off x="5037194" y="1522764"/>
            <a:ext cx="2001650" cy="343847"/>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Arial" panose="020B0604020202020204" pitchFamily="34" charset="0"/>
                <a:ea typeface="Crimson Pro Bold" pitchFamily="34" charset="-122"/>
                <a:cs typeface="Arial" panose="020B0604020202020204" pitchFamily="34" charset="0"/>
              </a:rPr>
              <a:t>⚡</a:t>
            </a:r>
            <a:r>
              <a:rPr lang="en-US" sz="1950" b="1" dirty="0">
                <a:solidFill>
                  <a:srgbClr val="443728"/>
                </a:solidFill>
                <a:latin typeface="Arial" panose="020B0604020202020204" pitchFamily="34" charset="0"/>
                <a:ea typeface="Crimson Pro Bold" pitchFamily="34" charset="-122"/>
                <a:cs typeface="Arial" panose="020B0604020202020204" pitchFamily="34" charset="0"/>
              </a:rPr>
              <a:t> Cache</a:t>
            </a:r>
            <a:endParaRPr lang="en-US" sz="1950" dirty="0">
              <a:latin typeface="Arial" panose="020B0604020202020204" pitchFamily="34" charset="0"/>
              <a:cs typeface="Arial" panose="020B0604020202020204" pitchFamily="34" charset="0"/>
            </a:endParaRPr>
          </a:p>
        </p:txBody>
      </p:sp>
      <p:sp>
        <p:nvSpPr>
          <p:cNvPr id="10" name="Text 8">
            <a:extLst>
              <a:ext uri="{FF2B5EF4-FFF2-40B4-BE49-F238E27FC236}">
                <a16:creationId xmlns:a16="http://schemas.microsoft.com/office/drawing/2014/main" id="{0C27A8EB-1CF5-B5F0-60A3-733CCE388E03}"/>
              </a:ext>
            </a:extLst>
          </p:cNvPr>
          <p:cNvSpPr/>
          <p:nvPr/>
        </p:nvSpPr>
        <p:spPr>
          <a:xfrm>
            <a:off x="5037193" y="1951985"/>
            <a:ext cx="3068710" cy="1056092"/>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First-Level Cache </a:t>
            </a:r>
            <a:r>
              <a:rPr lang="en-US" sz="1550" b="1" dirty="0">
                <a:solidFill>
                  <a:srgbClr val="443728"/>
                </a:solidFill>
                <a:latin typeface="Arial" panose="020B0604020202020204" pitchFamily="34" charset="0"/>
                <a:ea typeface="Open Sans" pitchFamily="34" charset="-122"/>
                <a:cs typeface="Arial" panose="020B0604020202020204" pitchFamily="34" charset="0"/>
              </a:rPr>
              <a:t>tăng tốc</a:t>
            </a:r>
            <a:r>
              <a:rPr lang="en-US" sz="1550" dirty="0">
                <a:solidFill>
                  <a:srgbClr val="443728"/>
                </a:solidFill>
                <a:latin typeface="Arial" panose="020B0604020202020204" pitchFamily="34" charset="0"/>
                <a:ea typeface="Open Sans" pitchFamily="34" charset="-122"/>
                <a:cs typeface="Arial" panose="020B0604020202020204" pitchFamily="34" charset="0"/>
              </a:rPr>
              <a:t> truy vấn bằng cách tránh gọi DB lặp lại. Gắn với Session, tự động quản lý.</a:t>
            </a:r>
            <a:endParaRPr lang="en-US" sz="1550" dirty="0">
              <a:latin typeface="Arial" panose="020B0604020202020204" pitchFamily="34" charset="0"/>
              <a:cs typeface="Arial" panose="020B0604020202020204" pitchFamily="34" charset="0"/>
            </a:endParaRPr>
          </a:p>
        </p:txBody>
      </p:sp>
      <p:sp>
        <p:nvSpPr>
          <p:cNvPr id="11" name="Shape 9">
            <a:extLst>
              <a:ext uri="{FF2B5EF4-FFF2-40B4-BE49-F238E27FC236}">
                <a16:creationId xmlns:a16="http://schemas.microsoft.com/office/drawing/2014/main" id="{8BE636DA-C201-36E9-E330-CDF07C9597D4}"/>
              </a:ext>
            </a:extLst>
          </p:cNvPr>
          <p:cNvSpPr/>
          <p:nvPr/>
        </p:nvSpPr>
        <p:spPr>
          <a:xfrm>
            <a:off x="8460050" y="1320405"/>
            <a:ext cx="3400990" cy="1988637"/>
          </a:xfrm>
          <a:prstGeom prst="roundRect">
            <a:avLst>
              <a:gd name="adj" fmla="val 4647"/>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2" name="Text 10">
            <a:extLst>
              <a:ext uri="{FF2B5EF4-FFF2-40B4-BE49-F238E27FC236}">
                <a16:creationId xmlns:a16="http://schemas.microsoft.com/office/drawing/2014/main" id="{5CB76A94-8099-892B-821B-8A58E6EAC3BB}"/>
              </a:ext>
            </a:extLst>
          </p:cNvPr>
          <p:cNvSpPr/>
          <p:nvPr/>
        </p:nvSpPr>
        <p:spPr>
          <a:xfrm>
            <a:off x="8666028" y="1526383"/>
            <a:ext cx="2001650" cy="343847"/>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Arial" panose="020B0604020202020204" pitchFamily="34" charset="0"/>
                <a:ea typeface="Crimson Pro Bold" pitchFamily="34" charset="-122"/>
                <a:cs typeface="Arial" panose="020B0604020202020204" pitchFamily="34" charset="0"/>
              </a:rPr>
              <a:t>🔄</a:t>
            </a:r>
            <a:r>
              <a:rPr lang="en-US" sz="1950" b="1" dirty="0">
                <a:solidFill>
                  <a:srgbClr val="443728"/>
                </a:solidFill>
                <a:latin typeface="Arial" panose="020B0604020202020204" pitchFamily="34" charset="0"/>
                <a:ea typeface="Crimson Pro Bold" pitchFamily="34" charset="-122"/>
                <a:cs typeface="Arial" panose="020B0604020202020204" pitchFamily="34" charset="0"/>
              </a:rPr>
              <a:t> Propagation</a:t>
            </a:r>
            <a:endParaRPr lang="en-US" sz="1950" dirty="0">
              <a:latin typeface="Arial" panose="020B0604020202020204" pitchFamily="34" charset="0"/>
              <a:cs typeface="Arial" panose="020B0604020202020204" pitchFamily="34" charset="0"/>
            </a:endParaRPr>
          </a:p>
        </p:txBody>
      </p:sp>
      <p:sp>
        <p:nvSpPr>
          <p:cNvPr id="13" name="Text 11">
            <a:extLst>
              <a:ext uri="{FF2B5EF4-FFF2-40B4-BE49-F238E27FC236}">
                <a16:creationId xmlns:a16="http://schemas.microsoft.com/office/drawing/2014/main" id="{6E66130C-E07F-FE83-4B5E-F852985ADDD2}"/>
              </a:ext>
            </a:extLst>
          </p:cNvPr>
          <p:cNvSpPr/>
          <p:nvPr/>
        </p:nvSpPr>
        <p:spPr>
          <a:xfrm>
            <a:off x="8666028" y="1955604"/>
            <a:ext cx="3068614" cy="1056092"/>
          </a:xfrm>
          <a:prstGeom prst="rect">
            <a:avLst/>
          </a:prstGeom>
          <a:noFill/>
          <a:ln/>
        </p:spPr>
        <p:txBody>
          <a:bodyPr wrap="squar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Kiểm soát luồng</a:t>
            </a:r>
            <a:r>
              <a:rPr lang="en-US" sz="1550" dirty="0">
                <a:solidFill>
                  <a:srgbClr val="443728"/>
                </a:solidFill>
                <a:latin typeface="Arial" panose="020B0604020202020204" pitchFamily="34" charset="0"/>
                <a:ea typeface="Open Sans" pitchFamily="34" charset="-122"/>
                <a:cs typeface="Arial" panose="020B0604020202020204" pitchFamily="34" charset="0"/>
              </a:rPr>
              <a:t> transaction khi các service gọi nhau. REQUIRED là mặc định, REQUIRES_NEW khi cần độc lập.</a:t>
            </a:r>
            <a:endParaRPr lang="en-US" sz="1550" dirty="0">
              <a:latin typeface="Arial" panose="020B0604020202020204" pitchFamily="34" charset="0"/>
              <a:cs typeface="Arial" panose="020B0604020202020204" pitchFamily="34" charset="0"/>
            </a:endParaRPr>
          </a:p>
        </p:txBody>
      </p:sp>
      <p:sp>
        <p:nvSpPr>
          <p:cNvPr id="14" name="Shape 12">
            <a:extLst>
              <a:ext uri="{FF2B5EF4-FFF2-40B4-BE49-F238E27FC236}">
                <a16:creationId xmlns:a16="http://schemas.microsoft.com/office/drawing/2014/main" id="{B669C171-431B-27F8-9213-BDBB724F247B}"/>
              </a:ext>
            </a:extLst>
          </p:cNvPr>
          <p:cNvSpPr/>
          <p:nvPr/>
        </p:nvSpPr>
        <p:spPr>
          <a:xfrm>
            <a:off x="1238172" y="3609378"/>
            <a:ext cx="5181504" cy="1636606"/>
          </a:xfrm>
          <a:prstGeom prst="roundRect">
            <a:avLst>
              <a:gd name="adj" fmla="val 5647"/>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FD31885B-1AA5-9D2E-4989-45547BE9DE6A}"/>
              </a:ext>
            </a:extLst>
          </p:cNvPr>
          <p:cNvSpPr/>
          <p:nvPr/>
        </p:nvSpPr>
        <p:spPr>
          <a:xfrm>
            <a:off x="1444151" y="3815355"/>
            <a:ext cx="2001650" cy="343847"/>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Arial" panose="020B0604020202020204" pitchFamily="34" charset="0"/>
                <a:ea typeface="Crimson Pro Bold" pitchFamily="34" charset="-122"/>
                <a:cs typeface="Arial" panose="020B0604020202020204" pitchFamily="34" charset="0"/>
              </a:rPr>
              <a:t>🛡</a:t>
            </a:r>
            <a:r>
              <a:rPr lang="en-US" sz="1950" b="1" dirty="0">
                <a:solidFill>
                  <a:srgbClr val="443728"/>
                </a:solidFill>
                <a:latin typeface="Arial" panose="020B0604020202020204" pitchFamily="34" charset="0"/>
                <a:ea typeface="Crimson Pro Bold" pitchFamily="34" charset="-122"/>
                <a:cs typeface="Arial" panose="020B0604020202020204" pitchFamily="34" charset="0"/>
              </a:rPr>
              <a:t> Isolation</a:t>
            </a:r>
            <a:endParaRPr lang="en-US" sz="1950" dirty="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84243EDE-C7C5-7C98-9024-02F2276278BE}"/>
              </a:ext>
            </a:extLst>
          </p:cNvPr>
          <p:cNvSpPr/>
          <p:nvPr/>
        </p:nvSpPr>
        <p:spPr>
          <a:xfrm>
            <a:off x="1444150" y="4244576"/>
            <a:ext cx="4849129" cy="704061"/>
          </a:xfrm>
          <a:prstGeom prst="rect">
            <a:avLst/>
          </a:prstGeom>
          <a:noFill/>
          <a:ln/>
        </p:spPr>
        <p:txBody>
          <a:bodyPr wrap="square" lIns="0" tIns="0" rIns="0" bIns="0" rtlCol="0" anchor="t"/>
          <a:lstStyle/>
          <a:p>
            <a:pPr marL="0" indent="0" algn="l">
              <a:lnSpc>
                <a:spcPts val="2500"/>
              </a:lnSpc>
              <a:buNone/>
            </a:pPr>
            <a:r>
              <a:rPr lang="en-US" sz="1550" b="1" dirty="0">
                <a:solidFill>
                  <a:srgbClr val="443728"/>
                </a:solidFill>
                <a:latin typeface="Arial" panose="020B0604020202020204" pitchFamily="34" charset="0"/>
                <a:ea typeface="Open Sans" pitchFamily="34" charset="-122"/>
                <a:cs typeface="Arial" panose="020B0604020202020204" pitchFamily="34" charset="0"/>
              </a:rPr>
              <a:t>Đảm bảo concurrency</a:t>
            </a:r>
            <a:r>
              <a:rPr lang="en-US" sz="1550" dirty="0">
                <a:solidFill>
                  <a:srgbClr val="443728"/>
                </a:solidFill>
                <a:latin typeface="Arial" panose="020B0604020202020204" pitchFamily="34" charset="0"/>
                <a:ea typeface="Open Sans" pitchFamily="34" charset="-122"/>
                <a:cs typeface="Arial" panose="020B0604020202020204" pitchFamily="34" charset="0"/>
              </a:rPr>
              <a:t> an toàn. READ COMMITTED là lựa chọn cân bằng cho hầu hết ứng dụng.</a:t>
            </a:r>
            <a:endParaRPr lang="en-US" sz="1550" dirty="0">
              <a:latin typeface="Arial" panose="020B0604020202020204" pitchFamily="34" charset="0"/>
              <a:cs typeface="Arial" panose="020B0604020202020204" pitchFamily="34" charset="0"/>
            </a:endParaRPr>
          </a:p>
        </p:txBody>
      </p:sp>
      <p:sp>
        <p:nvSpPr>
          <p:cNvPr id="17" name="Shape 15">
            <a:extLst>
              <a:ext uri="{FF2B5EF4-FFF2-40B4-BE49-F238E27FC236}">
                <a16:creationId xmlns:a16="http://schemas.microsoft.com/office/drawing/2014/main" id="{A393904C-2F38-5B59-AA38-36A8EC36A22B}"/>
              </a:ext>
            </a:extLst>
          </p:cNvPr>
          <p:cNvSpPr/>
          <p:nvPr/>
        </p:nvSpPr>
        <p:spPr>
          <a:xfrm>
            <a:off x="6720183" y="3609378"/>
            <a:ext cx="5181600" cy="1636606"/>
          </a:xfrm>
          <a:prstGeom prst="roundRect">
            <a:avLst>
              <a:gd name="adj" fmla="val 5647"/>
            </a:avLst>
          </a:prstGeom>
          <a:solidFill>
            <a:srgbClr val="EBE2E0"/>
          </a:solidFill>
          <a:ln w="7620">
            <a:solidFill>
              <a:srgbClr val="D1C8C6"/>
            </a:solidFill>
            <a:prstDash val="solid"/>
          </a:ln>
        </p:spPr>
        <p:txBody>
          <a:bodyPr/>
          <a:lstStyle/>
          <a:p>
            <a:endParaRPr lang="en-US">
              <a:latin typeface="Arial" panose="020B0604020202020204" pitchFamily="34" charset="0"/>
              <a:cs typeface="Arial" panose="020B0604020202020204" pitchFamily="34" charset="0"/>
            </a:endParaRPr>
          </a:p>
        </p:txBody>
      </p:sp>
      <p:sp>
        <p:nvSpPr>
          <p:cNvPr id="18" name="Text 16">
            <a:extLst>
              <a:ext uri="{FF2B5EF4-FFF2-40B4-BE49-F238E27FC236}">
                <a16:creationId xmlns:a16="http://schemas.microsoft.com/office/drawing/2014/main" id="{D7D5B1B3-14D8-D19C-8752-549540B3AC9B}"/>
              </a:ext>
            </a:extLst>
          </p:cNvPr>
          <p:cNvSpPr/>
          <p:nvPr/>
        </p:nvSpPr>
        <p:spPr>
          <a:xfrm>
            <a:off x="6926161" y="3815355"/>
            <a:ext cx="2001650" cy="343847"/>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Arial" panose="020B0604020202020204" pitchFamily="34" charset="0"/>
                <a:ea typeface="Crimson Pro Bold" pitchFamily="34" charset="-122"/>
                <a:cs typeface="Arial" panose="020B0604020202020204" pitchFamily="34" charset="0"/>
              </a:rPr>
              <a:t>🐛</a:t>
            </a:r>
            <a:r>
              <a:rPr lang="en-US" sz="1950" b="1" dirty="0">
                <a:solidFill>
                  <a:srgbClr val="443728"/>
                </a:solidFill>
                <a:latin typeface="Arial" panose="020B0604020202020204" pitchFamily="34" charset="0"/>
                <a:ea typeface="Crimson Pro Bold" pitchFamily="34" charset="-122"/>
                <a:cs typeface="Arial" panose="020B0604020202020204" pitchFamily="34" charset="0"/>
              </a:rPr>
              <a:t> Lazy + Exception</a:t>
            </a:r>
            <a:endParaRPr lang="en-US" sz="1950" dirty="0">
              <a:latin typeface="Arial" panose="020B0604020202020204" pitchFamily="34" charset="0"/>
              <a:cs typeface="Arial" panose="020B0604020202020204" pitchFamily="34" charset="0"/>
            </a:endParaRPr>
          </a:p>
        </p:txBody>
      </p:sp>
      <p:sp>
        <p:nvSpPr>
          <p:cNvPr id="19" name="Text 17">
            <a:extLst>
              <a:ext uri="{FF2B5EF4-FFF2-40B4-BE49-F238E27FC236}">
                <a16:creationId xmlns:a16="http://schemas.microsoft.com/office/drawing/2014/main" id="{2A827D41-AC18-FE22-8AFE-C025494BD6B7}"/>
              </a:ext>
            </a:extLst>
          </p:cNvPr>
          <p:cNvSpPr/>
          <p:nvPr/>
        </p:nvSpPr>
        <p:spPr>
          <a:xfrm>
            <a:off x="6926160" y="4244576"/>
            <a:ext cx="4849225" cy="704061"/>
          </a:xfrm>
          <a:prstGeom prst="rect">
            <a:avLst/>
          </a:prstGeom>
          <a:noFill/>
          <a:ln/>
        </p:spPr>
        <p:txBody>
          <a:bodyPr wrap="square" lIns="0" tIns="0" rIns="0" bIns="0" rtlCol="0" anchor="t"/>
          <a:lstStyle/>
          <a:p>
            <a:pPr marL="0" indent="0" algn="l">
              <a:lnSpc>
                <a:spcPts val="2500"/>
              </a:lnSpc>
              <a:buNone/>
            </a:pPr>
            <a:r>
              <a:rPr lang="en-US" sz="1550" dirty="0">
                <a:solidFill>
                  <a:srgbClr val="443728"/>
                </a:solidFill>
                <a:latin typeface="Arial" panose="020B0604020202020204" pitchFamily="34" charset="0"/>
                <a:ea typeface="Open Sans" pitchFamily="34" charset="-122"/>
                <a:cs typeface="Arial" panose="020B0604020202020204" pitchFamily="34" charset="0"/>
              </a:rPr>
              <a:t>Nắm rõ Lazy Loading và xử lý đúng exception giúp hệ thống </a:t>
            </a:r>
            <a:r>
              <a:rPr lang="en-US" sz="1550" b="1" dirty="0">
                <a:solidFill>
                  <a:srgbClr val="443728"/>
                </a:solidFill>
                <a:latin typeface="Arial" panose="020B0604020202020204" pitchFamily="34" charset="0"/>
                <a:ea typeface="Open Sans" pitchFamily="34" charset="-122"/>
                <a:cs typeface="Arial" panose="020B0604020202020204" pitchFamily="34" charset="0"/>
              </a:rPr>
              <a:t>ổn định và dễ bảo trì</a:t>
            </a:r>
            <a:r>
              <a:rPr lang="en-US" sz="1550" dirty="0">
                <a:solidFill>
                  <a:srgbClr val="443728"/>
                </a:solidFill>
                <a:latin typeface="Arial" panose="020B0604020202020204" pitchFamily="34" charset="0"/>
                <a:ea typeface="Open Sans" pitchFamily="34" charset="-122"/>
                <a:cs typeface="Arial" panose="020B0604020202020204" pitchFamily="34" charset="0"/>
              </a:rPr>
              <a:t>.</a:t>
            </a:r>
            <a:endParaRPr lang="en-US" sz="1550" dirty="0">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072894" y="6442684"/>
            <a:ext cx="5263515" cy="199390"/>
          </a:xfrm>
          <a:prstGeom prst="rect">
            <a:avLst/>
          </a:prstGeom>
        </p:spPr>
        <p:txBody>
          <a:bodyPr vert="horz" wrap="square" lIns="0" tIns="0" rIns="0" bIns="0" rtlCol="0">
            <a:spAutoFit/>
          </a:bodyPr>
          <a:lstStyle/>
          <a:p>
            <a:pPr>
              <a:lnSpc>
                <a:spcPts val="1550"/>
              </a:lnSpc>
            </a:pPr>
            <a:r>
              <a:rPr sz="1400" dirty="0">
                <a:latin typeface="Arial"/>
                <a:cs typeface="Arial"/>
              </a:rPr>
              <a:t>©</a:t>
            </a:r>
            <a:r>
              <a:rPr sz="1400" spc="-10" dirty="0">
                <a:latin typeface="Arial"/>
                <a:cs typeface="Arial"/>
              </a:rPr>
              <a:t> </a:t>
            </a:r>
            <a:r>
              <a:rPr sz="1400" dirty="0">
                <a:latin typeface="Arial"/>
                <a:cs typeface="Arial"/>
              </a:rPr>
              <a:t>2022</a:t>
            </a:r>
            <a:r>
              <a:rPr sz="1400" spc="-35" dirty="0">
                <a:latin typeface="Arial"/>
                <a:cs typeface="Arial"/>
              </a:rPr>
              <a:t> </a:t>
            </a:r>
            <a:r>
              <a:rPr sz="1400" dirty="0">
                <a:latin typeface="Arial"/>
                <a:cs typeface="Arial"/>
              </a:rPr>
              <a:t>By</a:t>
            </a:r>
            <a:r>
              <a:rPr sz="1400" spc="-15" dirty="0">
                <a:latin typeface="Arial"/>
                <a:cs typeface="Arial"/>
              </a:rPr>
              <a:t> </a:t>
            </a:r>
            <a:r>
              <a:rPr sz="1400" dirty="0">
                <a:latin typeface="Arial"/>
                <a:cs typeface="Arial"/>
              </a:rPr>
              <a:t>Rikkei</a:t>
            </a:r>
            <a:r>
              <a:rPr sz="1400" spc="-25" dirty="0">
                <a:latin typeface="Arial"/>
                <a:cs typeface="Arial"/>
              </a:rPr>
              <a:t> </a:t>
            </a:r>
            <a:r>
              <a:rPr sz="1400" dirty="0">
                <a:latin typeface="Arial"/>
                <a:cs typeface="Arial"/>
              </a:rPr>
              <a:t>Academy</a:t>
            </a:r>
            <a:r>
              <a:rPr sz="1400" spc="-25" dirty="0">
                <a:latin typeface="Arial"/>
                <a:cs typeface="Arial"/>
              </a:rPr>
              <a:t> </a:t>
            </a:r>
            <a:r>
              <a:rPr sz="1400" dirty="0">
                <a:latin typeface="Arial"/>
                <a:cs typeface="Arial"/>
              </a:rPr>
              <a:t>-</a:t>
            </a:r>
            <a:r>
              <a:rPr sz="1400" spc="-15" dirty="0">
                <a:latin typeface="Arial"/>
                <a:cs typeface="Arial"/>
              </a:rPr>
              <a:t> </a:t>
            </a:r>
            <a:r>
              <a:rPr sz="1400" dirty="0">
                <a:latin typeface="Arial"/>
                <a:cs typeface="Arial"/>
              </a:rPr>
              <a:t>Rikkei</a:t>
            </a:r>
            <a:r>
              <a:rPr sz="1400" spc="-25" dirty="0">
                <a:latin typeface="Arial"/>
                <a:cs typeface="Arial"/>
              </a:rPr>
              <a:t> </a:t>
            </a:r>
            <a:r>
              <a:rPr sz="1400" dirty="0">
                <a:latin typeface="Arial"/>
                <a:cs typeface="Arial"/>
              </a:rPr>
              <a:t>Education</a:t>
            </a:r>
            <a:r>
              <a:rPr sz="1400" spc="-50" dirty="0">
                <a:latin typeface="Arial"/>
                <a:cs typeface="Arial"/>
              </a:rPr>
              <a:t> </a:t>
            </a:r>
            <a:r>
              <a:rPr sz="1400" dirty="0">
                <a:latin typeface="Arial"/>
                <a:cs typeface="Arial"/>
              </a:rPr>
              <a:t>-</a:t>
            </a:r>
            <a:r>
              <a:rPr sz="1400" spc="-10" dirty="0">
                <a:latin typeface="Arial"/>
                <a:cs typeface="Arial"/>
              </a:rPr>
              <a:t> </a:t>
            </a:r>
            <a:r>
              <a:rPr sz="1400" dirty="0">
                <a:latin typeface="Arial"/>
                <a:cs typeface="Arial"/>
              </a:rPr>
              <a:t>All</a:t>
            </a:r>
            <a:r>
              <a:rPr sz="1400" spc="-10" dirty="0">
                <a:latin typeface="Arial"/>
                <a:cs typeface="Arial"/>
              </a:rPr>
              <a:t> </a:t>
            </a:r>
            <a:r>
              <a:rPr sz="1400" dirty="0">
                <a:latin typeface="Arial"/>
                <a:cs typeface="Arial"/>
              </a:rPr>
              <a:t>rights</a:t>
            </a:r>
            <a:r>
              <a:rPr sz="1400" spc="-40" dirty="0">
                <a:latin typeface="Arial"/>
                <a:cs typeface="Arial"/>
              </a:rPr>
              <a:t> </a:t>
            </a:r>
            <a:r>
              <a:rPr sz="1400" spc="-10" dirty="0">
                <a:latin typeface="Arial"/>
                <a:cs typeface="Arial"/>
              </a:rPr>
              <a:t>reserved.</a:t>
            </a:r>
            <a:endParaRPr sz="1400">
              <a:latin typeface="Arial"/>
              <a:cs typeface="Arial"/>
            </a:endParaRPr>
          </a:p>
        </p:txBody>
      </p:sp>
      <p:grpSp>
        <p:nvGrpSpPr>
          <p:cNvPr id="3" name="object 3"/>
          <p:cNvGrpSpPr/>
          <p:nvPr/>
        </p:nvGrpSpPr>
        <p:grpSpPr>
          <a:xfrm>
            <a:off x="0" y="0"/>
            <a:ext cx="12192000" cy="6858000"/>
            <a:chOff x="0" y="0"/>
            <a:chExt cx="12192000" cy="6858000"/>
          </a:xfrm>
        </p:grpSpPr>
        <p:pic>
          <p:nvPicPr>
            <p:cNvPr id="4" name="object 4"/>
            <p:cNvPicPr/>
            <p:nvPr/>
          </p:nvPicPr>
          <p:blipFill>
            <a:blip r:embed="rId2" cstate="print"/>
            <a:stretch>
              <a:fillRect/>
            </a:stretch>
          </p:blipFill>
          <p:spPr>
            <a:xfrm>
              <a:off x="0" y="0"/>
              <a:ext cx="12192000" cy="6858000"/>
            </a:xfrm>
            <a:prstGeom prst="rect">
              <a:avLst/>
            </a:prstGeom>
          </p:spPr>
        </p:pic>
        <p:pic>
          <p:nvPicPr>
            <p:cNvPr id="5" name="object 5"/>
            <p:cNvPicPr/>
            <p:nvPr/>
          </p:nvPicPr>
          <p:blipFill>
            <a:blip r:embed="rId3" cstate="print"/>
            <a:stretch>
              <a:fillRect/>
            </a:stretch>
          </p:blipFill>
          <p:spPr>
            <a:xfrm>
              <a:off x="9243059" y="0"/>
              <a:ext cx="2948940" cy="6858000"/>
            </a:xfrm>
            <a:prstGeom prst="rect">
              <a:avLst/>
            </a:prstGeom>
          </p:spPr>
        </p:pic>
        <p:pic>
          <p:nvPicPr>
            <p:cNvPr id="6" name="object 6"/>
            <p:cNvPicPr/>
            <p:nvPr/>
          </p:nvPicPr>
          <p:blipFill>
            <a:blip r:embed="rId4" cstate="print"/>
            <a:stretch>
              <a:fillRect/>
            </a:stretch>
          </p:blipFill>
          <p:spPr>
            <a:xfrm>
              <a:off x="280415" y="321563"/>
              <a:ext cx="3224784" cy="1574292"/>
            </a:xfrm>
            <a:prstGeom prst="rect">
              <a:avLst/>
            </a:prstGeom>
          </p:spPr>
        </p:pic>
      </p:grpSp>
      <p:sp>
        <p:nvSpPr>
          <p:cNvPr id="7" name="object 7"/>
          <p:cNvSpPr txBox="1"/>
          <p:nvPr/>
        </p:nvSpPr>
        <p:spPr>
          <a:xfrm>
            <a:off x="358851" y="4806441"/>
            <a:ext cx="2482850" cy="574040"/>
          </a:xfrm>
          <a:prstGeom prst="rect">
            <a:avLst/>
          </a:prstGeom>
        </p:spPr>
        <p:txBody>
          <a:bodyPr vert="horz" wrap="square" lIns="0" tIns="12700" rIns="0" bIns="0" rtlCol="0">
            <a:spAutoFit/>
          </a:bodyPr>
          <a:lstStyle/>
          <a:p>
            <a:pPr marL="12700">
              <a:lnSpc>
                <a:spcPct val="100000"/>
              </a:lnSpc>
              <a:spcBef>
                <a:spcPts val="100"/>
              </a:spcBef>
            </a:pPr>
            <a:r>
              <a:rPr sz="3600" b="1" spc="660" dirty="0">
                <a:solidFill>
                  <a:srgbClr val="FFFFFF"/>
                </a:solidFill>
                <a:latin typeface="Calibri"/>
                <a:cs typeface="Calibri"/>
              </a:rPr>
              <a:t>KẾT</a:t>
            </a:r>
            <a:r>
              <a:rPr sz="3600" b="1" spc="265" dirty="0">
                <a:solidFill>
                  <a:srgbClr val="FFFFFF"/>
                </a:solidFill>
                <a:latin typeface="Calibri"/>
                <a:cs typeface="Calibri"/>
              </a:rPr>
              <a:t> </a:t>
            </a:r>
            <a:r>
              <a:rPr sz="3600" b="1" spc="575" dirty="0">
                <a:solidFill>
                  <a:srgbClr val="FFFFFF"/>
                </a:solidFill>
                <a:latin typeface="Calibri"/>
                <a:cs typeface="Calibri"/>
              </a:rPr>
              <a:t>THÚC</a:t>
            </a:r>
            <a:endParaRPr sz="3600">
              <a:latin typeface="Calibri"/>
              <a:cs typeface="Calibri"/>
            </a:endParaRPr>
          </a:p>
        </p:txBody>
      </p:sp>
      <p:sp>
        <p:nvSpPr>
          <p:cNvPr id="8" name="object 8"/>
          <p:cNvSpPr txBox="1"/>
          <p:nvPr/>
        </p:nvSpPr>
        <p:spPr>
          <a:xfrm>
            <a:off x="358851" y="5560567"/>
            <a:ext cx="5871210" cy="269240"/>
          </a:xfrm>
          <a:prstGeom prst="rect">
            <a:avLst/>
          </a:prstGeom>
        </p:spPr>
        <p:txBody>
          <a:bodyPr vert="horz" wrap="square" lIns="0" tIns="12065" rIns="0" bIns="0" rtlCol="0">
            <a:spAutoFit/>
          </a:bodyPr>
          <a:lstStyle/>
          <a:p>
            <a:pPr marL="12700">
              <a:lnSpc>
                <a:spcPct val="100000"/>
              </a:lnSpc>
              <a:spcBef>
                <a:spcPts val="95"/>
              </a:spcBef>
            </a:pPr>
            <a:r>
              <a:rPr sz="1600" spc="210" dirty="0">
                <a:solidFill>
                  <a:srgbClr val="FFFFFF"/>
                </a:solidFill>
                <a:latin typeface="Calibri"/>
                <a:cs typeface="Calibri"/>
              </a:rPr>
              <a:t>HỌC</a:t>
            </a:r>
            <a:r>
              <a:rPr sz="1600" spc="65" dirty="0">
                <a:solidFill>
                  <a:srgbClr val="FFFFFF"/>
                </a:solidFill>
                <a:latin typeface="Calibri"/>
                <a:cs typeface="Calibri"/>
              </a:rPr>
              <a:t> </a:t>
            </a:r>
            <a:r>
              <a:rPr sz="1600" spc="200" dirty="0">
                <a:solidFill>
                  <a:srgbClr val="FFFFFF"/>
                </a:solidFill>
                <a:latin typeface="Calibri"/>
                <a:cs typeface="Calibri"/>
              </a:rPr>
              <a:t>VIỆN</a:t>
            </a:r>
            <a:r>
              <a:rPr sz="1600" spc="90" dirty="0">
                <a:solidFill>
                  <a:srgbClr val="FFFFFF"/>
                </a:solidFill>
                <a:latin typeface="Calibri"/>
                <a:cs typeface="Calibri"/>
              </a:rPr>
              <a:t> </a:t>
            </a:r>
            <a:r>
              <a:rPr sz="1600" spc="195" dirty="0">
                <a:solidFill>
                  <a:srgbClr val="FFFFFF"/>
                </a:solidFill>
                <a:latin typeface="Calibri"/>
                <a:cs typeface="Calibri"/>
              </a:rPr>
              <a:t>ĐÀO</a:t>
            </a:r>
            <a:r>
              <a:rPr sz="1600" spc="75" dirty="0">
                <a:solidFill>
                  <a:srgbClr val="FFFFFF"/>
                </a:solidFill>
                <a:latin typeface="Calibri"/>
                <a:cs typeface="Calibri"/>
              </a:rPr>
              <a:t> </a:t>
            </a:r>
            <a:r>
              <a:rPr sz="1600" spc="135" dirty="0">
                <a:solidFill>
                  <a:srgbClr val="FFFFFF"/>
                </a:solidFill>
                <a:latin typeface="Calibri"/>
                <a:cs typeface="Calibri"/>
              </a:rPr>
              <a:t>TẠO</a:t>
            </a:r>
            <a:r>
              <a:rPr sz="1600" spc="85" dirty="0">
                <a:solidFill>
                  <a:srgbClr val="FFFFFF"/>
                </a:solidFill>
                <a:latin typeface="Calibri"/>
                <a:cs typeface="Calibri"/>
              </a:rPr>
              <a:t> </a:t>
            </a:r>
            <a:r>
              <a:rPr sz="1600" spc="260" dirty="0">
                <a:solidFill>
                  <a:srgbClr val="FFFFFF"/>
                </a:solidFill>
                <a:latin typeface="Calibri"/>
                <a:cs typeface="Calibri"/>
              </a:rPr>
              <a:t>LẬP</a:t>
            </a:r>
            <a:r>
              <a:rPr sz="1600" spc="100" dirty="0">
                <a:solidFill>
                  <a:srgbClr val="FFFFFF"/>
                </a:solidFill>
                <a:latin typeface="Calibri"/>
                <a:cs typeface="Calibri"/>
              </a:rPr>
              <a:t> </a:t>
            </a:r>
            <a:r>
              <a:rPr sz="1600" spc="170" dirty="0">
                <a:solidFill>
                  <a:srgbClr val="FFFFFF"/>
                </a:solidFill>
                <a:latin typeface="Calibri"/>
                <a:cs typeface="Calibri"/>
              </a:rPr>
              <a:t>TRÌNH</a:t>
            </a:r>
            <a:r>
              <a:rPr sz="1600" spc="85" dirty="0">
                <a:solidFill>
                  <a:srgbClr val="FFFFFF"/>
                </a:solidFill>
                <a:latin typeface="Calibri"/>
                <a:cs typeface="Calibri"/>
              </a:rPr>
              <a:t> </a:t>
            </a:r>
            <a:r>
              <a:rPr sz="1600" spc="229" dirty="0">
                <a:solidFill>
                  <a:srgbClr val="FFFFFF"/>
                </a:solidFill>
                <a:latin typeface="Calibri"/>
                <a:cs typeface="Calibri"/>
              </a:rPr>
              <a:t>CHẤT</a:t>
            </a:r>
            <a:r>
              <a:rPr sz="1600" spc="90" dirty="0">
                <a:solidFill>
                  <a:srgbClr val="FFFFFF"/>
                </a:solidFill>
                <a:latin typeface="Calibri"/>
                <a:cs typeface="Calibri"/>
              </a:rPr>
              <a:t> </a:t>
            </a:r>
            <a:r>
              <a:rPr sz="1600" spc="170" dirty="0">
                <a:solidFill>
                  <a:srgbClr val="FFFFFF"/>
                </a:solidFill>
                <a:latin typeface="Calibri"/>
                <a:cs typeface="Calibri"/>
              </a:rPr>
              <a:t>LƯỢNG</a:t>
            </a:r>
            <a:r>
              <a:rPr sz="1600" spc="80" dirty="0">
                <a:solidFill>
                  <a:srgbClr val="FFFFFF"/>
                </a:solidFill>
                <a:latin typeface="Calibri"/>
                <a:cs typeface="Calibri"/>
              </a:rPr>
              <a:t> </a:t>
            </a:r>
            <a:r>
              <a:rPr sz="1600" spc="220" dirty="0">
                <a:solidFill>
                  <a:srgbClr val="FFFFFF"/>
                </a:solidFill>
                <a:latin typeface="Calibri"/>
                <a:cs typeface="Calibri"/>
              </a:rPr>
              <a:t>NHẬT</a:t>
            </a:r>
            <a:r>
              <a:rPr sz="1600" spc="95" dirty="0">
                <a:solidFill>
                  <a:srgbClr val="FFFFFF"/>
                </a:solidFill>
                <a:latin typeface="Calibri"/>
                <a:cs typeface="Calibri"/>
              </a:rPr>
              <a:t> </a:t>
            </a:r>
            <a:r>
              <a:rPr sz="1600" spc="175" dirty="0">
                <a:solidFill>
                  <a:srgbClr val="FFFFFF"/>
                </a:solidFill>
                <a:latin typeface="Calibri"/>
                <a:cs typeface="Calibri"/>
              </a:rPr>
              <a:t>BẢN</a:t>
            </a:r>
            <a:endParaRPr sz="16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178</TotalTime>
  <Words>2373</Words>
  <Application>Microsoft Office PowerPoint</Application>
  <PresentationFormat>Widescreen</PresentationFormat>
  <Paragraphs>265</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Abadi</vt:lpstr>
      <vt:lpstr>Arial</vt:lpstr>
      <vt:lpstr>Calibri</vt:lpstr>
      <vt:lpstr>Crimson Pro Bold</vt:lpstr>
      <vt:lpstr>Office Theme</vt:lpstr>
      <vt:lpstr>Session 14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 - Mảng</dc:title>
  <dc:creator>QuangND</dc:creator>
  <cp:lastModifiedBy>Hải Bùi thanh</cp:lastModifiedBy>
  <cp:revision>129</cp:revision>
  <dcterms:created xsi:type="dcterms:W3CDTF">2026-02-09T02:11:47Z</dcterms:created>
  <dcterms:modified xsi:type="dcterms:W3CDTF">2026-04-23T00:26:47Z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2024-03-13T00:00:00Z</vt:filetime>
  </property>
  <property fmtid="{D5CDD505-2E9C-101B-9397-08002B2CF9AE}" pid="3" name="Creator">
    <vt:lpwstr>Microsoft® PowerPoint® 2016</vt:lpwstr>
  </property>
  <property fmtid="{D5CDD505-2E9C-101B-9397-08002B2CF9AE}" pid="4" name="LastSaved">
    <vt:filetime>2026-02-09T00:00:00Z</vt:filetime>
  </property>
  <property fmtid="{D5CDD505-2E9C-101B-9397-08002B2CF9AE}" pid="5" name="Producer">
    <vt:lpwstr>3-Heights(TM) PDF Security Shell 4.8.25.2 (http://www.pdf-tools.com)</vt:lpwstr>
  </property>
</Properties>
</file>